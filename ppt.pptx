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86455"/>
  </p:normalViewPr>
  <p:slideViewPr>
    <p:cSldViewPr snapToGrid="0" snapToObjects="1">
      <p:cViewPr varScale="1">
        <p:scale>
          <a:sx n="96" d="100"/>
          <a:sy n="96" d="100"/>
        </p:scale>
        <p:origin x="176" y="328"/>
      </p:cViewPr>
      <p:guideLst/>
    </p:cSldViewPr>
  </p:slideViewPr>
  <p:outlineViewPr>
    <p:cViewPr>
      <p:scale>
        <a:sx n="20" d="100"/>
        <a:sy n="20"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9575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EE964B"/>
          </a:solidFill>
          <a:ln w="12700">
            <a:solidFill>
              <a:srgbClr val="EE964B"/>
            </a:solidFill>
            <a:prstDash val="solid"/>
          </a:ln>
        </p:spPr>
        <p:txBody>
          <a:bodyPr/>
          <a:lstStyle/>
          <a:p>
            <a:endParaRPr lang="en-US"/>
          </a:p>
        </p:txBody>
      </p:sp>
      <p:sp>
        <p:nvSpPr>
          <p:cNvPr id="3" name="Text 1"/>
          <p:cNvSpPr/>
          <p:nvPr/>
        </p:nvSpPr>
        <p:spPr>
          <a:xfrm>
            <a:off x="10515600" y="365760"/>
            <a:ext cx="1371600" cy="1097280"/>
          </a:xfrm>
          <a:prstGeom prst="rect">
            <a:avLst/>
          </a:prstGeom>
          <a:noFill/>
          <a:ln/>
        </p:spPr>
        <p:txBody>
          <a:bodyPr wrap="square" rtlCol="0" anchor="ctr"/>
          <a:lstStyle/>
          <a:p>
            <a:pPr marL="0" indent="0" algn="r">
              <a:buNone/>
            </a:pPr>
            <a:r>
              <a:rPr lang="en-US" sz="8000" b="1" dirty="0">
                <a:solidFill>
                  <a:srgbClr val="1B7F8C"/>
                </a:solidFill>
                <a:latin typeface="Calibri" pitchFamily="34" charset="0"/>
                <a:ea typeface="Calibri" pitchFamily="34" charset="-122"/>
                <a:cs typeface="Calibri" pitchFamily="34" charset="-120"/>
              </a:rPr>
              <a:t>05</a:t>
            </a:r>
            <a:endParaRPr lang="en-US" sz="8000" dirty="0"/>
          </a:p>
        </p:txBody>
      </p:sp>
      <p:sp>
        <p:nvSpPr>
          <p:cNvPr id="4" name="Text 2"/>
          <p:cNvSpPr/>
          <p:nvPr/>
        </p:nvSpPr>
        <p:spPr>
          <a:xfrm>
            <a:off x="10515600" y="1417320"/>
            <a:ext cx="1371600" cy="274320"/>
          </a:xfrm>
          <a:prstGeom prst="rect">
            <a:avLst/>
          </a:prstGeom>
          <a:noFill/>
          <a:ln/>
        </p:spPr>
        <p:txBody>
          <a:bodyPr wrap="square" rtlCol="0" anchor="ctr"/>
          <a:lstStyle/>
          <a:p>
            <a:pPr marL="0" indent="0" algn="r">
              <a:buNone/>
            </a:pPr>
            <a:r>
              <a:rPr lang="en-US" sz="1100" kern="0" spc="400" dirty="0">
                <a:solidFill>
                  <a:srgbClr val="B8C5D9"/>
                </a:solidFill>
                <a:latin typeface="Calibri" pitchFamily="34" charset="0"/>
                <a:ea typeface="Calibri" pitchFamily="34" charset="-122"/>
                <a:cs typeface="Calibri" pitchFamily="34" charset="-120"/>
              </a:rPr>
              <a:t>GROUP</a:t>
            </a:r>
            <a:endParaRPr lang="en-US" sz="1100" dirty="0"/>
          </a:p>
        </p:txBody>
      </p:sp>
      <p:sp>
        <p:nvSpPr>
          <p:cNvPr id="5" name="Text 3"/>
          <p:cNvSpPr/>
          <p:nvPr/>
        </p:nvSpPr>
        <p:spPr>
          <a:xfrm>
            <a:off x="914400" y="1097280"/>
            <a:ext cx="10058400" cy="365760"/>
          </a:xfrm>
          <a:prstGeom prst="rect">
            <a:avLst/>
          </a:prstGeom>
          <a:noFill/>
          <a:ln/>
        </p:spPr>
        <p:txBody>
          <a:bodyPr wrap="square" rtlCol="0" anchor="ctr"/>
          <a:lstStyle/>
          <a:p>
            <a:pPr marL="0" indent="0">
              <a:buNone/>
            </a:pPr>
            <a:r>
              <a:rPr lang="en-US" sz="1300" b="1" kern="0" spc="600" dirty="0">
                <a:solidFill>
                  <a:srgbClr val="EE964B"/>
                </a:solidFill>
                <a:latin typeface="Calibri" pitchFamily="34" charset="0"/>
                <a:ea typeface="Calibri" pitchFamily="34" charset="-122"/>
                <a:cs typeface="Calibri" pitchFamily="34" charset="-120"/>
              </a:rPr>
              <a:t>ASDS 6304  ·  OPTIMIZATION  &amp;  BIG  DATA  ANALYTICS</a:t>
            </a:r>
            <a:endParaRPr lang="en-US" sz="1300" dirty="0"/>
          </a:p>
        </p:txBody>
      </p:sp>
      <p:sp>
        <p:nvSpPr>
          <p:cNvPr id="6" name="Text 4"/>
          <p:cNvSpPr/>
          <p:nvPr/>
        </p:nvSpPr>
        <p:spPr>
          <a:xfrm>
            <a:off x="914400" y="1691640"/>
            <a:ext cx="10972800" cy="77724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Optimizer &amp; Learning Rate Schedule</a:t>
            </a:r>
            <a:endParaRPr lang="en-US" sz="4200" dirty="0"/>
          </a:p>
        </p:txBody>
      </p:sp>
      <p:sp>
        <p:nvSpPr>
          <p:cNvPr id="7" name="Text 5"/>
          <p:cNvSpPr/>
          <p:nvPr/>
        </p:nvSpPr>
        <p:spPr>
          <a:xfrm>
            <a:off x="914400" y="2468880"/>
            <a:ext cx="10972800" cy="640080"/>
          </a:xfrm>
          <a:prstGeom prst="rect">
            <a:avLst/>
          </a:prstGeom>
          <a:noFill/>
          <a:ln/>
        </p:spPr>
        <p:txBody>
          <a:bodyPr wrap="square" rtlCol="0" anchor="ctr"/>
          <a:lstStyle/>
          <a:p>
            <a:pPr marL="0" indent="0">
              <a:buNone/>
            </a:pPr>
            <a:r>
              <a:rPr lang="en-US" sz="3000" dirty="0">
                <a:solidFill>
                  <a:srgbClr val="FFFFFF"/>
                </a:solidFill>
                <a:latin typeface="Calibri" pitchFamily="34" charset="0"/>
                <a:ea typeface="Calibri" pitchFamily="34" charset="-122"/>
                <a:cs typeface="Calibri" pitchFamily="34" charset="-120"/>
              </a:rPr>
              <a:t>Interactions for High-Dimensional Genomic Classification</a:t>
            </a:r>
            <a:endParaRPr lang="en-US" sz="3000" dirty="0"/>
          </a:p>
        </p:txBody>
      </p:sp>
      <p:sp>
        <p:nvSpPr>
          <p:cNvPr id="8" name="Shape 6"/>
          <p:cNvSpPr/>
          <p:nvPr/>
        </p:nvSpPr>
        <p:spPr>
          <a:xfrm>
            <a:off x="914400" y="3337560"/>
            <a:ext cx="1371600" cy="45720"/>
          </a:xfrm>
          <a:prstGeom prst="rect">
            <a:avLst/>
          </a:prstGeom>
          <a:solidFill>
            <a:srgbClr val="EE964B"/>
          </a:solidFill>
          <a:ln w="12700">
            <a:solidFill>
              <a:srgbClr val="EE964B"/>
            </a:solidFill>
            <a:prstDash val="solid"/>
          </a:ln>
        </p:spPr>
        <p:txBody>
          <a:bodyPr/>
          <a:lstStyle/>
          <a:p>
            <a:endParaRPr lang="en-US"/>
          </a:p>
        </p:txBody>
      </p:sp>
      <p:sp>
        <p:nvSpPr>
          <p:cNvPr id="9" name="Text 7"/>
          <p:cNvSpPr/>
          <p:nvPr/>
        </p:nvSpPr>
        <p:spPr>
          <a:xfrm>
            <a:off x="914400" y="3520440"/>
            <a:ext cx="10058400" cy="548640"/>
          </a:xfrm>
          <a:prstGeom prst="rect">
            <a:avLst/>
          </a:prstGeom>
          <a:noFill/>
          <a:ln/>
        </p:spPr>
        <p:txBody>
          <a:bodyPr wrap="square" rtlCol="0" anchor="ctr"/>
          <a:lstStyle/>
          <a:p>
            <a:pPr marL="0" indent="0">
              <a:buNone/>
            </a:pPr>
            <a:r>
              <a:rPr lang="en-US" sz="1400" i="1" dirty="0">
                <a:solidFill>
                  <a:srgbClr val="B8C5D9"/>
                </a:solidFill>
                <a:latin typeface="Calibri" pitchFamily="34" charset="0"/>
                <a:ea typeface="Calibri" pitchFamily="34" charset="-122"/>
                <a:cs typeface="Calibri" pitchFamily="34" charset="-120"/>
              </a:rPr>
              <a:t>A benchmark study on TCGA pan-cancer gene expression data — 6 optimizers × 4 schedules × 2 regularizers = 144 model fits</a:t>
            </a:r>
            <a:endParaRPr lang="en-US" sz="1400" dirty="0"/>
          </a:p>
        </p:txBody>
      </p:sp>
      <p:sp>
        <p:nvSpPr>
          <p:cNvPr id="10" name="Shape 8"/>
          <p:cNvSpPr/>
          <p:nvPr/>
        </p:nvSpPr>
        <p:spPr>
          <a:xfrm>
            <a:off x="914400" y="4434840"/>
            <a:ext cx="4572000" cy="1691640"/>
          </a:xfrm>
          <a:prstGeom prst="rect">
            <a:avLst/>
          </a:prstGeom>
          <a:solidFill>
            <a:srgbClr val="13315C"/>
          </a:solidFill>
          <a:ln w="12700">
            <a:solidFill>
              <a:srgbClr val="13315C"/>
            </a:solidFill>
            <a:prstDash val="solid"/>
          </a:ln>
        </p:spPr>
        <p:txBody>
          <a:bodyPr/>
          <a:lstStyle/>
          <a:p>
            <a:endParaRPr lang="en-US" dirty="0"/>
          </a:p>
        </p:txBody>
      </p:sp>
      <p:sp>
        <p:nvSpPr>
          <p:cNvPr id="11" name="Shape 9"/>
          <p:cNvSpPr/>
          <p:nvPr/>
        </p:nvSpPr>
        <p:spPr>
          <a:xfrm>
            <a:off x="914400" y="4434840"/>
            <a:ext cx="73152" cy="1691640"/>
          </a:xfrm>
          <a:prstGeom prst="rect">
            <a:avLst/>
          </a:prstGeom>
          <a:solidFill>
            <a:srgbClr val="EE964B"/>
          </a:solidFill>
          <a:ln w="12700">
            <a:solidFill>
              <a:srgbClr val="EE964B"/>
            </a:solidFill>
            <a:prstDash val="solid"/>
          </a:ln>
        </p:spPr>
        <p:txBody>
          <a:bodyPr/>
          <a:lstStyle/>
          <a:p>
            <a:endParaRPr lang="en-US"/>
          </a:p>
        </p:txBody>
      </p:sp>
      <p:sp>
        <p:nvSpPr>
          <p:cNvPr id="12" name="Text 10"/>
          <p:cNvSpPr/>
          <p:nvPr/>
        </p:nvSpPr>
        <p:spPr>
          <a:xfrm>
            <a:off x="1143000" y="4526280"/>
            <a:ext cx="4114800" cy="274320"/>
          </a:xfrm>
          <a:prstGeom prst="rect">
            <a:avLst/>
          </a:prstGeom>
          <a:noFill/>
          <a:ln/>
        </p:spPr>
        <p:txBody>
          <a:bodyPr wrap="square" rtlCol="0" anchor="ctr"/>
          <a:lstStyle/>
          <a:p>
            <a:pPr marL="0" indent="0">
              <a:buNone/>
            </a:pPr>
            <a:r>
              <a:rPr lang="en-US" sz="1000" b="1" kern="0" spc="400" dirty="0">
                <a:solidFill>
                  <a:srgbClr val="EE964B"/>
                </a:solidFill>
                <a:latin typeface="Calibri" pitchFamily="34" charset="0"/>
                <a:ea typeface="Calibri" pitchFamily="34" charset="-122"/>
                <a:cs typeface="Calibri" pitchFamily="34" charset="-120"/>
              </a:rPr>
              <a:t>PRESENTED BY</a:t>
            </a:r>
            <a:endParaRPr lang="en-US" sz="1000" dirty="0"/>
          </a:p>
        </p:txBody>
      </p:sp>
      <p:sp>
        <p:nvSpPr>
          <p:cNvPr id="13" name="Text 11"/>
          <p:cNvSpPr/>
          <p:nvPr/>
        </p:nvSpPr>
        <p:spPr>
          <a:xfrm>
            <a:off x="1143000" y="4800600"/>
            <a:ext cx="411480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Group 5  ·  </a:t>
            </a:r>
            <a:r>
              <a:rPr lang="en-US" sz="1600" i="1" dirty="0">
                <a:solidFill>
                  <a:srgbClr val="B8C5D9"/>
                </a:solidFill>
                <a:latin typeface="Calibri" pitchFamily="34" charset="0"/>
                <a:ea typeface="Calibri" pitchFamily="34" charset="-122"/>
                <a:cs typeface="Calibri" pitchFamily="34" charset="-120"/>
              </a:rPr>
              <a:t>TCGA Optimizer Lab</a:t>
            </a:r>
            <a:endParaRPr lang="en-US" sz="1600" dirty="0"/>
          </a:p>
        </p:txBody>
      </p:sp>
      <p:sp>
        <p:nvSpPr>
          <p:cNvPr id="14" name="Text 12"/>
          <p:cNvSpPr/>
          <p:nvPr/>
        </p:nvSpPr>
        <p:spPr>
          <a:xfrm>
            <a:off x="1143000" y="5166360"/>
            <a:ext cx="4114800" cy="228600"/>
          </a:xfrm>
          <a:prstGeom prst="rect">
            <a:avLst/>
          </a:prstGeom>
          <a:noFill/>
          <a:ln/>
        </p:spPr>
        <p:txBody>
          <a:bodyPr wrap="square" rtlCol="0" anchor="ctr"/>
          <a:lstStyle/>
          <a:p>
            <a:pPr marL="0" indent="0">
              <a:buNone/>
            </a:pPr>
            <a:r>
              <a:rPr lang="en-US" sz="1000" b="1" dirty="0">
                <a:solidFill>
                  <a:srgbClr val="EE964B"/>
                </a:solidFill>
                <a:latin typeface="Calibri" pitchFamily="34" charset="0"/>
                <a:ea typeface="Calibri" pitchFamily="34" charset="-122"/>
                <a:cs typeface="Calibri" pitchFamily="34" charset="-120"/>
              </a:rPr>
              <a:t>Student ID            Name</a:t>
            </a:r>
            <a:endParaRPr lang="en-US" sz="1000" dirty="0"/>
          </a:p>
        </p:txBody>
      </p:sp>
      <p:sp>
        <p:nvSpPr>
          <p:cNvPr id="15" name="Text 13"/>
          <p:cNvSpPr/>
          <p:nvPr/>
        </p:nvSpPr>
        <p:spPr>
          <a:xfrm>
            <a:off x="1143000" y="5413248"/>
            <a:ext cx="4114800" cy="22860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1002167390      Prithwiraj Chatterjee</a:t>
            </a:r>
            <a:endParaRPr lang="en-US" sz="1100" dirty="0"/>
          </a:p>
        </p:txBody>
      </p:sp>
      <p:sp>
        <p:nvSpPr>
          <p:cNvPr id="16" name="Text 14"/>
          <p:cNvSpPr/>
          <p:nvPr/>
        </p:nvSpPr>
        <p:spPr>
          <a:xfrm>
            <a:off x="1143000" y="5650992"/>
            <a:ext cx="4114800" cy="228600"/>
          </a:xfrm>
          <a:prstGeom prst="rect">
            <a:avLst/>
          </a:prstGeom>
          <a:noFill/>
          <a:ln/>
        </p:spPr>
        <p:txBody>
          <a:bodyPr wrap="square" rtlCol="0" anchor="ctr"/>
          <a:lstStyle/>
          <a:p>
            <a:pPr marL="0" indent="0">
              <a:buNone/>
            </a:pPr>
            <a:endParaRPr lang="en-US" sz="1100" dirty="0"/>
          </a:p>
        </p:txBody>
      </p:sp>
      <p:sp>
        <p:nvSpPr>
          <p:cNvPr id="17" name="Text 15"/>
          <p:cNvSpPr/>
          <p:nvPr/>
        </p:nvSpPr>
        <p:spPr>
          <a:xfrm>
            <a:off x="1143000" y="5897880"/>
            <a:ext cx="4114800" cy="22860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3</a:t>
            </a:r>
            <a:endParaRPr lang="en-US" sz="1100" dirty="0"/>
          </a:p>
        </p:txBody>
      </p:sp>
      <p:sp>
        <p:nvSpPr>
          <p:cNvPr id="18" name="Shape 16"/>
          <p:cNvSpPr/>
          <p:nvPr/>
        </p:nvSpPr>
        <p:spPr>
          <a:xfrm>
            <a:off x="6400800" y="4434840"/>
            <a:ext cx="4846320" cy="1691640"/>
          </a:xfrm>
          <a:prstGeom prst="rect">
            <a:avLst/>
          </a:prstGeom>
          <a:solidFill>
            <a:srgbClr val="13315C"/>
          </a:solidFill>
          <a:ln w="12700">
            <a:solidFill>
              <a:srgbClr val="13315C"/>
            </a:solidFill>
            <a:prstDash val="solid"/>
          </a:ln>
        </p:spPr>
        <p:txBody>
          <a:bodyPr/>
          <a:lstStyle/>
          <a:p>
            <a:endParaRPr lang="en-US"/>
          </a:p>
        </p:txBody>
      </p:sp>
      <p:sp>
        <p:nvSpPr>
          <p:cNvPr id="19" name="Shape 17"/>
          <p:cNvSpPr/>
          <p:nvPr/>
        </p:nvSpPr>
        <p:spPr>
          <a:xfrm>
            <a:off x="6400800" y="4434840"/>
            <a:ext cx="73152" cy="1691640"/>
          </a:xfrm>
          <a:prstGeom prst="rect">
            <a:avLst/>
          </a:prstGeom>
          <a:solidFill>
            <a:srgbClr val="1B7F8C"/>
          </a:solidFill>
          <a:ln w="12700">
            <a:solidFill>
              <a:srgbClr val="1B7F8C"/>
            </a:solidFill>
            <a:prstDash val="solid"/>
          </a:ln>
        </p:spPr>
        <p:txBody>
          <a:bodyPr/>
          <a:lstStyle/>
          <a:p>
            <a:endParaRPr lang="en-US"/>
          </a:p>
        </p:txBody>
      </p:sp>
      <p:sp>
        <p:nvSpPr>
          <p:cNvPr id="20" name="Text 18"/>
          <p:cNvSpPr/>
          <p:nvPr/>
        </p:nvSpPr>
        <p:spPr>
          <a:xfrm>
            <a:off x="6629400" y="4526280"/>
            <a:ext cx="4572000" cy="274320"/>
          </a:xfrm>
          <a:prstGeom prst="rect">
            <a:avLst/>
          </a:prstGeom>
          <a:noFill/>
          <a:ln/>
        </p:spPr>
        <p:txBody>
          <a:bodyPr wrap="square" rtlCol="0" anchor="ctr"/>
          <a:lstStyle/>
          <a:p>
            <a:pPr marL="0" indent="0">
              <a:buNone/>
            </a:pPr>
            <a:r>
              <a:rPr lang="en-US" sz="1000" b="1" kern="0" spc="400" dirty="0">
                <a:solidFill>
                  <a:srgbClr val="1B7F8C"/>
                </a:solidFill>
                <a:latin typeface="Calibri" pitchFamily="34" charset="0"/>
                <a:ea typeface="Calibri" pitchFamily="34" charset="-122"/>
                <a:cs typeface="Calibri" pitchFamily="34" charset="-120"/>
              </a:rPr>
              <a:t>UNDER THE GUIDANCE OF</a:t>
            </a:r>
            <a:endParaRPr lang="en-US" sz="1000" dirty="0"/>
          </a:p>
        </p:txBody>
      </p:sp>
      <p:sp>
        <p:nvSpPr>
          <p:cNvPr id="21" name="Text 19"/>
          <p:cNvSpPr/>
          <p:nvPr/>
        </p:nvSpPr>
        <p:spPr>
          <a:xfrm>
            <a:off x="6629400" y="4800600"/>
            <a:ext cx="4572000" cy="36576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Prof. Ce Bian</a:t>
            </a:r>
            <a:endParaRPr lang="en-US" sz="1800" dirty="0"/>
          </a:p>
        </p:txBody>
      </p:sp>
      <p:sp>
        <p:nvSpPr>
          <p:cNvPr id="22" name="Text 20"/>
          <p:cNvSpPr/>
          <p:nvPr/>
        </p:nvSpPr>
        <p:spPr>
          <a:xfrm>
            <a:off x="6629400" y="5212080"/>
            <a:ext cx="4572000" cy="274320"/>
          </a:xfrm>
          <a:prstGeom prst="rect">
            <a:avLst/>
          </a:prstGeom>
          <a:noFill/>
          <a:ln/>
        </p:spPr>
        <p:txBody>
          <a:bodyPr wrap="square" rtlCol="0" anchor="ctr"/>
          <a:lstStyle/>
          <a:p>
            <a:pPr marL="0" indent="0">
              <a:buNone/>
            </a:pPr>
            <a:r>
              <a:rPr lang="en-US" sz="1200" dirty="0">
                <a:solidFill>
                  <a:srgbClr val="B8C5D9"/>
                </a:solidFill>
                <a:latin typeface="Calibri" pitchFamily="34" charset="0"/>
                <a:ea typeface="Calibri" pitchFamily="34" charset="-122"/>
                <a:cs typeface="Calibri" pitchFamily="34" charset="-120"/>
              </a:rPr>
              <a:t>University of Texas at Arlington</a:t>
            </a:r>
            <a:endParaRPr lang="en-US" sz="1200" dirty="0"/>
          </a:p>
        </p:txBody>
      </p:sp>
      <p:sp>
        <p:nvSpPr>
          <p:cNvPr id="23" name="Text 21"/>
          <p:cNvSpPr/>
          <p:nvPr/>
        </p:nvSpPr>
        <p:spPr>
          <a:xfrm>
            <a:off x="6629400" y="5468112"/>
            <a:ext cx="4572000" cy="274320"/>
          </a:xfrm>
          <a:prstGeom prst="rect">
            <a:avLst/>
          </a:prstGeom>
          <a:noFill/>
          <a:ln/>
        </p:spPr>
        <p:txBody>
          <a:bodyPr wrap="square" rtlCol="0" anchor="ctr"/>
          <a:lstStyle/>
          <a:p>
            <a:pPr marL="0" indent="0">
              <a:buNone/>
            </a:pPr>
            <a:r>
              <a:rPr lang="en-US" sz="1100" i="1" dirty="0">
                <a:solidFill>
                  <a:srgbClr val="B8C5D9"/>
                </a:solidFill>
                <a:latin typeface="Calibri" pitchFamily="34" charset="0"/>
                <a:ea typeface="Calibri" pitchFamily="34" charset="-122"/>
                <a:cs typeface="Calibri" pitchFamily="34" charset="-120"/>
              </a:rPr>
              <a:t>Applied Statistics &amp; Data Science</a:t>
            </a:r>
            <a:endParaRPr lang="en-US" sz="1100" dirty="0"/>
          </a:p>
        </p:txBody>
      </p:sp>
      <p:sp>
        <p:nvSpPr>
          <p:cNvPr id="24" name="Text 22"/>
          <p:cNvSpPr/>
          <p:nvPr/>
        </p:nvSpPr>
        <p:spPr>
          <a:xfrm>
            <a:off x="6629400" y="5779008"/>
            <a:ext cx="4572000" cy="274320"/>
          </a:xfrm>
          <a:prstGeom prst="rect">
            <a:avLst/>
          </a:prstGeom>
          <a:noFill/>
          <a:ln/>
        </p:spPr>
        <p:txBody>
          <a:bodyPr wrap="square" rtlCol="0" anchor="ctr"/>
          <a:lstStyle/>
          <a:p>
            <a:pPr marL="0" indent="0">
              <a:buNone/>
            </a:pPr>
            <a:r>
              <a:rPr lang="en-US" sz="1100" b="1" dirty="0">
                <a:solidFill>
                  <a:srgbClr val="EE964B"/>
                </a:solidFill>
                <a:latin typeface="Calibri" pitchFamily="34" charset="0"/>
                <a:ea typeface="Calibri" pitchFamily="34" charset="-122"/>
                <a:cs typeface="Calibri" pitchFamily="34" charset="-120"/>
              </a:rPr>
              <a:t>Spring 2026  ·  April 30,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The Problem</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Most papers default to Adam without evidence. We test the assumption.</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sp>
        <p:nvSpPr>
          <p:cNvPr id="8" name="Shape 6"/>
          <p:cNvSpPr/>
          <p:nvPr/>
        </p:nvSpPr>
        <p:spPr>
          <a:xfrm>
            <a:off x="457200" y="1143000"/>
            <a:ext cx="5943600" cy="5212080"/>
          </a:xfrm>
          <a:prstGeom prst="rect">
            <a:avLst/>
          </a:prstGeom>
          <a:solidFill>
            <a:srgbClr val="FFFFFF"/>
          </a:solidFill>
          <a:ln w="9525">
            <a:solidFill>
              <a:srgbClr val="DDE3EC"/>
            </a:solidFill>
            <a:prstDash val="solid"/>
          </a:ln>
        </p:spPr>
        <p:txBody>
          <a:bodyPr/>
          <a:lstStyle/>
          <a:p>
            <a:endParaRPr lang="en-US" dirty="0"/>
          </a:p>
        </p:txBody>
      </p:sp>
      <p:sp>
        <p:nvSpPr>
          <p:cNvPr id="9" name="Shape 7"/>
          <p:cNvSpPr/>
          <p:nvPr/>
        </p:nvSpPr>
        <p:spPr>
          <a:xfrm>
            <a:off x="457200" y="1143000"/>
            <a:ext cx="73152" cy="5212080"/>
          </a:xfrm>
          <a:prstGeom prst="rect">
            <a:avLst/>
          </a:prstGeom>
          <a:solidFill>
            <a:srgbClr val="EE964B"/>
          </a:solidFill>
          <a:ln w="12700">
            <a:solidFill>
              <a:srgbClr val="EE964B"/>
            </a:solidFill>
            <a:prstDash val="solid"/>
          </a:ln>
        </p:spPr>
        <p:txBody>
          <a:bodyPr/>
          <a:lstStyle/>
          <a:p>
            <a:endParaRPr lang="en-US"/>
          </a:p>
        </p:txBody>
      </p:sp>
      <p:sp>
        <p:nvSpPr>
          <p:cNvPr id="10" name="Text 8"/>
          <p:cNvSpPr/>
          <p:nvPr/>
        </p:nvSpPr>
        <p:spPr>
          <a:xfrm>
            <a:off x="777240" y="1280160"/>
            <a:ext cx="5486400" cy="365760"/>
          </a:xfrm>
          <a:prstGeom prst="rect">
            <a:avLst/>
          </a:prstGeom>
          <a:noFill/>
          <a:ln/>
        </p:spPr>
        <p:txBody>
          <a:bodyPr wrap="square"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In high-dimensional genomics…</a:t>
            </a:r>
            <a:endParaRPr lang="en-US" sz="1800" dirty="0"/>
          </a:p>
        </p:txBody>
      </p:sp>
      <p:sp>
        <p:nvSpPr>
          <p:cNvPr id="11" name="Text 9"/>
          <p:cNvSpPr/>
          <p:nvPr/>
        </p:nvSpPr>
        <p:spPr>
          <a:xfrm>
            <a:off x="777240" y="1691640"/>
            <a:ext cx="5486400" cy="1280160"/>
          </a:xfrm>
          <a:prstGeom prst="rect">
            <a:avLst/>
          </a:prstGeom>
          <a:noFill/>
          <a:ln/>
        </p:spPr>
        <p:txBody>
          <a:bodyPr wrap="square" rtlCol="0" anchor="ctr"/>
          <a:lstStyle/>
          <a:p>
            <a:pPr marL="0" indent="0">
              <a:spcAft>
                <a:spcPts val="600"/>
              </a:spcAft>
              <a:buNone/>
            </a:pPr>
            <a:r>
              <a:rPr lang="en-US" sz="1300" dirty="0">
                <a:solidFill>
                  <a:srgbClr val="1A2238"/>
                </a:solidFill>
                <a:latin typeface="Calibri" pitchFamily="34" charset="0"/>
                <a:ea typeface="Calibri" pitchFamily="34" charset="-122"/>
                <a:cs typeface="Calibri" pitchFamily="34" charset="-120"/>
              </a:rPr>
              <a:t>Tumor samples carry tens of thousands of gene expression values but only a few hundred patients per cancer type. The classifier sees </a:t>
            </a:r>
            <a:r>
              <a:rPr lang="en-US" sz="1300" b="1" dirty="0">
                <a:solidFill>
                  <a:srgbClr val="0B2545"/>
                </a:solidFill>
                <a:latin typeface="Calibri" pitchFamily="34" charset="0"/>
                <a:ea typeface="Calibri" pitchFamily="34" charset="-122"/>
                <a:cs typeface="Calibri" pitchFamily="34" charset="-120"/>
              </a:rPr>
              <a:t>more features than samples</a:t>
            </a:r>
            <a:r>
              <a:rPr lang="en-US" sz="1300" dirty="0">
                <a:solidFill>
                  <a:srgbClr val="1A2238"/>
                </a:solidFill>
                <a:latin typeface="Calibri" pitchFamily="34" charset="0"/>
                <a:ea typeface="Calibri" pitchFamily="34" charset="-122"/>
                <a:cs typeface="Calibri" pitchFamily="34" charset="-120"/>
              </a:rPr>
              <a:t>, and the optimizer becomes a real decision, not a default.</a:t>
            </a:r>
            <a:endParaRPr lang="en-US" sz="1300" dirty="0"/>
          </a:p>
        </p:txBody>
      </p:sp>
      <p:sp>
        <p:nvSpPr>
          <p:cNvPr id="12" name="Text 10"/>
          <p:cNvSpPr/>
          <p:nvPr/>
        </p:nvSpPr>
        <p:spPr>
          <a:xfrm>
            <a:off x="777240" y="3017520"/>
            <a:ext cx="5486400" cy="365760"/>
          </a:xfrm>
          <a:prstGeom prst="rect">
            <a:avLst/>
          </a:prstGeom>
          <a:noFill/>
          <a:ln/>
        </p:spPr>
        <p:txBody>
          <a:bodyPr wrap="square" rtlCol="0" anchor="ctr"/>
          <a:lstStyle/>
          <a:p>
            <a:pPr marL="0" indent="0">
              <a:buNone/>
            </a:pPr>
            <a:r>
              <a:rPr lang="en-US" sz="1400" b="1" dirty="0">
                <a:solidFill>
                  <a:srgbClr val="1B7F8C"/>
                </a:solidFill>
                <a:latin typeface="Calibri" pitchFamily="34" charset="0"/>
                <a:ea typeface="Calibri" pitchFamily="34" charset="-122"/>
                <a:cs typeface="Calibri" pitchFamily="34" charset="-120"/>
              </a:rPr>
              <a:t>What we observed in this Scope</a:t>
            </a:r>
            <a:endParaRPr lang="en-US" sz="1400" dirty="0"/>
          </a:p>
        </p:txBody>
      </p:sp>
      <p:sp>
        <p:nvSpPr>
          <p:cNvPr id="13" name="Text 11"/>
          <p:cNvSpPr/>
          <p:nvPr/>
        </p:nvSpPr>
        <p:spPr>
          <a:xfrm>
            <a:off x="777240" y="3429000"/>
            <a:ext cx="5486400" cy="2743200"/>
          </a:xfrm>
          <a:prstGeom prst="rect">
            <a:avLst/>
          </a:prstGeom>
          <a:noFill/>
          <a:ln/>
        </p:spPr>
        <p:txBody>
          <a:bodyPr wrap="square" rtlCol="0" anchor="ctr"/>
          <a:lstStyle/>
          <a:p>
            <a:pPr marL="342900" indent="-342900">
              <a:spcAft>
                <a:spcPts val="400"/>
              </a:spcAft>
              <a:buSzPct val="100000"/>
              <a:buChar char="•"/>
            </a:pPr>
            <a:r>
              <a:rPr lang="en-US" sz="1300" b="1" dirty="0">
                <a:solidFill>
                  <a:srgbClr val="0B2545"/>
                </a:solidFill>
                <a:latin typeface="Calibri" pitchFamily="34" charset="0"/>
                <a:ea typeface="Calibri" pitchFamily="34" charset="-122"/>
                <a:cs typeface="Calibri" pitchFamily="34" charset="-120"/>
              </a:rPr>
              <a:t>Adam is reflexively chosen</a:t>
            </a:r>
            <a:endParaRPr lang="en-US" sz="1300" dirty="0"/>
          </a:p>
          <a:p>
            <a:pPr marL="508000" lvl="1" indent="-254000">
              <a:spcAft>
                <a:spcPts val="400"/>
              </a:spcAft>
              <a:buSzPct val="100000"/>
              <a:buChar char="•"/>
            </a:pPr>
            <a:r>
              <a:rPr lang="en-US" sz="1200" dirty="0">
                <a:solidFill>
                  <a:srgbClr val="1A2238"/>
                </a:solidFill>
                <a:latin typeface="Calibri" pitchFamily="34" charset="0"/>
                <a:ea typeface="Calibri" pitchFamily="34" charset="-122"/>
                <a:cs typeface="Calibri" pitchFamily="34" charset="-120"/>
              </a:rPr>
              <a:t>Most genomic ML papers don't justify the choice with a benchmark.</a:t>
            </a:r>
            <a:endParaRPr lang="en-US" sz="1300" dirty="0"/>
          </a:p>
          <a:p>
            <a:pPr marL="342900" indent="-342900">
              <a:spcAft>
                <a:spcPts val="400"/>
              </a:spcAft>
              <a:buSzPct val="100000"/>
              <a:buChar char="•"/>
            </a:pPr>
            <a:r>
              <a:rPr lang="en-US" sz="1300" b="1" dirty="0">
                <a:solidFill>
                  <a:srgbClr val="0B2545"/>
                </a:solidFill>
                <a:latin typeface="Calibri" pitchFamily="34" charset="0"/>
                <a:ea typeface="Calibri" pitchFamily="34" charset="-122"/>
                <a:cs typeface="Calibri" pitchFamily="34" charset="-120"/>
              </a:rPr>
              <a:t>LR-schedule research lives in transformer-land</a:t>
            </a:r>
            <a:endParaRPr lang="en-US" sz="1300" dirty="0"/>
          </a:p>
          <a:p>
            <a:pPr marL="508000" lvl="1" indent="-254000">
              <a:spcAft>
                <a:spcPts val="400"/>
              </a:spcAft>
              <a:buSzPct val="100000"/>
              <a:buChar char="•"/>
            </a:pPr>
            <a:r>
              <a:rPr lang="en-US" sz="1200" dirty="0">
                <a:solidFill>
                  <a:srgbClr val="1A2238"/>
                </a:solidFill>
                <a:latin typeface="Calibri" pitchFamily="34" charset="0"/>
                <a:ea typeface="Calibri" pitchFamily="34" charset="-122"/>
                <a:cs typeface="Calibri" pitchFamily="34" charset="-120"/>
              </a:rPr>
              <a:t>Cosine, warm restarts, all developed for CNNs and LLMs, never tested on tabular biomedical data.</a:t>
            </a:r>
            <a:endParaRPr lang="en-US" sz="1300" dirty="0"/>
          </a:p>
          <a:p>
            <a:pPr marL="342900" indent="-342900">
              <a:spcAft>
                <a:spcPts val="400"/>
              </a:spcAft>
              <a:buSzPct val="100000"/>
              <a:buChar char="•"/>
            </a:pPr>
            <a:r>
              <a:rPr lang="en-US" sz="1300" b="1" dirty="0">
                <a:solidFill>
                  <a:srgbClr val="0B2545"/>
                </a:solidFill>
                <a:latin typeface="Calibri" pitchFamily="34" charset="0"/>
                <a:ea typeface="Calibri" pitchFamily="34" charset="-122"/>
                <a:cs typeface="Calibri" pitchFamily="34" charset="-120"/>
              </a:rPr>
              <a:t>Greenelab 2024 stopped at 2 optimizers</a:t>
            </a:r>
            <a:endParaRPr lang="en-US" sz="1300" dirty="0"/>
          </a:p>
          <a:p>
            <a:pPr marL="508000" lvl="1" indent="-254000">
              <a:spcAft>
                <a:spcPts val="400"/>
              </a:spcAft>
              <a:buSzPct val="100000"/>
              <a:buChar char="•"/>
            </a:pPr>
            <a:r>
              <a:rPr lang="en-US" sz="1200" dirty="0">
                <a:solidFill>
                  <a:srgbClr val="1A2238"/>
                </a:solidFill>
                <a:latin typeface="Calibri" pitchFamily="34" charset="0"/>
                <a:ea typeface="Calibri" pitchFamily="34" charset="-122"/>
                <a:cs typeface="Calibri" pitchFamily="34" charset="-120"/>
              </a:rPr>
              <a:t>Showed optimizer choice changes which genes get selected but didn't explore schedules.</a:t>
            </a:r>
            <a:endParaRPr lang="en-US" sz="1300" dirty="0"/>
          </a:p>
        </p:txBody>
      </p:sp>
      <p:sp>
        <p:nvSpPr>
          <p:cNvPr id="14" name="Shape 12"/>
          <p:cNvSpPr/>
          <p:nvPr/>
        </p:nvSpPr>
        <p:spPr>
          <a:xfrm>
            <a:off x="6766560" y="1143000"/>
            <a:ext cx="4937760" cy="1207008"/>
          </a:xfrm>
          <a:prstGeom prst="rect">
            <a:avLst/>
          </a:prstGeom>
          <a:solidFill>
            <a:srgbClr val="FFFFFF"/>
          </a:solidFill>
          <a:ln w="9525">
            <a:solidFill>
              <a:srgbClr val="DDE3EC"/>
            </a:solidFill>
            <a:prstDash val="solid"/>
          </a:ln>
        </p:spPr>
        <p:txBody>
          <a:bodyPr/>
          <a:lstStyle/>
          <a:p>
            <a:endParaRPr lang="en-US"/>
          </a:p>
        </p:txBody>
      </p:sp>
      <p:sp>
        <p:nvSpPr>
          <p:cNvPr id="15" name="Shape 13"/>
          <p:cNvSpPr/>
          <p:nvPr/>
        </p:nvSpPr>
        <p:spPr>
          <a:xfrm>
            <a:off x="6766560" y="1143000"/>
            <a:ext cx="73152" cy="1207008"/>
          </a:xfrm>
          <a:prstGeom prst="rect">
            <a:avLst/>
          </a:prstGeom>
          <a:solidFill>
            <a:srgbClr val="EE964B"/>
          </a:solidFill>
          <a:ln w="12700">
            <a:solidFill>
              <a:srgbClr val="EE964B"/>
            </a:solidFill>
            <a:prstDash val="solid"/>
          </a:ln>
        </p:spPr>
        <p:txBody>
          <a:bodyPr/>
          <a:lstStyle/>
          <a:p>
            <a:endParaRPr lang="en-US"/>
          </a:p>
        </p:txBody>
      </p:sp>
      <p:sp>
        <p:nvSpPr>
          <p:cNvPr id="16" name="Text 14"/>
          <p:cNvSpPr/>
          <p:nvPr/>
        </p:nvSpPr>
        <p:spPr>
          <a:xfrm>
            <a:off x="6995160" y="1280160"/>
            <a:ext cx="2103120" cy="914400"/>
          </a:xfrm>
          <a:prstGeom prst="rect">
            <a:avLst/>
          </a:prstGeom>
          <a:noFill/>
          <a:ln/>
        </p:spPr>
        <p:txBody>
          <a:bodyPr wrap="square" lIns="0" tIns="0" rIns="0" bIns="0" rtlCol="0" anchor="ctr"/>
          <a:lstStyle/>
          <a:p>
            <a:pPr marL="0" indent="0">
              <a:buNone/>
            </a:pPr>
            <a:r>
              <a:rPr lang="en-US" sz="4400" b="1" dirty="0">
                <a:solidFill>
                  <a:srgbClr val="EE964B"/>
                </a:solidFill>
                <a:latin typeface="Calibri" pitchFamily="34" charset="0"/>
                <a:ea typeface="Calibri" pitchFamily="34" charset="-122"/>
                <a:cs typeface="Calibri" pitchFamily="34" charset="-120"/>
              </a:rPr>
              <a:t>60,498</a:t>
            </a:r>
            <a:endParaRPr lang="en-US" sz="4400" dirty="0"/>
          </a:p>
        </p:txBody>
      </p:sp>
      <p:sp>
        <p:nvSpPr>
          <p:cNvPr id="17" name="Text 15"/>
          <p:cNvSpPr/>
          <p:nvPr/>
        </p:nvSpPr>
        <p:spPr>
          <a:xfrm>
            <a:off x="9235440" y="1508760"/>
            <a:ext cx="2286000" cy="548640"/>
          </a:xfrm>
          <a:prstGeom prst="rect">
            <a:avLst/>
          </a:prstGeom>
          <a:noFill/>
          <a:ln/>
        </p:spPr>
        <p:txBody>
          <a:bodyPr wrap="square" lIns="0" tIns="0" rIns="0" bIns="0" rtlCol="0" anchor="ctr"/>
          <a:lstStyle/>
          <a:p>
            <a:pPr marL="0" indent="0">
              <a:buNone/>
            </a:pPr>
            <a:r>
              <a:rPr lang="en-US" sz="1300" i="1" dirty="0">
                <a:solidFill>
                  <a:srgbClr val="1A2238"/>
                </a:solidFill>
                <a:latin typeface="Calibri" pitchFamily="34" charset="0"/>
                <a:ea typeface="Calibri" pitchFamily="34" charset="-122"/>
                <a:cs typeface="Calibri" pitchFamily="34" charset="-120"/>
              </a:rPr>
              <a:t>raw gene columns</a:t>
            </a:r>
            <a:endParaRPr lang="en-US" sz="1300" dirty="0"/>
          </a:p>
        </p:txBody>
      </p:sp>
      <p:sp>
        <p:nvSpPr>
          <p:cNvPr id="18" name="Shape 16"/>
          <p:cNvSpPr/>
          <p:nvPr/>
        </p:nvSpPr>
        <p:spPr>
          <a:xfrm>
            <a:off x="6766560" y="2459736"/>
            <a:ext cx="4937760" cy="1207008"/>
          </a:xfrm>
          <a:prstGeom prst="rect">
            <a:avLst/>
          </a:prstGeom>
          <a:solidFill>
            <a:srgbClr val="FFFFFF"/>
          </a:solidFill>
          <a:ln w="9525">
            <a:solidFill>
              <a:srgbClr val="DDE3EC"/>
            </a:solidFill>
            <a:prstDash val="solid"/>
          </a:ln>
        </p:spPr>
        <p:txBody>
          <a:bodyPr/>
          <a:lstStyle/>
          <a:p>
            <a:endParaRPr lang="en-US"/>
          </a:p>
        </p:txBody>
      </p:sp>
      <p:sp>
        <p:nvSpPr>
          <p:cNvPr id="19" name="Shape 17"/>
          <p:cNvSpPr/>
          <p:nvPr/>
        </p:nvSpPr>
        <p:spPr>
          <a:xfrm>
            <a:off x="6766560" y="2459736"/>
            <a:ext cx="73152" cy="1207008"/>
          </a:xfrm>
          <a:prstGeom prst="rect">
            <a:avLst/>
          </a:prstGeom>
          <a:solidFill>
            <a:srgbClr val="1B7F8C"/>
          </a:solidFill>
          <a:ln w="12700">
            <a:solidFill>
              <a:srgbClr val="1B7F8C"/>
            </a:solidFill>
            <a:prstDash val="solid"/>
          </a:ln>
        </p:spPr>
        <p:txBody>
          <a:bodyPr/>
          <a:lstStyle/>
          <a:p>
            <a:endParaRPr lang="en-US"/>
          </a:p>
        </p:txBody>
      </p:sp>
      <p:sp>
        <p:nvSpPr>
          <p:cNvPr id="20" name="Text 18"/>
          <p:cNvSpPr/>
          <p:nvPr/>
        </p:nvSpPr>
        <p:spPr>
          <a:xfrm>
            <a:off x="6995160" y="2596896"/>
            <a:ext cx="2103120" cy="914400"/>
          </a:xfrm>
          <a:prstGeom prst="rect">
            <a:avLst/>
          </a:prstGeom>
          <a:noFill/>
          <a:ln/>
        </p:spPr>
        <p:txBody>
          <a:bodyPr wrap="square" lIns="0" tIns="0" rIns="0" bIns="0" rtlCol="0" anchor="ctr"/>
          <a:lstStyle/>
          <a:p>
            <a:pPr marL="0" indent="0">
              <a:buNone/>
            </a:pPr>
            <a:r>
              <a:rPr lang="en-US" sz="4400" b="1" dirty="0">
                <a:solidFill>
                  <a:srgbClr val="1B7F8C"/>
                </a:solidFill>
                <a:latin typeface="Calibri" pitchFamily="34" charset="0"/>
                <a:ea typeface="Calibri" pitchFamily="34" charset="-122"/>
                <a:cs typeface="Calibri" pitchFamily="34" charset="-120"/>
              </a:rPr>
              <a:t>20,000</a:t>
            </a:r>
            <a:endParaRPr lang="en-US" sz="4400" dirty="0"/>
          </a:p>
        </p:txBody>
      </p:sp>
      <p:sp>
        <p:nvSpPr>
          <p:cNvPr id="21" name="Text 19"/>
          <p:cNvSpPr/>
          <p:nvPr/>
        </p:nvSpPr>
        <p:spPr>
          <a:xfrm>
            <a:off x="9235440" y="2825496"/>
            <a:ext cx="2286000" cy="548640"/>
          </a:xfrm>
          <a:prstGeom prst="rect">
            <a:avLst/>
          </a:prstGeom>
          <a:noFill/>
          <a:ln/>
        </p:spPr>
        <p:txBody>
          <a:bodyPr wrap="square" lIns="0" tIns="0" rIns="0" bIns="0" rtlCol="0" anchor="ctr"/>
          <a:lstStyle/>
          <a:p>
            <a:pPr marL="0" indent="0">
              <a:buNone/>
            </a:pPr>
            <a:r>
              <a:rPr lang="en-US" sz="1300" i="1" dirty="0">
                <a:solidFill>
                  <a:srgbClr val="1A2238"/>
                </a:solidFill>
                <a:latin typeface="Calibri" pitchFamily="34" charset="0"/>
                <a:ea typeface="Calibri" pitchFamily="34" charset="-122"/>
                <a:cs typeface="Calibri" pitchFamily="34" charset="-120"/>
              </a:rPr>
              <a:t>kept after variance filter</a:t>
            </a:r>
            <a:endParaRPr lang="en-US" sz="1300" dirty="0"/>
          </a:p>
        </p:txBody>
      </p:sp>
      <p:sp>
        <p:nvSpPr>
          <p:cNvPr id="22" name="Shape 20"/>
          <p:cNvSpPr/>
          <p:nvPr/>
        </p:nvSpPr>
        <p:spPr>
          <a:xfrm>
            <a:off x="6766560" y="3776472"/>
            <a:ext cx="4937760" cy="1207008"/>
          </a:xfrm>
          <a:prstGeom prst="rect">
            <a:avLst/>
          </a:prstGeom>
          <a:solidFill>
            <a:srgbClr val="FFFFFF"/>
          </a:solidFill>
          <a:ln w="9525">
            <a:solidFill>
              <a:srgbClr val="DDE3EC"/>
            </a:solidFill>
            <a:prstDash val="solid"/>
          </a:ln>
        </p:spPr>
        <p:txBody>
          <a:bodyPr/>
          <a:lstStyle/>
          <a:p>
            <a:endParaRPr lang="en-US"/>
          </a:p>
        </p:txBody>
      </p:sp>
      <p:sp>
        <p:nvSpPr>
          <p:cNvPr id="23" name="Shape 21"/>
          <p:cNvSpPr/>
          <p:nvPr/>
        </p:nvSpPr>
        <p:spPr>
          <a:xfrm>
            <a:off x="6766560" y="3776472"/>
            <a:ext cx="73152" cy="1207008"/>
          </a:xfrm>
          <a:prstGeom prst="rect">
            <a:avLst/>
          </a:prstGeom>
          <a:solidFill>
            <a:srgbClr val="0B2545"/>
          </a:solidFill>
          <a:ln w="12700">
            <a:solidFill>
              <a:srgbClr val="0B2545"/>
            </a:solidFill>
            <a:prstDash val="solid"/>
          </a:ln>
        </p:spPr>
        <p:txBody>
          <a:bodyPr/>
          <a:lstStyle/>
          <a:p>
            <a:endParaRPr lang="en-US"/>
          </a:p>
        </p:txBody>
      </p:sp>
      <p:sp>
        <p:nvSpPr>
          <p:cNvPr id="24" name="Text 22"/>
          <p:cNvSpPr/>
          <p:nvPr/>
        </p:nvSpPr>
        <p:spPr>
          <a:xfrm>
            <a:off x="6995160" y="3913632"/>
            <a:ext cx="2103120" cy="914400"/>
          </a:xfrm>
          <a:prstGeom prst="rect">
            <a:avLst/>
          </a:prstGeom>
          <a:noFill/>
          <a:ln/>
        </p:spPr>
        <p:txBody>
          <a:bodyPr wrap="square" lIns="0" tIns="0" rIns="0" bIns="0" rtlCol="0" anchor="ctr"/>
          <a:lstStyle/>
          <a:p>
            <a:pPr marL="0" indent="0">
              <a:buNone/>
            </a:pPr>
            <a:r>
              <a:rPr lang="en-US" sz="4400" b="1" dirty="0">
                <a:solidFill>
                  <a:srgbClr val="0B2545"/>
                </a:solidFill>
                <a:latin typeface="Calibri" pitchFamily="34" charset="0"/>
                <a:ea typeface="Calibri" pitchFamily="34" charset="-122"/>
                <a:cs typeface="Calibri" pitchFamily="34" charset="-120"/>
              </a:rPr>
              <a:t>33</a:t>
            </a:r>
            <a:endParaRPr lang="en-US" sz="4400" dirty="0"/>
          </a:p>
        </p:txBody>
      </p:sp>
      <p:sp>
        <p:nvSpPr>
          <p:cNvPr id="25" name="Text 23"/>
          <p:cNvSpPr/>
          <p:nvPr/>
        </p:nvSpPr>
        <p:spPr>
          <a:xfrm>
            <a:off x="9235440" y="4142232"/>
            <a:ext cx="2286000" cy="548640"/>
          </a:xfrm>
          <a:prstGeom prst="rect">
            <a:avLst/>
          </a:prstGeom>
          <a:noFill/>
          <a:ln/>
        </p:spPr>
        <p:txBody>
          <a:bodyPr wrap="square" lIns="0" tIns="0" rIns="0" bIns="0" rtlCol="0" anchor="ctr"/>
          <a:lstStyle/>
          <a:p>
            <a:pPr marL="0" indent="0">
              <a:buNone/>
            </a:pPr>
            <a:r>
              <a:rPr lang="en-US" sz="1300" i="1" dirty="0">
                <a:solidFill>
                  <a:srgbClr val="1A2238"/>
                </a:solidFill>
                <a:latin typeface="Calibri" pitchFamily="34" charset="0"/>
                <a:ea typeface="Calibri" pitchFamily="34" charset="-122"/>
                <a:cs typeface="Calibri" pitchFamily="34" charset="-120"/>
              </a:rPr>
              <a:t>TCGA cancer types</a:t>
            </a:r>
            <a:endParaRPr lang="en-US" sz="1300" dirty="0"/>
          </a:p>
        </p:txBody>
      </p:sp>
      <p:sp>
        <p:nvSpPr>
          <p:cNvPr id="26" name="Shape 24"/>
          <p:cNvSpPr/>
          <p:nvPr/>
        </p:nvSpPr>
        <p:spPr>
          <a:xfrm>
            <a:off x="6766560" y="5093208"/>
            <a:ext cx="4937760" cy="1207008"/>
          </a:xfrm>
          <a:prstGeom prst="rect">
            <a:avLst/>
          </a:prstGeom>
          <a:solidFill>
            <a:srgbClr val="FFFFFF"/>
          </a:solidFill>
          <a:ln w="9525">
            <a:solidFill>
              <a:srgbClr val="DDE3EC"/>
            </a:solidFill>
            <a:prstDash val="solid"/>
          </a:ln>
        </p:spPr>
        <p:txBody>
          <a:bodyPr/>
          <a:lstStyle/>
          <a:p>
            <a:endParaRPr lang="en-US"/>
          </a:p>
        </p:txBody>
      </p:sp>
      <p:sp>
        <p:nvSpPr>
          <p:cNvPr id="27" name="Shape 25"/>
          <p:cNvSpPr/>
          <p:nvPr/>
        </p:nvSpPr>
        <p:spPr>
          <a:xfrm>
            <a:off x="6766560" y="5093208"/>
            <a:ext cx="73152" cy="1207008"/>
          </a:xfrm>
          <a:prstGeom prst="rect">
            <a:avLst/>
          </a:prstGeom>
          <a:solidFill>
            <a:srgbClr val="C03221"/>
          </a:solidFill>
          <a:ln w="12700">
            <a:solidFill>
              <a:srgbClr val="C03221"/>
            </a:solidFill>
            <a:prstDash val="solid"/>
          </a:ln>
        </p:spPr>
        <p:txBody>
          <a:bodyPr/>
          <a:lstStyle/>
          <a:p>
            <a:endParaRPr lang="en-US"/>
          </a:p>
        </p:txBody>
      </p:sp>
      <p:sp>
        <p:nvSpPr>
          <p:cNvPr id="28" name="Text 26"/>
          <p:cNvSpPr/>
          <p:nvPr/>
        </p:nvSpPr>
        <p:spPr>
          <a:xfrm>
            <a:off x="6995160" y="5230368"/>
            <a:ext cx="2103120" cy="914400"/>
          </a:xfrm>
          <a:prstGeom prst="rect">
            <a:avLst/>
          </a:prstGeom>
          <a:noFill/>
          <a:ln/>
        </p:spPr>
        <p:txBody>
          <a:bodyPr wrap="square" lIns="0" tIns="0" rIns="0" bIns="0" rtlCol="0" anchor="ctr"/>
          <a:lstStyle/>
          <a:p>
            <a:pPr marL="0" indent="0">
              <a:buNone/>
            </a:pPr>
            <a:r>
              <a:rPr lang="en-US" sz="4400" b="1" dirty="0">
                <a:solidFill>
                  <a:srgbClr val="C03221"/>
                </a:solidFill>
                <a:latin typeface="Calibri" pitchFamily="34" charset="0"/>
                <a:ea typeface="Calibri" pitchFamily="34" charset="-122"/>
                <a:cs typeface="Calibri" pitchFamily="34" charset="-120"/>
              </a:rPr>
              <a:t>144</a:t>
            </a:r>
            <a:endParaRPr lang="en-US" sz="4400" dirty="0"/>
          </a:p>
        </p:txBody>
      </p:sp>
      <p:sp>
        <p:nvSpPr>
          <p:cNvPr id="29" name="Text 27"/>
          <p:cNvSpPr/>
          <p:nvPr/>
        </p:nvSpPr>
        <p:spPr>
          <a:xfrm>
            <a:off x="9235440" y="5458968"/>
            <a:ext cx="2286000" cy="548640"/>
          </a:xfrm>
          <a:prstGeom prst="rect">
            <a:avLst/>
          </a:prstGeom>
          <a:noFill/>
          <a:ln/>
        </p:spPr>
        <p:txBody>
          <a:bodyPr wrap="square" lIns="0" tIns="0" rIns="0" bIns="0" rtlCol="0" anchor="ctr"/>
          <a:lstStyle/>
          <a:p>
            <a:pPr marL="0" indent="0">
              <a:buNone/>
            </a:pPr>
            <a:r>
              <a:rPr lang="en-US" sz="1300" i="1" dirty="0">
                <a:solidFill>
                  <a:srgbClr val="1A2238"/>
                </a:solidFill>
                <a:latin typeface="Calibri" pitchFamily="34" charset="0"/>
                <a:ea typeface="Calibri" pitchFamily="34" charset="-122"/>
                <a:cs typeface="Calibri" pitchFamily="34" charset="-120"/>
              </a:rPr>
              <a:t>model fits in our benchmark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Research Questions</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Four questions that frame every experiment we ran.</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sp>
        <p:nvSpPr>
          <p:cNvPr id="8" name="Shape 6"/>
          <p:cNvSpPr/>
          <p:nvPr/>
        </p:nvSpPr>
        <p:spPr>
          <a:xfrm>
            <a:off x="457200" y="1188720"/>
            <a:ext cx="11247120" cy="1207008"/>
          </a:xfrm>
          <a:prstGeom prst="rect">
            <a:avLst/>
          </a:prstGeom>
          <a:solidFill>
            <a:srgbClr val="FFFFFF"/>
          </a:solidFill>
          <a:ln w="9525">
            <a:solidFill>
              <a:srgbClr val="DDE3EC"/>
            </a:solidFill>
            <a:prstDash val="solid"/>
          </a:ln>
        </p:spPr>
        <p:txBody>
          <a:bodyPr/>
          <a:lstStyle/>
          <a:p>
            <a:endParaRPr lang="en-US"/>
          </a:p>
        </p:txBody>
      </p:sp>
      <p:sp>
        <p:nvSpPr>
          <p:cNvPr id="9" name="Shape 7"/>
          <p:cNvSpPr/>
          <p:nvPr/>
        </p:nvSpPr>
        <p:spPr>
          <a:xfrm>
            <a:off x="731520" y="1435608"/>
            <a:ext cx="713232" cy="713232"/>
          </a:xfrm>
          <a:prstGeom prst="ellipse">
            <a:avLst/>
          </a:prstGeom>
          <a:solidFill>
            <a:srgbClr val="0B2545"/>
          </a:solidFill>
          <a:ln w="12700">
            <a:solidFill>
              <a:srgbClr val="0B2545"/>
            </a:solidFill>
            <a:prstDash val="solid"/>
          </a:ln>
        </p:spPr>
        <p:txBody>
          <a:bodyPr/>
          <a:lstStyle/>
          <a:p>
            <a:endParaRPr lang="en-US"/>
          </a:p>
        </p:txBody>
      </p:sp>
      <p:sp>
        <p:nvSpPr>
          <p:cNvPr id="10" name="Text 8"/>
          <p:cNvSpPr/>
          <p:nvPr/>
        </p:nvSpPr>
        <p:spPr>
          <a:xfrm>
            <a:off x="731520" y="1435608"/>
            <a:ext cx="713232" cy="713232"/>
          </a:xfrm>
          <a:prstGeom prst="rect">
            <a:avLst/>
          </a:prstGeom>
          <a:noFill/>
          <a:ln/>
        </p:spPr>
        <p:txBody>
          <a:bodyPr wrap="square" lIns="0" tIns="0" rIns="0" bIns="0" rtlCol="0" anchor="ctr"/>
          <a:lstStyle/>
          <a:p>
            <a:pPr marL="0" indent="0" algn="ctr">
              <a:buNone/>
            </a:pPr>
            <a:r>
              <a:rPr lang="en-US" sz="1600" b="1" dirty="0">
                <a:solidFill>
                  <a:srgbClr val="EE964B"/>
                </a:solidFill>
                <a:latin typeface="Calibri" pitchFamily="34" charset="0"/>
                <a:ea typeface="Calibri" pitchFamily="34" charset="-122"/>
                <a:cs typeface="Calibri" pitchFamily="34" charset="-120"/>
              </a:rPr>
              <a:t>Q1</a:t>
            </a:r>
            <a:endParaRPr lang="en-US" sz="1600" dirty="0"/>
          </a:p>
        </p:txBody>
      </p:sp>
      <p:sp>
        <p:nvSpPr>
          <p:cNvPr id="11" name="Text 9"/>
          <p:cNvSpPr/>
          <p:nvPr/>
        </p:nvSpPr>
        <p:spPr>
          <a:xfrm>
            <a:off x="1645920" y="1353312"/>
            <a:ext cx="9875520" cy="411480"/>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Which optimizer wins on 20K-dim regularized logistic regression?</a:t>
            </a:r>
            <a:endParaRPr lang="en-US" sz="1600" dirty="0"/>
          </a:p>
        </p:txBody>
      </p:sp>
      <p:sp>
        <p:nvSpPr>
          <p:cNvPr id="12" name="Text 10"/>
          <p:cNvSpPr/>
          <p:nvPr/>
        </p:nvSpPr>
        <p:spPr>
          <a:xfrm>
            <a:off x="1645920" y="1783080"/>
            <a:ext cx="9875520" cy="548640"/>
          </a:xfrm>
          <a:prstGeom prst="rect">
            <a:avLst/>
          </a:prstGeom>
          <a:noFill/>
          <a:ln/>
        </p:spPr>
        <p:txBody>
          <a:bodyPr wrap="square" lIns="0" tIns="0" rIns="0" bIns="0" rtlCol="0" anchor="ctr"/>
          <a:lstStyle/>
          <a:p>
            <a:pPr marL="0" indent="0">
              <a:buNone/>
            </a:pPr>
            <a:r>
              <a:rPr lang="en-US" sz="1200" i="1" dirty="0">
                <a:solidFill>
                  <a:srgbClr val="5C6B82"/>
                </a:solidFill>
                <a:latin typeface="Calibri" pitchFamily="34" charset="0"/>
                <a:ea typeface="Calibri" pitchFamily="34" charset="-122"/>
                <a:cs typeface="Calibri" pitchFamily="34" charset="-120"/>
              </a:rPr>
              <a:t>First-order (GD, SGD, Adam) vs quasi-Newton (L-BFGS) on a feature space far larger than the sample count.</a:t>
            </a:r>
            <a:endParaRPr lang="en-US" sz="1200" dirty="0"/>
          </a:p>
        </p:txBody>
      </p:sp>
      <p:sp>
        <p:nvSpPr>
          <p:cNvPr id="13" name="Shape 11"/>
          <p:cNvSpPr/>
          <p:nvPr/>
        </p:nvSpPr>
        <p:spPr>
          <a:xfrm>
            <a:off x="457200" y="2560320"/>
            <a:ext cx="11247120" cy="1207008"/>
          </a:xfrm>
          <a:prstGeom prst="rect">
            <a:avLst/>
          </a:prstGeom>
          <a:solidFill>
            <a:srgbClr val="FFFFFF"/>
          </a:solidFill>
          <a:ln w="9525">
            <a:solidFill>
              <a:srgbClr val="DDE3EC"/>
            </a:solidFill>
            <a:prstDash val="solid"/>
          </a:ln>
        </p:spPr>
        <p:txBody>
          <a:bodyPr/>
          <a:lstStyle/>
          <a:p>
            <a:endParaRPr lang="en-US"/>
          </a:p>
        </p:txBody>
      </p:sp>
      <p:sp>
        <p:nvSpPr>
          <p:cNvPr id="14" name="Shape 12"/>
          <p:cNvSpPr/>
          <p:nvPr/>
        </p:nvSpPr>
        <p:spPr>
          <a:xfrm>
            <a:off x="731520" y="2807208"/>
            <a:ext cx="713232" cy="713232"/>
          </a:xfrm>
          <a:prstGeom prst="ellipse">
            <a:avLst/>
          </a:prstGeom>
          <a:solidFill>
            <a:srgbClr val="0B2545"/>
          </a:solidFill>
          <a:ln w="12700">
            <a:solidFill>
              <a:srgbClr val="0B2545"/>
            </a:solidFill>
            <a:prstDash val="solid"/>
          </a:ln>
        </p:spPr>
        <p:txBody>
          <a:bodyPr/>
          <a:lstStyle/>
          <a:p>
            <a:endParaRPr lang="en-US"/>
          </a:p>
        </p:txBody>
      </p:sp>
      <p:sp>
        <p:nvSpPr>
          <p:cNvPr id="15" name="Text 13"/>
          <p:cNvSpPr/>
          <p:nvPr/>
        </p:nvSpPr>
        <p:spPr>
          <a:xfrm>
            <a:off x="731520" y="2807208"/>
            <a:ext cx="713232" cy="713232"/>
          </a:xfrm>
          <a:prstGeom prst="rect">
            <a:avLst/>
          </a:prstGeom>
          <a:noFill/>
          <a:ln/>
        </p:spPr>
        <p:txBody>
          <a:bodyPr wrap="square" lIns="0" tIns="0" rIns="0" bIns="0" rtlCol="0" anchor="ctr"/>
          <a:lstStyle/>
          <a:p>
            <a:pPr marL="0" indent="0" algn="ctr">
              <a:buNone/>
            </a:pPr>
            <a:r>
              <a:rPr lang="en-US" sz="1600" b="1" dirty="0">
                <a:solidFill>
                  <a:srgbClr val="EE964B"/>
                </a:solidFill>
                <a:latin typeface="Calibri" pitchFamily="34" charset="0"/>
                <a:ea typeface="Calibri" pitchFamily="34" charset="-122"/>
                <a:cs typeface="Calibri" pitchFamily="34" charset="-120"/>
              </a:rPr>
              <a:t>Q2</a:t>
            </a:r>
            <a:endParaRPr lang="en-US" sz="1600" dirty="0"/>
          </a:p>
        </p:txBody>
      </p:sp>
      <p:sp>
        <p:nvSpPr>
          <p:cNvPr id="16" name="Text 14"/>
          <p:cNvSpPr/>
          <p:nvPr/>
        </p:nvSpPr>
        <p:spPr>
          <a:xfrm>
            <a:off x="1645920" y="2724912"/>
            <a:ext cx="9875520" cy="411480"/>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Does schedule choice matter as much as optimizer choice?</a:t>
            </a:r>
            <a:endParaRPr lang="en-US" sz="1600" dirty="0"/>
          </a:p>
        </p:txBody>
      </p:sp>
      <p:sp>
        <p:nvSpPr>
          <p:cNvPr id="17" name="Text 15"/>
          <p:cNvSpPr/>
          <p:nvPr/>
        </p:nvSpPr>
        <p:spPr>
          <a:xfrm>
            <a:off x="1645920" y="3154680"/>
            <a:ext cx="9875520" cy="548640"/>
          </a:xfrm>
          <a:prstGeom prst="rect">
            <a:avLst/>
          </a:prstGeom>
          <a:noFill/>
          <a:ln/>
        </p:spPr>
        <p:txBody>
          <a:bodyPr wrap="square" lIns="0" tIns="0" rIns="0" bIns="0" rtlCol="0" anchor="ctr"/>
          <a:lstStyle/>
          <a:p>
            <a:pPr marL="0" indent="0">
              <a:buNone/>
            </a:pPr>
            <a:r>
              <a:rPr lang="en-US" sz="1200" i="1" dirty="0">
                <a:solidFill>
                  <a:srgbClr val="5C6B82"/>
                </a:solidFill>
                <a:latin typeface="Calibri" pitchFamily="34" charset="0"/>
                <a:ea typeface="Calibri" pitchFamily="34" charset="-122"/>
                <a:cs typeface="Calibri" pitchFamily="34" charset="-120"/>
              </a:rPr>
              <a:t>We pair every optimizer with constant, cosine, exponential, and warm-restart schedules to find out.</a:t>
            </a:r>
            <a:endParaRPr lang="en-US" sz="1200" dirty="0"/>
          </a:p>
        </p:txBody>
      </p:sp>
      <p:sp>
        <p:nvSpPr>
          <p:cNvPr id="18" name="Shape 16"/>
          <p:cNvSpPr/>
          <p:nvPr/>
        </p:nvSpPr>
        <p:spPr>
          <a:xfrm>
            <a:off x="457200" y="3931920"/>
            <a:ext cx="11247120" cy="1207008"/>
          </a:xfrm>
          <a:prstGeom prst="rect">
            <a:avLst/>
          </a:prstGeom>
          <a:solidFill>
            <a:srgbClr val="FFFFFF"/>
          </a:solidFill>
          <a:ln w="9525">
            <a:solidFill>
              <a:srgbClr val="DDE3EC"/>
            </a:solidFill>
            <a:prstDash val="solid"/>
          </a:ln>
        </p:spPr>
        <p:txBody>
          <a:bodyPr/>
          <a:lstStyle/>
          <a:p>
            <a:endParaRPr lang="en-US"/>
          </a:p>
        </p:txBody>
      </p:sp>
      <p:sp>
        <p:nvSpPr>
          <p:cNvPr id="19" name="Shape 17"/>
          <p:cNvSpPr/>
          <p:nvPr/>
        </p:nvSpPr>
        <p:spPr>
          <a:xfrm>
            <a:off x="731520" y="4178808"/>
            <a:ext cx="713232" cy="713232"/>
          </a:xfrm>
          <a:prstGeom prst="ellipse">
            <a:avLst/>
          </a:prstGeom>
          <a:solidFill>
            <a:srgbClr val="0B2545"/>
          </a:solidFill>
          <a:ln w="12700">
            <a:solidFill>
              <a:srgbClr val="0B2545"/>
            </a:solidFill>
            <a:prstDash val="solid"/>
          </a:ln>
        </p:spPr>
        <p:txBody>
          <a:bodyPr/>
          <a:lstStyle/>
          <a:p>
            <a:endParaRPr lang="en-US"/>
          </a:p>
        </p:txBody>
      </p:sp>
      <p:sp>
        <p:nvSpPr>
          <p:cNvPr id="20" name="Text 18"/>
          <p:cNvSpPr/>
          <p:nvPr/>
        </p:nvSpPr>
        <p:spPr>
          <a:xfrm>
            <a:off x="731520" y="4178808"/>
            <a:ext cx="713232" cy="713232"/>
          </a:xfrm>
          <a:prstGeom prst="rect">
            <a:avLst/>
          </a:prstGeom>
          <a:noFill/>
          <a:ln/>
        </p:spPr>
        <p:txBody>
          <a:bodyPr wrap="square" lIns="0" tIns="0" rIns="0" bIns="0" rtlCol="0" anchor="ctr"/>
          <a:lstStyle/>
          <a:p>
            <a:pPr marL="0" indent="0" algn="ctr">
              <a:buNone/>
            </a:pPr>
            <a:r>
              <a:rPr lang="en-US" sz="1600" b="1" dirty="0">
                <a:solidFill>
                  <a:srgbClr val="EE964B"/>
                </a:solidFill>
                <a:latin typeface="Calibri" pitchFamily="34" charset="0"/>
                <a:ea typeface="Calibri" pitchFamily="34" charset="-122"/>
                <a:cs typeface="Calibri" pitchFamily="34" charset="-120"/>
              </a:rPr>
              <a:t>Q3</a:t>
            </a:r>
            <a:endParaRPr lang="en-US" sz="1600" dirty="0"/>
          </a:p>
        </p:txBody>
      </p:sp>
      <p:sp>
        <p:nvSpPr>
          <p:cNvPr id="21" name="Text 19"/>
          <p:cNvSpPr/>
          <p:nvPr/>
        </p:nvSpPr>
        <p:spPr>
          <a:xfrm>
            <a:off x="1645920" y="4096512"/>
            <a:ext cx="9875520" cy="411480"/>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Does optimizer × schedule affect which genes Lasso selects?</a:t>
            </a:r>
            <a:endParaRPr lang="en-US" sz="1600" dirty="0"/>
          </a:p>
        </p:txBody>
      </p:sp>
      <p:sp>
        <p:nvSpPr>
          <p:cNvPr id="22" name="Text 20"/>
          <p:cNvSpPr/>
          <p:nvPr/>
        </p:nvSpPr>
        <p:spPr>
          <a:xfrm>
            <a:off x="1645920" y="4526280"/>
            <a:ext cx="9875520" cy="548640"/>
          </a:xfrm>
          <a:prstGeom prst="rect">
            <a:avLst/>
          </a:prstGeom>
          <a:noFill/>
          <a:ln/>
        </p:spPr>
        <p:txBody>
          <a:bodyPr wrap="square" lIns="0" tIns="0" rIns="0" bIns="0" rtlCol="0" anchor="ctr"/>
          <a:lstStyle/>
          <a:p>
            <a:pPr marL="0" indent="0">
              <a:buNone/>
            </a:pPr>
            <a:r>
              <a:rPr lang="en-US" sz="1200" i="1" dirty="0">
                <a:solidFill>
                  <a:srgbClr val="5C6B82"/>
                </a:solidFill>
                <a:latin typeface="Calibri" pitchFamily="34" charset="0"/>
                <a:ea typeface="Calibri" pitchFamily="34" charset="-122"/>
                <a:cs typeface="Calibri" pitchFamily="34" charset="-120"/>
              </a:rPr>
              <a:t>Sparsity is not just a side effect — it is the biological signal. Different optimizers may pick different genes.</a:t>
            </a:r>
            <a:endParaRPr lang="en-US" sz="1200" dirty="0"/>
          </a:p>
        </p:txBody>
      </p:sp>
      <p:sp>
        <p:nvSpPr>
          <p:cNvPr id="23" name="Shape 21"/>
          <p:cNvSpPr/>
          <p:nvPr/>
        </p:nvSpPr>
        <p:spPr>
          <a:xfrm>
            <a:off x="457200" y="5303520"/>
            <a:ext cx="11247120" cy="1207008"/>
          </a:xfrm>
          <a:prstGeom prst="rect">
            <a:avLst/>
          </a:prstGeom>
          <a:solidFill>
            <a:srgbClr val="FFFFFF"/>
          </a:solidFill>
          <a:ln w="9525">
            <a:solidFill>
              <a:srgbClr val="DDE3EC"/>
            </a:solidFill>
            <a:prstDash val="solid"/>
          </a:ln>
        </p:spPr>
        <p:txBody>
          <a:bodyPr/>
          <a:lstStyle/>
          <a:p>
            <a:endParaRPr lang="en-US"/>
          </a:p>
        </p:txBody>
      </p:sp>
      <p:sp>
        <p:nvSpPr>
          <p:cNvPr id="24" name="Shape 22"/>
          <p:cNvSpPr/>
          <p:nvPr/>
        </p:nvSpPr>
        <p:spPr>
          <a:xfrm>
            <a:off x="731520" y="5550408"/>
            <a:ext cx="713232" cy="713232"/>
          </a:xfrm>
          <a:prstGeom prst="ellipse">
            <a:avLst/>
          </a:prstGeom>
          <a:solidFill>
            <a:srgbClr val="0B2545"/>
          </a:solidFill>
          <a:ln w="12700">
            <a:solidFill>
              <a:srgbClr val="0B2545"/>
            </a:solidFill>
            <a:prstDash val="solid"/>
          </a:ln>
        </p:spPr>
        <p:txBody>
          <a:bodyPr/>
          <a:lstStyle/>
          <a:p>
            <a:endParaRPr lang="en-US"/>
          </a:p>
        </p:txBody>
      </p:sp>
      <p:sp>
        <p:nvSpPr>
          <p:cNvPr id="25" name="Text 23"/>
          <p:cNvSpPr/>
          <p:nvPr/>
        </p:nvSpPr>
        <p:spPr>
          <a:xfrm>
            <a:off x="731520" y="5550408"/>
            <a:ext cx="713232" cy="713232"/>
          </a:xfrm>
          <a:prstGeom prst="rect">
            <a:avLst/>
          </a:prstGeom>
          <a:noFill/>
          <a:ln/>
        </p:spPr>
        <p:txBody>
          <a:bodyPr wrap="square" lIns="0" tIns="0" rIns="0" bIns="0" rtlCol="0" anchor="ctr"/>
          <a:lstStyle/>
          <a:p>
            <a:pPr marL="0" indent="0" algn="ctr">
              <a:buNone/>
            </a:pPr>
            <a:r>
              <a:rPr lang="en-US" sz="1600" b="1" dirty="0">
                <a:solidFill>
                  <a:srgbClr val="EE964B"/>
                </a:solidFill>
                <a:latin typeface="Calibri" pitchFamily="34" charset="0"/>
                <a:ea typeface="Calibri" pitchFamily="34" charset="-122"/>
                <a:cs typeface="Calibri" pitchFamily="34" charset="-120"/>
              </a:rPr>
              <a:t>Q4</a:t>
            </a:r>
            <a:endParaRPr lang="en-US" sz="1600" dirty="0"/>
          </a:p>
        </p:txBody>
      </p:sp>
      <p:sp>
        <p:nvSpPr>
          <p:cNvPr id="26" name="Text 24"/>
          <p:cNvSpPr/>
          <p:nvPr/>
        </p:nvSpPr>
        <p:spPr>
          <a:xfrm>
            <a:off x="1645920" y="5468112"/>
            <a:ext cx="9875520" cy="411480"/>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Under a clinical budget of k genes, what's the optimal panel?</a:t>
            </a:r>
            <a:endParaRPr lang="en-US" sz="1600" dirty="0"/>
          </a:p>
        </p:txBody>
      </p:sp>
      <p:sp>
        <p:nvSpPr>
          <p:cNvPr id="27" name="Text 25"/>
          <p:cNvSpPr/>
          <p:nvPr/>
        </p:nvSpPr>
        <p:spPr>
          <a:xfrm>
            <a:off x="1645920" y="5897880"/>
            <a:ext cx="9875520" cy="548640"/>
          </a:xfrm>
          <a:prstGeom prst="rect">
            <a:avLst/>
          </a:prstGeom>
          <a:noFill/>
          <a:ln/>
        </p:spPr>
        <p:txBody>
          <a:bodyPr wrap="square" lIns="0" tIns="0" rIns="0" bIns="0" rtlCol="0" anchor="ctr"/>
          <a:lstStyle/>
          <a:p>
            <a:pPr marL="0" indent="0">
              <a:buNone/>
            </a:pPr>
            <a:r>
              <a:rPr lang="en-US" sz="1200" i="1" dirty="0">
                <a:solidFill>
                  <a:srgbClr val="5C6B82"/>
                </a:solidFill>
                <a:latin typeface="Calibri" pitchFamily="34" charset="0"/>
                <a:ea typeface="Calibri" pitchFamily="34" charset="-122"/>
                <a:cs typeface="Calibri" pitchFamily="34" charset="-120"/>
              </a:rPr>
              <a:t>Linear-programming formulation that maximizes Fisher discriminability — bridges the LP component of the course.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Dataset — TCGA Pan-Cancer RNA-Seq</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Open-access tumor expression atlas hosted on UCSC Xena (Toil Recompute).</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sp>
        <p:nvSpPr>
          <p:cNvPr id="8" name="Shape 6"/>
          <p:cNvSpPr/>
          <p:nvPr/>
        </p:nvSpPr>
        <p:spPr>
          <a:xfrm>
            <a:off x="457200" y="1143000"/>
            <a:ext cx="2139696" cy="960120"/>
          </a:xfrm>
          <a:prstGeom prst="rect">
            <a:avLst/>
          </a:prstGeom>
          <a:solidFill>
            <a:srgbClr val="0B2545"/>
          </a:solidFill>
          <a:ln w="12700">
            <a:solidFill>
              <a:srgbClr val="0B2545"/>
            </a:solidFill>
            <a:prstDash val="solid"/>
          </a:ln>
        </p:spPr>
        <p:txBody>
          <a:bodyPr/>
          <a:lstStyle/>
          <a:p>
            <a:endParaRPr lang="en-US"/>
          </a:p>
        </p:txBody>
      </p:sp>
      <p:sp>
        <p:nvSpPr>
          <p:cNvPr id="9" name="Text 7"/>
          <p:cNvSpPr/>
          <p:nvPr/>
        </p:nvSpPr>
        <p:spPr>
          <a:xfrm>
            <a:off x="457200" y="1216152"/>
            <a:ext cx="2139696" cy="502920"/>
          </a:xfrm>
          <a:prstGeom prst="rect">
            <a:avLst/>
          </a:prstGeom>
          <a:noFill/>
          <a:ln/>
        </p:spPr>
        <p:txBody>
          <a:bodyPr wrap="square" lIns="0" tIns="0" rIns="0" bIns="0" rtlCol="0" anchor="ctr"/>
          <a:lstStyle/>
          <a:p>
            <a:pPr marL="0" indent="0" algn="ctr">
              <a:buNone/>
            </a:pPr>
            <a:r>
              <a:rPr lang="en-US" sz="2200" b="1" dirty="0">
                <a:solidFill>
                  <a:srgbClr val="EE964B"/>
                </a:solidFill>
                <a:latin typeface="Calibri" pitchFamily="34" charset="0"/>
                <a:ea typeface="Calibri" pitchFamily="34" charset="-122"/>
                <a:cs typeface="Calibri" pitchFamily="34" charset="-120"/>
              </a:rPr>
              <a:t>10,535</a:t>
            </a:r>
            <a:endParaRPr lang="en-US" sz="2200" dirty="0"/>
          </a:p>
        </p:txBody>
      </p:sp>
      <p:sp>
        <p:nvSpPr>
          <p:cNvPr id="10" name="Text 8"/>
          <p:cNvSpPr/>
          <p:nvPr/>
        </p:nvSpPr>
        <p:spPr>
          <a:xfrm>
            <a:off x="457200" y="1709928"/>
            <a:ext cx="2139696" cy="365760"/>
          </a:xfrm>
          <a:prstGeom prst="rect">
            <a:avLst/>
          </a:prstGeom>
          <a:noFill/>
          <a:ln/>
        </p:spPr>
        <p:txBody>
          <a:bodyPr wrap="square" lIns="0" tIns="0" rIns="0" bIns="0" rtlCol="0" anchor="ctr"/>
          <a:lstStyle/>
          <a:p>
            <a:pPr marL="0" indent="0" algn="ctr">
              <a:buNone/>
            </a:pPr>
            <a:r>
              <a:rPr lang="en-US" sz="1100" i="1" dirty="0">
                <a:solidFill>
                  <a:srgbClr val="B8C5D9"/>
                </a:solidFill>
                <a:latin typeface="Calibri" pitchFamily="34" charset="0"/>
                <a:ea typeface="Calibri" pitchFamily="34" charset="-122"/>
                <a:cs typeface="Calibri" pitchFamily="34" charset="-120"/>
              </a:rPr>
              <a:t>tumor samples (full)</a:t>
            </a:r>
            <a:endParaRPr lang="en-US" sz="1100" dirty="0"/>
          </a:p>
        </p:txBody>
      </p:sp>
      <p:sp>
        <p:nvSpPr>
          <p:cNvPr id="11" name="Shape 9"/>
          <p:cNvSpPr/>
          <p:nvPr/>
        </p:nvSpPr>
        <p:spPr>
          <a:xfrm>
            <a:off x="2734056" y="1143000"/>
            <a:ext cx="2139696" cy="960120"/>
          </a:xfrm>
          <a:prstGeom prst="rect">
            <a:avLst/>
          </a:prstGeom>
          <a:solidFill>
            <a:srgbClr val="0B2545"/>
          </a:solidFill>
          <a:ln w="12700">
            <a:solidFill>
              <a:srgbClr val="0B2545"/>
            </a:solidFill>
            <a:prstDash val="solid"/>
          </a:ln>
        </p:spPr>
        <p:txBody>
          <a:bodyPr/>
          <a:lstStyle/>
          <a:p>
            <a:endParaRPr lang="en-US"/>
          </a:p>
        </p:txBody>
      </p:sp>
      <p:sp>
        <p:nvSpPr>
          <p:cNvPr id="12" name="Text 10"/>
          <p:cNvSpPr/>
          <p:nvPr/>
        </p:nvSpPr>
        <p:spPr>
          <a:xfrm>
            <a:off x="2734056" y="1216152"/>
            <a:ext cx="2139696" cy="502920"/>
          </a:xfrm>
          <a:prstGeom prst="rect">
            <a:avLst/>
          </a:prstGeom>
          <a:noFill/>
          <a:ln/>
        </p:spPr>
        <p:txBody>
          <a:bodyPr wrap="square" lIns="0" tIns="0" rIns="0" bIns="0" rtlCol="0" anchor="ctr"/>
          <a:lstStyle/>
          <a:p>
            <a:pPr marL="0" indent="0" algn="ctr">
              <a:buNone/>
            </a:pPr>
            <a:r>
              <a:rPr lang="en-US" sz="2200" b="1" dirty="0">
                <a:solidFill>
                  <a:srgbClr val="EE964B"/>
                </a:solidFill>
                <a:latin typeface="Calibri" pitchFamily="34" charset="0"/>
                <a:ea typeface="Calibri" pitchFamily="34" charset="-122"/>
                <a:cs typeface="Calibri" pitchFamily="34" charset="-120"/>
              </a:rPr>
              <a:t>60,498</a:t>
            </a:r>
            <a:endParaRPr lang="en-US" sz="2200" dirty="0"/>
          </a:p>
        </p:txBody>
      </p:sp>
      <p:sp>
        <p:nvSpPr>
          <p:cNvPr id="13" name="Text 11"/>
          <p:cNvSpPr/>
          <p:nvPr/>
        </p:nvSpPr>
        <p:spPr>
          <a:xfrm>
            <a:off x="2734056" y="1709928"/>
            <a:ext cx="2139696" cy="365760"/>
          </a:xfrm>
          <a:prstGeom prst="rect">
            <a:avLst/>
          </a:prstGeom>
          <a:noFill/>
          <a:ln/>
        </p:spPr>
        <p:txBody>
          <a:bodyPr wrap="square" lIns="0" tIns="0" rIns="0" bIns="0" rtlCol="0" anchor="ctr"/>
          <a:lstStyle/>
          <a:p>
            <a:pPr marL="0" indent="0" algn="ctr">
              <a:buNone/>
            </a:pPr>
            <a:r>
              <a:rPr lang="en-US" sz="1100" i="1" dirty="0">
                <a:solidFill>
                  <a:srgbClr val="B8C5D9"/>
                </a:solidFill>
                <a:latin typeface="Calibri" pitchFamily="34" charset="0"/>
                <a:ea typeface="Calibri" pitchFamily="34" charset="-122"/>
                <a:cs typeface="Calibri" pitchFamily="34" charset="-120"/>
              </a:rPr>
              <a:t>raw gene columns</a:t>
            </a:r>
            <a:endParaRPr lang="en-US" sz="1100" dirty="0"/>
          </a:p>
        </p:txBody>
      </p:sp>
      <p:sp>
        <p:nvSpPr>
          <p:cNvPr id="14" name="Shape 12"/>
          <p:cNvSpPr/>
          <p:nvPr/>
        </p:nvSpPr>
        <p:spPr>
          <a:xfrm>
            <a:off x="5010912" y="1143000"/>
            <a:ext cx="2139696" cy="960120"/>
          </a:xfrm>
          <a:prstGeom prst="rect">
            <a:avLst/>
          </a:prstGeom>
          <a:solidFill>
            <a:srgbClr val="0B2545"/>
          </a:solidFill>
          <a:ln w="12700">
            <a:solidFill>
              <a:srgbClr val="0B2545"/>
            </a:solidFill>
            <a:prstDash val="solid"/>
          </a:ln>
        </p:spPr>
        <p:txBody>
          <a:bodyPr/>
          <a:lstStyle/>
          <a:p>
            <a:endParaRPr lang="en-US"/>
          </a:p>
        </p:txBody>
      </p:sp>
      <p:sp>
        <p:nvSpPr>
          <p:cNvPr id="15" name="Text 13"/>
          <p:cNvSpPr/>
          <p:nvPr/>
        </p:nvSpPr>
        <p:spPr>
          <a:xfrm>
            <a:off x="5010912" y="1216152"/>
            <a:ext cx="2139696" cy="502920"/>
          </a:xfrm>
          <a:prstGeom prst="rect">
            <a:avLst/>
          </a:prstGeom>
          <a:noFill/>
          <a:ln/>
        </p:spPr>
        <p:txBody>
          <a:bodyPr wrap="square" lIns="0" tIns="0" rIns="0" bIns="0" rtlCol="0" anchor="ctr"/>
          <a:lstStyle/>
          <a:p>
            <a:pPr marL="0" indent="0" algn="ctr">
              <a:buNone/>
            </a:pPr>
            <a:r>
              <a:rPr lang="en-US" sz="2200" b="1" dirty="0">
                <a:solidFill>
                  <a:srgbClr val="EE964B"/>
                </a:solidFill>
                <a:latin typeface="Calibri" pitchFamily="34" charset="0"/>
                <a:ea typeface="Calibri" pitchFamily="34" charset="-122"/>
                <a:cs typeface="Calibri" pitchFamily="34" charset="-120"/>
              </a:rPr>
              <a:t>33</a:t>
            </a:r>
            <a:endParaRPr lang="en-US" sz="2200" dirty="0"/>
          </a:p>
        </p:txBody>
      </p:sp>
      <p:sp>
        <p:nvSpPr>
          <p:cNvPr id="16" name="Text 14"/>
          <p:cNvSpPr/>
          <p:nvPr/>
        </p:nvSpPr>
        <p:spPr>
          <a:xfrm>
            <a:off x="5010912" y="1709928"/>
            <a:ext cx="2139696" cy="365760"/>
          </a:xfrm>
          <a:prstGeom prst="rect">
            <a:avLst/>
          </a:prstGeom>
          <a:noFill/>
          <a:ln/>
        </p:spPr>
        <p:txBody>
          <a:bodyPr wrap="square" lIns="0" tIns="0" rIns="0" bIns="0" rtlCol="0" anchor="ctr"/>
          <a:lstStyle/>
          <a:p>
            <a:pPr marL="0" indent="0" algn="ctr">
              <a:buNone/>
            </a:pPr>
            <a:r>
              <a:rPr lang="en-US" sz="1100" i="1" dirty="0">
                <a:solidFill>
                  <a:srgbClr val="B8C5D9"/>
                </a:solidFill>
                <a:latin typeface="Calibri" pitchFamily="34" charset="0"/>
                <a:ea typeface="Calibri" pitchFamily="34" charset="-122"/>
                <a:cs typeface="Calibri" pitchFamily="34" charset="-120"/>
              </a:rPr>
              <a:t>cancer types</a:t>
            </a:r>
            <a:endParaRPr lang="en-US" sz="1100" dirty="0"/>
          </a:p>
        </p:txBody>
      </p:sp>
      <p:sp>
        <p:nvSpPr>
          <p:cNvPr id="17" name="Shape 15"/>
          <p:cNvSpPr/>
          <p:nvPr/>
        </p:nvSpPr>
        <p:spPr>
          <a:xfrm>
            <a:off x="7287768" y="1143000"/>
            <a:ext cx="2139696" cy="960120"/>
          </a:xfrm>
          <a:prstGeom prst="rect">
            <a:avLst/>
          </a:prstGeom>
          <a:solidFill>
            <a:srgbClr val="0B2545"/>
          </a:solidFill>
          <a:ln w="12700">
            <a:solidFill>
              <a:srgbClr val="0B2545"/>
            </a:solidFill>
            <a:prstDash val="solid"/>
          </a:ln>
        </p:spPr>
        <p:txBody>
          <a:bodyPr/>
          <a:lstStyle/>
          <a:p>
            <a:endParaRPr lang="en-US"/>
          </a:p>
        </p:txBody>
      </p:sp>
      <p:sp>
        <p:nvSpPr>
          <p:cNvPr id="18" name="Text 16"/>
          <p:cNvSpPr/>
          <p:nvPr/>
        </p:nvSpPr>
        <p:spPr>
          <a:xfrm>
            <a:off x="7287768" y="1216152"/>
            <a:ext cx="2139696" cy="502920"/>
          </a:xfrm>
          <a:prstGeom prst="rect">
            <a:avLst/>
          </a:prstGeom>
          <a:noFill/>
          <a:ln/>
        </p:spPr>
        <p:txBody>
          <a:bodyPr wrap="square" lIns="0" tIns="0" rIns="0" bIns="0" rtlCol="0" anchor="ctr"/>
          <a:lstStyle/>
          <a:p>
            <a:pPr marL="0" indent="0" algn="ctr">
              <a:buNone/>
            </a:pPr>
            <a:r>
              <a:rPr lang="en-US" sz="2200" b="1" dirty="0">
                <a:solidFill>
                  <a:srgbClr val="EE964B"/>
                </a:solidFill>
                <a:latin typeface="Calibri" pitchFamily="34" charset="0"/>
                <a:ea typeface="Calibri" pitchFamily="34" charset="-122"/>
                <a:cs typeface="Calibri" pitchFamily="34" charset="-120"/>
              </a:rPr>
              <a:t>0%</a:t>
            </a:r>
            <a:endParaRPr lang="en-US" sz="2200" dirty="0"/>
          </a:p>
        </p:txBody>
      </p:sp>
      <p:sp>
        <p:nvSpPr>
          <p:cNvPr id="19" name="Text 17"/>
          <p:cNvSpPr/>
          <p:nvPr/>
        </p:nvSpPr>
        <p:spPr>
          <a:xfrm>
            <a:off x="7287768" y="1709928"/>
            <a:ext cx="2139696" cy="365760"/>
          </a:xfrm>
          <a:prstGeom prst="rect">
            <a:avLst/>
          </a:prstGeom>
          <a:noFill/>
          <a:ln/>
        </p:spPr>
        <p:txBody>
          <a:bodyPr wrap="square" lIns="0" tIns="0" rIns="0" bIns="0" rtlCol="0" anchor="ctr"/>
          <a:lstStyle/>
          <a:p>
            <a:pPr marL="0" indent="0" algn="ctr">
              <a:buNone/>
            </a:pPr>
            <a:r>
              <a:rPr lang="en-US" sz="1100" i="1" dirty="0">
                <a:solidFill>
                  <a:srgbClr val="B8C5D9"/>
                </a:solidFill>
                <a:latin typeface="Calibri" pitchFamily="34" charset="0"/>
                <a:ea typeface="Calibri" pitchFamily="34" charset="-122"/>
                <a:cs typeface="Calibri" pitchFamily="34" charset="-120"/>
              </a:rPr>
              <a:t>missing values</a:t>
            </a:r>
            <a:endParaRPr lang="en-US" sz="1100" dirty="0"/>
          </a:p>
        </p:txBody>
      </p:sp>
      <p:sp>
        <p:nvSpPr>
          <p:cNvPr id="20" name="Shape 18"/>
          <p:cNvSpPr/>
          <p:nvPr/>
        </p:nvSpPr>
        <p:spPr>
          <a:xfrm>
            <a:off x="9564624" y="1143000"/>
            <a:ext cx="2139696" cy="960120"/>
          </a:xfrm>
          <a:prstGeom prst="rect">
            <a:avLst/>
          </a:prstGeom>
          <a:solidFill>
            <a:srgbClr val="0B2545"/>
          </a:solidFill>
          <a:ln w="12700">
            <a:solidFill>
              <a:srgbClr val="0B2545"/>
            </a:solidFill>
            <a:prstDash val="solid"/>
          </a:ln>
        </p:spPr>
        <p:txBody>
          <a:bodyPr/>
          <a:lstStyle/>
          <a:p>
            <a:endParaRPr lang="en-US"/>
          </a:p>
        </p:txBody>
      </p:sp>
      <p:sp>
        <p:nvSpPr>
          <p:cNvPr id="21" name="Text 19"/>
          <p:cNvSpPr/>
          <p:nvPr/>
        </p:nvSpPr>
        <p:spPr>
          <a:xfrm>
            <a:off x="9564624" y="1216152"/>
            <a:ext cx="2139696" cy="502920"/>
          </a:xfrm>
          <a:prstGeom prst="rect">
            <a:avLst/>
          </a:prstGeom>
          <a:noFill/>
          <a:ln/>
        </p:spPr>
        <p:txBody>
          <a:bodyPr wrap="square" lIns="0" tIns="0" rIns="0" bIns="0" rtlCol="0" anchor="ctr"/>
          <a:lstStyle/>
          <a:p>
            <a:pPr marL="0" indent="0" algn="ctr">
              <a:buNone/>
            </a:pPr>
            <a:r>
              <a:rPr lang="en-US" sz="2200" b="1" dirty="0">
                <a:solidFill>
                  <a:srgbClr val="EE964B"/>
                </a:solidFill>
                <a:latin typeface="Calibri" pitchFamily="34" charset="0"/>
                <a:ea typeface="Calibri" pitchFamily="34" charset="-122"/>
                <a:cs typeface="Calibri" pitchFamily="34" charset="-120"/>
              </a:rPr>
              <a:t>log₂(RSEM+1)</a:t>
            </a:r>
            <a:endParaRPr lang="en-US" sz="2200" dirty="0"/>
          </a:p>
        </p:txBody>
      </p:sp>
      <p:sp>
        <p:nvSpPr>
          <p:cNvPr id="22" name="Text 20"/>
          <p:cNvSpPr/>
          <p:nvPr/>
        </p:nvSpPr>
        <p:spPr>
          <a:xfrm>
            <a:off x="9564624" y="1709928"/>
            <a:ext cx="2139696" cy="365760"/>
          </a:xfrm>
          <a:prstGeom prst="rect">
            <a:avLst/>
          </a:prstGeom>
          <a:noFill/>
          <a:ln/>
        </p:spPr>
        <p:txBody>
          <a:bodyPr wrap="square" lIns="0" tIns="0" rIns="0" bIns="0" rtlCol="0" anchor="ctr"/>
          <a:lstStyle/>
          <a:p>
            <a:pPr marL="0" indent="0" algn="ctr">
              <a:buNone/>
            </a:pPr>
            <a:r>
              <a:rPr lang="en-US" sz="1100" i="1" dirty="0">
                <a:solidFill>
                  <a:srgbClr val="B8C5D9"/>
                </a:solidFill>
                <a:latin typeface="Calibri" pitchFamily="34" charset="0"/>
                <a:ea typeface="Calibri" pitchFamily="34" charset="-122"/>
                <a:cs typeface="Calibri" pitchFamily="34" charset="-120"/>
              </a:rPr>
              <a:t>normalization</a:t>
            </a:r>
            <a:endParaRPr lang="en-US" sz="1100" dirty="0"/>
          </a:p>
        </p:txBody>
      </p:sp>
      <p:sp>
        <p:nvSpPr>
          <p:cNvPr id="23" name="Text 21"/>
          <p:cNvSpPr/>
          <p:nvPr/>
        </p:nvSpPr>
        <p:spPr>
          <a:xfrm>
            <a:off x="457200" y="2331720"/>
            <a:ext cx="548640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Dataset properties</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5486400" cy="2633472"/>
        </p:xfrm>
        <a:graphic>
          <a:graphicData uri="http://schemas.openxmlformats.org/drawingml/2006/table">
            <a:tbl>
              <a:tblPr/>
              <a:tblGrid>
                <a:gridCol w="1828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Property</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29184">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TCGA · UCSC Xena Toil Hub</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Samples (rows)</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10,535 tumor samples</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Raw gene features</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60,498 genes (HUGO names)</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Features used</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Top 20,000 by variance</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Target label</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33 cancer types</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Normalization</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log₂(RSEM_norm_count + 1)</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Access</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Open · no login</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hape 22"/>
          <p:cNvSpPr/>
          <p:nvPr/>
        </p:nvSpPr>
        <p:spPr>
          <a:xfrm>
            <a:off x="6400800" y="2331720"/>
            <a:ext cx="5303520" cy="4023360"/>
          </a:xfrm>
          <a:prstGeom prst="rect">
            <a:avLst/>
          </a:prstGeom>
          <a:solidFill>
            <a:srgbClr val="FFFFFF"/>
          </a:solidFill>
          <a:ln w="9525">
            <a:solidFill>
              <a:srgbClr val="DDE3EC"/>
            </a:solidFill>
            <a:prstDash val="solid"/>
          </a:ln>
        </p:spPr>
        <p:txBody>
          <a:bodyPr/>
          <a:lstStyle/>
          <a:p>
            <a:endParaRPr lang="en-US"/>
          </a:p>
        </p:txBody>
      </p:sp>
      <p:sp>
        <p:nvSpPr>
          <p:cNvPr id="26" name="Shape 23"/>
          <p:cNvSpPr/>
          <p:nvPr/>
        </p:nvSpPr>
        <p:spPr>
          <a:xfrm>
            <a:off x="6400800" y="2331720"/>
            <a:ext cx="73152" cy="4023360"/>
          </a:xfrm>
          <a:prstGeom prst="rect">
            <a:avLst/>
          </a:prstGeom>
          <a:solidFill>
            <a:srgbClr val="1B7F8C"/>
          </a:solidFill>
          <a:ln w="12700">
            <a:solidFill>
              <a:srgbClr val="1B7F8C"/>
            </a:solidFill>
            <a:prstDash val="solid"/>
          </a:ln>
        </p:spPr>
        <p:txBody>
          <a:bodyPr/>
          <a:lstStyle/>
          <a:p>
            <a:endParaRPr lang="en-US"/>
          </a:p>
        </p:txBody>
      </p:sp>
      <p:sp>
        <p:nvSpPr>
          <p:cNvPr id="27" name="Text 24"/>
          <p:cNvSpPr/>
          <p:nvPr/>
        </p:nvSpPr>
        <p:spPr>
          <a:xfrm>
            <a:off x="6629400" y="2423160"/>
            <a:ext cx="4937760" cy="365760"/>
          </a:xfrm>
          <a:prstGeom prst="rect">
            <a:avLst/>
          </a:prstGeom>
          <a:noFill/>
          <a:ln/>
        </p:spPr>
        <p:txBody>
          <a:bodyPr wrap="square" rtlCol="0" anchor="ctr"/>
          <a:lstStyle/>
          <a:p>
            <a:pPr marL="0" indent="0">
              <a:buNone/>
            </a:pPr>
            <a:r>
              <a:rPr lang="en-US" sz="1400" b="1" dirty="0">
                <a:solidFill>
                  <a:srgbClr val="1B7F8C"/>
                </a:solidFill>
                <a:latin typeface="Calibri" pitchFamily="34" charset="0"/>
                <a:ea typeface="Calibri" pitchFamily="34" charset="-122"/>
                <a:cs typeface="Calibri" pitchFamily="34" charset="-120"/>
              </a:rPr>
              <a:t>Development subset used for this report</a:t>
            </a:r>
            <a:endParaRPr lang="en-US" sz="1400" dirty="0"/>
          </a:p>
        </p:txBody>
      </p:sp>
      <p:sp>
        <p:nvSpPr>
          <p:cNvPr id="28" name="Text 25"/>
          <p:cNvSpPr/>
          <p:nvPr/>
        </p:nvSpPr>
        <p:spPr>
          <a:xfrm>
            <a:off x="6629400" y="2788920"/>
            <a:ext cx="4937760" cy="32004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Why a 495-sample subset?</a:t>
            </a:r>
            <a:endParaRPr lang="en-US" sz="1200" dirty="0"/>
          </a:p>
        </p:txBody>
      </p:sp>
      <p:sp>
        <p:nvSpPr>
          <p:cNvPr id="29" name="Text 26"/>
          <p:cNvSpPr/>
          <p:nvPr/>
        </p:nvSpPr>
        <p:spPr>
          <a:xfrm>
            <a:off x="6629400" y="3108960"/>
            <a:ext cx="4937760" cy="1463040"/>
          </a:xfrm>
          <a:prstGeom prst="rect">
            <a:avLst/>
          </a:prstGeom>
          <a:noFill/>
          <a:ln/>
        </p:spPr>
        <p:txBody>
          <a:bodyPr wrap="square" rtlCol="0" anchor="ctr"/>
          <a:lstStyle/>
          <a:p>
            <a:pPr marL="342900" indent="-342900">
              <a:spcAft>
                <a:spcPts val="300"/>
              </a:spcAft>
              <a:buSzPct val="100000"/>
              <a:buChar char="•"/>
            </a:pPr>
            <a:r>
              <a:rPr lang="en-US" sz="1100" dirty="0">
                <a:solidFill>
                  <a:srgbClr val="1A2238"/>
                </a:solidFill>
                <a:latin typeface="Calibri" pitchFamily="34" charset="0"/>
                <a:ea typeface="Calibri" pitchFamily="34" charset="-122"/>
                <a:cs typeface="Calibri" pitchFamily="34" charset="-120"/>
              </a:rPr>
              <a:t>15 patients × 33 cancer types  =  495 stratified samples</a:t>
            </a:r>
            <a:endParaRPr lang="en-US" sz="1100" dirty="0"/>
          </a:p>
          <a:p>
            <a:pPr marL="342900" indent="-342900">
              <a:spcAft>
                <a:spcPts val="300"/>
              </a:spcAft>
              <a:buSzPct val="100000"/>
              <a:buChar char="•"/>
            </a:pPr>
            <a:r>
              <a:rPr lang="en-US" sz="1100" dirty="0">
                <a:solidFill>
                  <a:srgbClr val="1A2238"/>
                </a:solidFill>
                <a:latin typeface="Calibri" pitchFamily="34" charset="0"/>
                <a:ea typeface="Calibri" pitchFamily="34" charset="-122"/>
                <a:cs typeface="Calibri" pitchFamily="34" charset="-120"/>
              </a:rPr>
              <a:t>Lets us run all 144 models on a single CPU in minutes</a:t>
            </a:r>
            <a:endParaRPr lang="en-US" sz="1100" dirty="0"/>
          </a:p>
          <a:p>
            <a:pPr marL="342900" indent="-342900">
              <a:spcAft>
                <a:spcPts val="300"/>
              </a:spcAft>
              <a:buSzPct val="100000"/>
              <a:buChar char="•"/>
            </a:pPr>
            <a:r>
              <a:rPr lang="en-US" sz="1100" dirty="0">
                <a:solidFill>
                  <a:srgbClr val="1A2238"/>
                </a:solidFill>
                <a:latin typeface="Calibri" pitchFamily="34" charset="0"/>
                <a:ea typeface="Calibri" pitchFamily="34" charset="-122"/>
                <a:cs typeface="Calibri" pitchFamily="34" charset="-120"/>
              </a:rPr>
              <a:t>Preserves class balance and class diversity</a:t>
            </a:r>
            <a:endParaRPr lang="en-US" sz="1100" dirty="0"/>
          </a:p>
          <a:p>
            <a:pPr marL="342900" indent="-342900">
              <a:spcAft>
                <a:spcPts val="300"/>
              </a:spcAft>
              <a:buSzPct val="100000"/>
              <a:buChar char="•"/>
            </a:pPr>
            <a:r>
              <a:rPr lang="en-US" sz="1100" dirty="0">
                <a:solidFill>
                  <a:srgbClr val="1A2238"/>
                </a:solidFill>
                <a:latin typeface="Calibri" pitchFamily="34" charset="0"/>
                <a:ea typeface="Calibri" pitchFamily="34" charset="-122"/>
                <a:cs typeface="Calibri" pitchFamily="34" charset="-120"/>
              </a:rPr>
              <a:t>Sample size still &gt; number of selected features after Lasso</a:t>
            </a:r>
            <a:endParaRPr lang="en-US" sz="1100" dirty="0"/>
          </a:p>
        </p:txBody>
      </p:sp>
      <p:sp>
        <p:nvSpPr>
          <p:cNvPr id="30" name="Text 27"/>
          <p:cNvSpPr/>
          <p:nvPr/>
        </p:nvSpPr>
        <p:spPr>
          <a:xfrm>
            <a:off x="6629400" y="4617720"/>
            <a:ext cx="4937760" cy="32004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Resulting matrix shape</a:t>
            </a:r>
            <a:endParaRPr lang="en-US" sz="1200" dirty="0"/>
          </a:p>
        </p:txBody>
      </p:sp>
      <p:sp>
        <p:nvSpPr>
          <p:cNvPr id="31" name="Shape 28"/>
          <p:cNvSpPr/>
          <p:nvPr/>
        </p:nvSpPr>
        <p:spPr>
          <a:xfrm>
            <a:off x="6629400" y="4983480"/>
            <a:ext cx="4937760" cy="1325880"/>
          </a:xfrm>
          <a:prstGeom prst="rect">
            <a:avLst/>
          </a:prstGeom>
          <a:solidFill>
            <a:srgbClr val="F4F1EC"/>
          </a:solidFill>
          <a:ln w="6350">
            <a:solidFill>
              <a:srgbClr val="DDE3EC"/>
            </a:solidFill>
            <a:prstDash val="solid"/>
          </a:ln>
        </p:spPr>
        <p:txBody>
          <a:bodyPr/>
          <a:lstStyle/>
          <a:p>
            <a:endParaRPr lang="en-US"/>
          </a:p>
        </p:txBody>
      </p:sp>
      <p:sp>
        <p:nvSpPr>
          <p:cNvPr id="32" name="Text 29"/>
          <p:cNvSpPr/>
          <p:nvPr/>
        </p:nvSpPr>
        <p:spPr>
          <a:xfrm>
            <a:off x="6766560" y="5074920"/>
            <a:ext cx="4754880" cy="1188720"/>
          </a:xfrm>
          <a:prstGeom prst="rect">
            <a:avLst/>
          </a:prstGeom>
          <a:noFill/>
          <a:ln/>
        </p:spPr>
        <p:txBody>
          <a:bodyPr wrap="square" rtlCol="0" anchor="ctr"/>
          <a:lstStyle/>
          <a:p>
            <a:pPr marL="0" indent="0">
              <a:spcAft>
                <a:spcPts val="400"/>
              </a:spcAft>
              <a:buNone/>
            </a:pPr>
            <a:r>
              <a:rPr lang="en-US" sz="1100" b="1" dirty="0">
                <a:solidFill>
                  <a:srgbClr val="0B2545"/>
                </a:solidFill>
                <a:latin typeface="Consolas" pitchFamily="34" charset="0"/>
                <a:ea typeface="Consolas" pitchFamily="34" charset="-122"/>
                <a:cs typeface="Consolas" pitchFamily="34" charset="-120"/>
              </a:rPr>
              <a:t>X.shape   </a:t>
            </a:r>
            <a:r>
              <a:rPr lang="en-US" sz="1100" b="1" dirty="0">
                <a:solidFill>
                  <a:srgbClr val="EE964B"/>
                </a:solidFill>
                <a:latin typeface="Consolas" pitchFamily="34" charset="0"/>
                <a:ea typeface="Consolas" pitchFamily="34" charset="-122"/>
                <a:cs typeface="Consolas" pitchFamily="34" charset="-120"/>
              </a:rPr>
              <a:t>(495, 20000)</a:t>
            </a:r>
            <a:r>
              <a:rPr lang="en-US" sz="1100" i="1" dirty="0">
                <a:solidFill>
                  <a:srgbClr val="5C6B82"/>
                </a:solidFill>
                <a:latin typeface="Consolas" pitchFamily="34" charset="0"/>
                <a:ea typeface="Consolas" pitchFamily="34" charset="-122"/>
                <a:cs typeface="Consolas" pitchFamily="34" charset="-120"/>
              </a:rPr>
              <a:t>  samples × genes</a:t>
            </a:r>
            <a:endParaRPr lang="en-US" sz="1100" dirty="0"/>
          </a:p>
          <a:p>
            <a:pPr marL="0" indent="0">
              <a:spcAft>
                <a:spcPts val="400"/>
              </a:spcAft>
              <a:buNone/>
            </a:pPr>
            <a:r>
              <a:rPr lang="en-US" sz="1100" b="1" dirty="0">
                <a:solidFill>
                  <a:srgbClr val="0B2545"/>
                </a:solidFill>
                <a:latin typeface="Consolas" pitchFamily="34" charset="0"/>
                <a:ea typeface="Consolas" pitchFamily="34" charset="-122"/>
                <a:cs typeface="Consolas" pitchFamily="34" charset="-120"/>
              </a:rPr>
              <a:t>y.shape   </a:t>
            </a:r>
            <a:r>
              <a:rPr lang="en-US" sz="1100" b="1" dirty="0">
                <a:solidFill>
                  <a:srgbClr val="EE964B"/>
                </a:solidFill>
                <a:latin typeface="Consolas" pitchFamily="34" charset="0"/>
                <a:ea typeface="Consolas" pitchFamily="34" charset="-122"/>
                <a:cs typeface="Consolas" pitchFamily="34" charset="-120"/>
              </a:rPr>
              <a:t>(495,)</a:t>
            </a:r>
            <a:r>
              <a:rPr lang="en-US" sz="1100" i="1" dirty="0">
                <a:solidFill>
                  <a:srgbClr val="5C6B82"/>
                </a:solidFill>
                <a:latin typeface="Consolas" pitchFamily="34" charset="0"/>
                <a:ea typeface="Consolas" pitchFamily="34" charset="-122"/>
                <a:cs typeface="Consolas" pitchFamily="34" charset="-120"/>
              </a:rPr>
              <a:t>             integer labels</a:t>
            </a:r>
            <a:endParaRPr lang="en-US" sz="1100" dirty="0"/>
          </a:p>
          <a:p>
            <a:pPr marL="0" indent="0">
              <a:spcAft>
                <a:spcPts val="400"/>
              </a:spcAft>
              <a:buNone/>
            </a:pPr>
            <a:r>
              <a:rPr lang="en-US" sz="1100" b="1" dirty="0">
                <a:solidFill>
                  <a:srgbClr val="0B2545"/>
                </a:solidFill>
                <a:latin typeface="Consolas" pitchFamily="34" charset="0"/>
                <a:ea typeface="Consolas" pitchFamily="34" charset="-122"/>
                <a:cs typeface="Consolas" pitchFamily="34" charset="-120"/>
              </a:rPr>
              <a:t>classes   </a:t>
            </a:r>
            <a:r>
              <a:rPr lang="en-US" sz="1100" b="1" dirty="0">
                <a:solidFill>
                  <a:srgbClr val="EE964B"/>
                </a:solidFill>
                <a:latin typeface="Consolas" pitchFamily="34" charset="0"/>
                <a:ea typeface="Consolas" pitchFamily="34" charset="-122"/>
                <a:cs typeface="Consolas" pitchFamily="34" charset="-120"/>
              </a:rPr>
              <a:t>33</a:t>
            </a:r>
            <a:r>
              <a:rPr lang="en-US" sz="1100" i="1" dirty="0">
                <a:solidFill>
                  <a:srgbClr val="5C6B82"/>
                </a:solidFill>
                <a:latin typeface="Consolas" pitchFamily="34" charset="0"/>
                <a:ea typeface="Consolas" pitchFamily="34" charset="-122"/>
                <a:cs typeface="Consolas" pitchFamily="34" charset="-120"/>
              </a:rPr>
              <a:t>                  BRCA · LUAD · GBM …</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From 60K Columns to a Workable Matrix</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Transpose · stratified sampling · variance filter — three steps to a clean training matrix.</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sp>
        <p:nvSpPr>
          <p:cNvPr id="8" name="Shape 6"/>
          <p:cNvSpPr/>
          <p:nvPr/>
        </p:nvSpPr>
        <p:spPr>
          <a:xfrm>
            <a:off x="457200" y="1371600"/>
            <a:ext cx="2606040" cy="1828800"/>
          </a:xfrm>
          <a:prstGeom prst="rect">
            <a:avLst/>
          </a:prstGeom>
          <a:solidFill>
            <a:srgbClr val="FFFFFF"/>
          </a:solidFill>
          <a:ln w="9525">
            <a:solidFill>
              <a:srgbClr val="DDE3EC"/>
            </a:solidFill>
            <a:prstDash val="solid"/>
          </a:ln>
        </p:spPr>
        <p:txBody>
          <a:bodyPr/>
          <a:lstStyle/>
          <a:p>
            <a:endParaRPr lang="en-US"/>
          </a:p>
        </p:txBody>
      </p:sp>
      <p:sp>
        <p:nvSpPr>
          <p:cNvPr id="9" name="Shape 7"/>
          <p:cNvSpPr/>
          <p:nvPr/>
        </p:nvSpPr>
        <p:spPr>
          <a:xfrm>
            <a:off x="457200" y="1371600"/>
            <a:ext cx="2606040" cy="411480"/>
          </a:xfrm>
          <a:prstGeom prst="rect">
            <a:avLst/>
          </a:prstGeom>
          <a:solidFill>
            <a:srgbClr val="0B2545"/>
          </a:solidFill>
          <a:ln w="12700">
            <a:solidFill>
              <a:srgbClr val="0B2545"/>
            </a:solidFill>
            <a:prstDash val="solid"/>
          </a:ln>
        </p:spPr>
        <p:txBody>
          <a:bodyPr/>
          <a:lstStyle/>
          <a:p>
            <a:endParaRPr lang="en-US"/>
          </a:p>
        </p:txBody>
      </p:sp>
      <p:sp>
        <p:nvSpPr>
          <p:cNvPr id="10" name="Text 8"/>
          <p:cNvSpPr/>
          <p:nvPr/>
        </p:nvSpPr>
        <p:spPr>
          <a:xfrm>
            <a:off x="594360" y="1417320"/>
            <a:ext cx="23317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 Raw download</a:t>
            </a:r>
            <a:endParaRPr lang="en-US" sz="1400" dirty="0"/>
          </a:p>
        </p:txBody>
      </p:sp>
      <p:sp>
        <p:nvSpPr>
          <p:cNvPr id="11" name="Text 9"/>
          <p:cNvSpPr/>
          <p:nvPr/>
        </p:nvSpPr>
        <p:spPr>
          <a:xfrm>
            <a:off x="594360" y="1874520"/>
            <a:ext cx="2331720" cy="1280160"/>
          </a:xfrm>
          <a:prstGeom prst="rect">
            <a:avLst/>
          </a:prstGeom>
          <a:noFill/>
          <a:ln/>
        </p:spPr>
        <p:txBody>
          <a:bodyPr wrap="square" rtlCol="0" anchor="ctr"/>
          <a:lstStyle/>
          <a:p>
            <a:pPr marL="0" indent="0">
              <a:spcAft>
                <a:spcPts val="600"/>
              </a:spcAft>
              <a:buNone/>
            </a:pPr>
            <a:r>
              <a:rPr lang="en-US" sz="1100" dirty="0">
                <a:solidFill>
                  <a:srgbClr val="1A2238"/>
                </a:solidFill>
                <a:latin typeface="Calibri" pitchFamily="34" charset="0"/>
                <a:ea typeface="Calibri" pitchFamily="34" charset="-122"/>
                <a:cs typeface="Calibri" pitchFamily="34" charset="-120"/>
              </a:rPr>
              <a:t>TCGA Toil expression file</a:t>
            </a:r>
            <a:endParaRPr lang="en-US" sz="1100" dirty="0"/>
          </a:p>
          <a:p>
            <a:pPr marL="0" indent="0">
              <a:spcAft>
                <a:spcPts val="600"/>
              </a:spcAft>
              <a:buNone/>
            </a:pPr>
            <a:r>
              <a:rPr lang="en-US" sz="1100" i="1" dirty="0">
                <a:solidFill>
                  <a:srgbClr val="5C6B82"/>
                </a:solidFill>
                <a:latin typeface="Calibri" pitchFamily="34" charset="0"/>
                <a:ea typeface="Calibri" pitchFamily="34" charset="-122"/>
                <a:cs typeface="Calibri" pitchFamily="34" charset="-120"/>
              </a:rPr>
              <a:t>Genes × Samples</a:t>
            </a:r>
            <a:endParaRPr lang="en-US" sz="1100" dirty="0"/>
          </a:p>
          <a:p>
            <a:pPr marL="0" indent="0">
              <a:spcAft>
                <a:spcPts val="600"/>
              </a:spcAft>
              <a:buNone/>
            </a:pPr>
            <a:r>
              <a:rPr lang="en-US" sz="1100" b="1" dirty="0">
                <a:solidFill>
                  <a:srgbClr val="EE964B"/>
                </a:solidFill>
                <a:latin typeface="Consolas" pitchFamily="34" charset="0"/>
                <a:ea typeface="Consolas" pitchFamily="34" charset="-122"/>
                <a:cs typeface="Consolas" pitchFamily="34" charset="-120"/>
              </a:rPr>
              <a:t>10,535 cols  ·  60,498 rows</a:t>
            </a:r>
            <a:endParaRPr lang="en-US" sz="1100" dirty="0"/>
          </a:p>
        </p:txBody>
      </p:sp>
      <p:sp>
        <p:nvSpPr>
          <p:cNvPr id="12" name="Shape 10"/>
          <p:cNvSpPr/>
          <p:nvPr/>
        </p:nvSpPr>
        <p:spPr>
          <a:xfrm rot="5400000">
            <a:off x="3081528" y="2148840"/>
            <a:ext cx="146304" cy="274320"/>
          </a:xfrm>
          <a:prstGeom prst="rtTriangle">
            <a:avLst/>
          </a:prstGeom>
          <a:solidFill>
            <a:srgbClr val="EE964B"/>
          </a:solidFill>
          <a:ln w="12700">
            <a:solidFill>
              <a:srgbClr val="EE964B"/>
            </a:solidFill>
            <a:prstDash val="solid"/>
          </a:ln>
        </p:spPr>
        <p:txBody>
          <a:bodyPr/>
          <a:lstStyle/>
          <a:p>
            <a:endParaRPr lang="en-US"/>
          </a:p>
        </p:txBody>
      </p:sp>
      <p:sp>
        <p:nvSpPr>
          <p:cNvPr id="13" name="Shape 11"/>
          <p:cNvSpPr/>
          <p:nvPr/>
        </p:nvSpPr>
        <p:spPr>
          <a:xfrm>
            <a:off x="3246120" y="1371600"/>
            <a:ext cx="2606040" cy="1828800"/>
          </a:xfrm>
          <a:prstGeom prst="rect">
            <a:avLst/>
          </a:prstGeom>
          <a:solidFill>
            <a:srgbClr val="FFFFFF"/>
          </a:solidFill>
          <a:ln w="9525">
            <a:solidFill>
              <a:srgbClr val="DDE3EC"/>
            </a:solidFill>
            <a:prstDash val="solid"/>
          </a:ln>
        </p:spPr>
        <p:txBody>
          <a:bodyPr/>
          <a:lstStyle/>
          <a:p>
            <a:endParaRPr lang="en-US"/>
          </a:p>
        </p:txBody>
      </p:sp>
      <p:sp>
        <p:nvSpPr>
          <p:cNvPr id="14" name="Shape 12"/>
          <p:cNvSpPr/>
          <p:nvPr/>
        </p:nvSpPr>
        <p:spPr>
          <a:xfrm>
            <a:off x="3246120" y="1371600"/>
            <a:ext cx="2606040" cy="411480"/>
          </a:xfrm>
          <a:prstGeom prst="rect">
            <a:avLst/>
          </a:prstGeom>
          <a:solidFill>
            <a:srgbClr val="13315C"/>
          </a:solidFill>
          <a:ln w="12700">
            <a:solidFill>
              <a:srgbClr val="13315C"/>
            </a:solidFill>
            <a:prstDash val="solid"/>
          </a:ln>
        </p:spPr>
        <p:txBody>
          <a:bodyPr/>
          <a:lstStyle/>
          <a:p>
            <a:endParaRPr lang="en-US"/>
          </a:p>
        </p:txBody>
      </p:sp>
      <p:sp>
        <p:nvSpPr>
          <p:cNvPr id="15" name="Text 13"/>
          <p:cNvSpPr/>
          <p:nvPr/>
        </p:nvSpPr>
        <p:spPr>
          <a:xfrm>
            <a:off x="3383280" y="1417320"/>
            <a:ext cx="23317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 Transpose</a:t>
            </a:r>
            <a:endParaRPr lang="en-US" sz="1400" dirty="0"/>
          </a:p>
        </p:txBody>
      </p:sp>
      <p:sp>
        <p:nvSpPr>
          <p:cNvPr id="16" name="Text 14"/>
          <p:cNvSpPr/>
          <p:nvPr/>
        </p:nvSpPr>
        <p:spPr>
          <a:xfrm>
            <a:off x="3383280" y="1874520"/>
            <a:ext cx="2331720" cy="1280160"/>
          </a:xfrm>
          <a:prstGeom prst="rect">
            <a:avLst/>
          </a:prstGeom>
          <a:noFill/>
          <a:ln/>
        </p:spPr>
        <p:txBody>
          <a:bodyPr wrap="square" rtlCol="0" anchor="ctr"/>
          <a:lstStyle/>
          <a:p>
            <a:pPr marL="0" indent="0">
              <a:spcAft>
                <a:spcPts val="600"/>
              </a:spcAft>
              <a:buNone/>
            </a:pPr>
            <a:r>
              <a:rPr lang="en-US" sz="1100" dirty="0">
                <a:solidFill>
                  <a:srgbClr val="1A2238"/>
                </a:solidFill>
                <a:latin typeface="Calibri" pitchFamily="34" charset="0"/>
                <a:ea typeface="Calibri" pitchFamily="34" charset="-122"/>
                <a:cs typeface="Calibri" pitchFamily="34" charset="-120"/>
              </a:rPr>
              <a:t>Convert to ML-friendly</a:t>
            </a:r>
            <a:endParaRPr lang="en-US" sz="1100" dirty="0"/>
          </a:p>
          <a:p>
            <a:pPr marL="0" indent="0">
              <a:spcAft>
                <a:spcPts val="600"/>
              </a:spcAft>
              <a:buNone/>
            </a:pPr>
            <a:r>
              <a:rPr lang="en-US" sz="1100" i="1" dirty="0">
                <a:solidFill>
                  <a:srgbClr val="5C6B82"/>
                </a:solidFill>
                <a:latin typeface="Calibri" pitchFamily="34" charset="0"/>
                <a:ea typeface="Calibri" pitchFamily="34" charset="-122"/>
                <a:cs typeface="Calibri" pitchFamily="34" charset="-120"/>
              </a:rPr>
              <a:t>Samples × Genes</a:t>
            </a:r>
            <a:endParaRPr lang="en-US" sz="1100" dirty="0"/>
          </a:p>
          <a:p>
            <a:pPr marL="0" indent="0">
              <a:spcAft>
                <a:spcPts val="600"/>
              </a:spcAft>
              <a:buNone/>
            </a:pPr>
            <a:r>
              <a:rPr lang="en-US" sz="1100" b="1" dirty="0">
                <a:solidFill>
                  <a:srgbClr val="EE964B"/>
                </a:solidFill>
                <a:latin typeface="Consolas" pitchFamily="34" charset="0"/>
                <a:ea typeface="Consolas" pitchFamily="34" charset="-122"/>
                <a:cs typeface="Consolas" pitchFamily="34" charset="-120"/>
              </a:rPr>
              <a:t>10,535 rows  ·  60,498 cols</a:t>
            </a:r>
            <a:endParaRPr lang="en-US" sz="1100" dirty="0"/>
          </a:p>
        </p:txBody>
      </p:sp>
      <p:sp>
        <p:nvSpPr>
          <p:cNvPr id="17" name="Shape 15"/>
          <p:cNvSpPr/>
          <p:nvPr/>
        </p:nvSpPr>
        <p:spPr>
          <a:xfrm rot="5400000">
            <a:off x="5870448" y="2148840"/>
            <a:ext cx="146304" cy="274320"/>
          </a:xfrm>
          <a:prstGeom prst="rtTriangle">
            <a:avLst/>
          </a:prstGeom>
          <a:solidFill>
            <a:srgbClr val="EE964B"/>
          </a:solidFill>
          <a:ln w="12700">
            <a:solidFill>
              <a:srgbClr val="EE964B"/>
            </a:solidFill>
            <a:prstDash val="solid"/>
          </a:ln>
        </p:spPr>
        <p:txBody>
          <a:bodyPr/>
          <a:lstStyle/>
          <a:p>
            <a:endParaRPr lang="en-US"/>
          </a:p>
        </p:txBody>
      </p:sp>
      <p:sp>
        <p:nvSpPr>
          <p:cNvPr id="18" name="Shape 16"/>
          <p:cNvSpPr/>
          <p:nvPr/>
        </p:nvSpPr>
        <p:spPr>
          <a:xfrm>
            <a:off x="6035040" y="1371600"/>
            <a:ext cx="2606040" cy="1828800"/>
          </a:xfrm>
          <a:prstGeom prst="rect">
            <a:avLst/>
          </a:prstGeom>
          <a:solidFill>
            <a:srgbClr val="FFFFFF"/>
          </a:solidFill>
          <a:ln w="9525">
            <a:solidFill>
              <a:srgbClr val="DDE3EC"/>
            </a:solidFill>
            <a:prstDash val="solid"/>
          </a:ln>
        </p:spPr>
        <p:txBody>
          <a:bodyPr/>
          <a:lstStyle/>
          <a:p>
            <a:endParaRPr lang="en-US"/>
          </a:p>
        </p:txBody>
      </p:sp>
      <p:sp>
        <p:nvSpPr>
          <p:cNvPr id="19" name="Shape 17"/>
          <p:cNvSpPr/>
          <p:nvPr/>
        </p:nvSpPr>
        <p:spPr>
          <a:xfrm>
            <a:off x="6035040" y="1371600"/>
            <a:ext cx="2606040" cy="411480"/>
          </a:xfrm>
          <a:prstGeom prst="rect">
            <a:avLst/>
          </a:prstGeom>
          <a:solidFill>
            <a:srgbClr val="1B7F8C"/>
          </a:solidFill>
          <a:ln w="12700">
            <a:solidFill>
              <a:srgbClr val="1B7F8C"/>
            </a:solidFill>
            <a:prstDash val="solid"/>
          </a:ln>
        </p:spPr>
        <p:txBody>
          <a:bodyPr/>
          <a:lstStyle/>
          <a:p>
            <a:endParaRPr lang="en-US"/>
          </a:p>
        </p:txBody>
      </p:sp>
      <p:sp>
        <p:nvSpPr>
          <p:cNvPr id="20" name="Text 18"/>
          <p:cNvSpPr/>
          <p:nvPr/>
        </p:nvSpPr>
        <p:spPr>
          <a:xfrm>
            <a:off x="6172200" y="1417320"/>
            <a:ext cx="23317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3. Stratified sample</a:t>
            </a:r>
            <a:endParaRPr lang="en-US" sz="1400" dirty="0"/>
          </a:p>
        </p:txBody>
      </p:sp>
      <p:sp>
        <p:nvSpPr>
          <p:cNvPr id="21" name="Text 19"/>
          <p:cNvSpPr/>
          <p:nvPr/>
        </p:nvSpPr>
        <p:spPr>
          <a:xfrm>
            <a:off x="6172200" y="1874520"/>
            <a:ext cx="2331720" cy="1280160"/>
          </a:xfrm>
          <a:prstGeom prst="rect">
            <a:avLst/>
          </a:prstGeom>
          <a:noFill/>
          <a:ln/>
        </p:spPr>
        <p:txBody>
          <a:bodyPr wrap="square" rtlCol="0" anchor="ctr"/>
          <a:lstStyle/>
          <a:p>
            <a:pPr marL="0" indent="0">
              <a:spcAft>
                <a:spcPts val="600"/>
              </a:spcAft>
              <a:buNone/>
            </a:pPr>
            <a:r>
              <a:rPr lang="en-US" sz="1100" dirty="0">
                <a:solidFill>
                  <a:srgbClr val="1A2238"/>
                </a:solidFill>
                <a:latin typeface="Calibri" pitchFamily="34" charset="0"/>
                <a:ea typeface="Calibri" pitchFamily="34" charset="-122"/>
                <a:cs typeface="Calibri" pitchFamily="34" charset="-120"/>
              </a:rPr>
              <a:t>15 patients × 33 types</a:t>
            </a:r>
            <a:endParaRPr lang="en-US" sz="1100" dirty="0"/>
          </a:p>
          <a:p>
            <a:pPr marL="0" indent="0">
              <a:spcAft>
                <a:spcPts val="600"/>
              </a:spcAft>
              <a:buNone/>
            </a:pPr>
            <a:r>
              <a:rPr lang="en-US" sz="1100" i="1" dirty="0">
                <a:solidFill>
                  <a:srgbClr val="5C6B82"/>
                </a:solidFill>
                <a:latin typeface="Calibri" pitchFamily="34" charset="0"/>
                <a:ea typeface="Calibri" pitchFamily="34" charset="-122"/>
                <a:cs typeface="Calibri" pitchFamily="34" charset="-120"/>
              </a:rPr>
              <a:t>Class-balanced subset</a:t>
            </a:r>
            <a:endParaRPr lang="en-US" sz="1100" dirty="0"/>
          </a:p>
          <a:p>
            <a:pPr marL="0" indent="0">
              <a:spcAft>
                <a:spcPts val="600"/>
              </a:spcAft>
              <a:buNone/>
            </a:pPr>
            <a:r>
              <a:rPr lang="en-US" sz="1100" b="1" dirty="0">
                <a:solidFill>
                  <a:srgbClr val="EE964B"/>
                </a:solidFill>
                <a:latin typeface="Consolas" pitchFamily="34" charset="0"/>
                <a:ea typeface="Consolas" pitchFamily="34" charset="-122"/>
                <a:cs typeface="Consolas" pitchFamily="34" charset="-120"/>
              </a:rPr>
              <a:t>495 rows  ·  60,498 cols</a:t>
            </a:r>
            <a:endParaRPr lang="en-US" sz="1100" dirty="0"/>
          </a:p>
        </p:txBody>
      </p:sp>
      <p:sp>
        <p:nvSpPr>
          <p:cNvPr id="22" name="Shape 20"/>
          <p:cNvSpPr/>
          <p:nvPr/>
        </p:nvSpPr>
        <p:spPr>
          <a:xfrm rot="5400000">
            <a:off x="8659368" y="2148840"/>
            <a:ext cx="146304" cy="274320"/>
          </a:xfrm>
          <a:prstGeom prst="rtTriangle">
            <a:avLst/>
          </a:prstGeom>
          <a:solidFill>
            <a:srgbClr val="EE964B"/>
          </a:solidFill>
          <a:ln w="12700">
            <a:solidFill>
              <a:srgbClr val="EE964B"/>
            </a:solidFill>
            <a:prstDash val="solid"/>
          </a:ln>
        </p:spPr>
        <p:txBody>
          <a:bodyPr/>
          <a:lstStyle/>
          <a:p>
            <a:endParaRPr lang="en-US"/>
          </a:p>
        </p:txBody>
      </p:sp>
      <p:sp>
        <p:nvSpPr>
          <p:cNvPr id="23" name="Shape 21"/>
          <p:cNvSpPr/>
          <p:nvPr/>
        </p:nvSpPr>
        <p:spPr>
          <a:xfrm>
            <a:off x="8823960" y="1371600"/>
            <a:ext cx="2606040" cy="1828800"/>
          </a:xfrm>
          <a:prstGeom prst="rect">
            <a:avLst/>
          </a:prstGeom>
          <a:solidFill>
            <a:srgbClr val="FFFFFF"/>
          </a:solidFill>
          <a:ln w="9525">
            <a:solidFill>
              <a:srgbClr val="DDE3EC"/>
            </a:solidFill>
            <a:prstDash val="solid"/>
          </a:ln>
        </p:spPr>
        <p:txBody>
          <a:bodyPr/>
          <a:lstStyle/>
          <a:p>
            <a:endParaRPr lang="en-US"/>
          </a:p>
        </p:txBody>
      </p:sp>
      <p:sp>
        <p:nvSpPr>
          <p:cNvPr id="24" name="Shape 22"/>
          <p:cNvSpPr/>
          <p:nvPr/>
        </p:nvSpPr>
        <p:spPr>
          <a:xfrm>
            <a:off x="8823960" y="1371600"/>
            <a:ext cx="2606040" cy="411480"/>
          </a:xfrm>
          <a:prstGeom prst="rect">
            <a:avLst/>
          </a:prstGeom>
          <a:solidFill>
            <a:srgbClr val="EE964B"/>
          </a:solidFill>
          <a:ln w="12700">
            <a:solidFill>
              <a:srgbClr val="EE964B"/>
            </a:solidFill>
            <a:prstDash val="solid"/>
          </a:ln>
        </p:spPr>
        <p:txBody>
          <a:bodyPr/>
          <a:lstStyle/>
          <a:p>
            <a:endParaRPr lang="en-US"/>
          </a:p>
        </p:txBody>
      </p:sp>
      <p:sp>
        <p:nvSpPr>
          <p:cNvPr id="25" name="Text 23"/>
          <p:cNvSpPr/>
          <p:nvPr/>
        </p:nvSpPr>
        <p:spPr>
          <a:xfrm>
            <a:off x="8961120" y="1417320"/>
            <a:ext cx="23317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4. Variance filter</a:t>
            </a:r>
            <a:endParaRPr lang="en-US" sz="1400" dirty="0"/>
          </a:p>
        </p:txBody>
      </p:sp>
      <p:sp>
        <p:nvSpPr>
          <p:cNvPr id="26" name="Text 24"/>
          <p:cNvSpPr/>
          <p:nvPr/>
        </p:nvSpPr>
        <p:spPr>
          <a:xfrm>
            <a:off x="8961120" y="1874520"/>
            <a:ext cx="2331720" cy="1280160"/>
          </a:xfrm>
          <a:prstGeom prst="rect">
            <a:avLst/>
          </a:prstGeom>
          <a:noFill/>
          <a:ln/>
        </p:spPr>
        <p:txBody>
          <a:bodyPr wrap="square" rtlCol="0" anchor="ctr"/>
          <a:lstStyle/>
          <a:p>
            <a:pPr marL="0" indent="0">
              <a:spcAft>
                <a:spcPts val="600"/>
              </a:spcAft>
              <a:buNone/>
            </a:pPr>
            <a:r>
              <a:rPr lang="en-US" sz="1100" dirty="0">
                <a:solidFill>
                  <a:srgbClr val="1A2238"/>
                </a:solidFill>
                <a:latin typeface="Calibri" pitchFamily="34" charset="0"/>
                <a:ea typeface="Calibri" pitchFamily="34" charset="-122"/>
                <a:cs typeface="Calibri" pitchFamily="34" charset="-120"/>
              </a:rPr>
              <a:t>Drop low-variance genes</a:t>
            </a:r>
            <a:endParaRPr lang="en-US" sz="1100" dirty="0"/>
          </a:p>
          <a:p>
            <a:pPr marL="0" indent="0">
              <a:spcAft>
                <a:spcPts val="600"/>
              </a:spcAft>
              <a:buNone/>
            </a:pPr>
            <a:r>
              <a:rPr lang="en-US" sz="1100" i="1" dirty="0">
                <a:solidFill>
                  <a:srgbClr val="5C6B82"/>
                </a:solidFill>
                <a:latin typeface="Calibri" pitchFamily="34" charset="0"/>
                <a:ea typeface="Calibri" pitchFamily="34" charset="-122"/>
                <a:cs typeface="Calibri" pitchFamily="34" charset="-120"/>
              </a:rPr>
              <a:t>Top 20K most variable</a:t>
            </a:r>
            <a:endParaRPr lang="en-US" sz="1100" dirty="0"/>
          </a:p>
          <a:p>
            <a:pPr marL="0" indent="0">
              <a:spcAft>
                <a:spcPts val="600"/>
              </a:spcAft>
              <a:buNone/>
            </a:pPr>
            <a:r>
              <a:rPr lang="en-US" sz="1100" b="1" dirty="0">
                <a:solidFill>
                  <a:srgbClr val="EE964B"/>
                </a:solidFill>
                <a:latin typeface="Consolas" pitchFamily="34" charset="0"/>
                <a:ea typeface="Consolas" pitchFamily="34" charset="-122"/>
                <a:cs typeface="Consolas" pitchFamily="34" charset="-120"/>
              </a:rPr>
              <a:t>495 rows  ·  20,000 cols</a:t>
            </a:r>
            <a:endParaRPr lang="en-US" sz="1100" dirty="0"/>
          </a:p>
        </p:txBody>
      </p:sp>
      <p:sp>
        <p:nvSpPr>
          <p:cNvPr id="27" name="Shape 25"/>
          <p:cNvSpPr/>
          <p:nvPr/>
        </p:nvSpPr>
        <p:spPr>
          <a:xfrm>
            <a:off x="457200" y="3520440"/>
            <a:ext cx="11247120" cy="2834640"/>
          </a:xfrm>
          <a:prstGeom prst="rect">
            <a:avLst/>
          </a:prstGeom>
          <a:solidFill>
            <a:srgbClr val="FFFFFF"/>
          </a:solidFill>
          <a:ln w="9525">
            <a:solidFill>
              <a:srgbClr val="DDE3EC"/>
            </a:solidFill>
            <a:prstDash val="solid"/>
          </a:ln>
        </p:spPr>
        <p:txBody>
          <a:bodyPr/>
          <a:lstStyle/>
          <a:p>
            <a:endParaRPr lang="en-US"/>
          </a:p>
        </p:txBody>
      </p:sp>
      <p:sp>
        <p:nvSpPr>
          <p:cNvPr id="28" name="Shape 26"/>
          <p:cNvSpPr/>
          <p:nvPr/>
        </p:nvSpPr>
        <p:spPr>
          <a:xfrm>
            <a:off x="457200" y="3520440"/>
            <a:ext cx="73152" cy="2834640"/>
          </a:xfrm>
          <a:prstGeom prst="rect">
            <a:avLst/>
          </a:prstGeom>
          <a:solidFill>
            <a:srgbClr val="1B7F8C"/>
          </a:solidFill>
          <a:ln w="12700">
            <a:solidFill>
              <a:srgbClr val="1B7F8C"/>
            </a:solidFill>
            <a:prstDash val="solid"/>
          </a:ln>
        </p:spPr>
        <p:txBody>
          <a:bodyPr/>
          <a:lstStyle/>
          <a:p>
            <a:endParaRPr lang="en-US"/>
          </a:p>
        </p:txBody>
      </p:sp>
      <p:sp>
        <p:nvSpPr>
          <p:cNvPr id="29" name="Text 27"/>
          <p:cNvSpPr/>
          <p:nvPr/>
        </p:nvSpPr>
        <p:spPr>
          <a:xfrm>
            <a:off x="731520" y="3611880"/>
            <a:ext cx="1097280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Why each step matters</a:t>
            </a:r>
            <a:endParaRPr lang="en-US" sz="1600" dirty="0"/>
          </a:p>
        </p:txBody>
      </p:sp>
      <p:sp>
        <p:nvSpPr>
          <p:cNvPr id="30" name="Text 28"/>
          <p:cNvSpPr/>
          <p:nvPr/>
        </p:nvSpPr>
        <p:spPr>
          <a:xfrm>
            <a:off x="777240" y="4023360"/>
            <a:ext cx="5303520" cy="219456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Transpose </a:t>
            </a:r>
            <a:r>
              <a:rPr lang="en-US" sz="1200" dirty="0">
                <a:solidFill>
                  <a:srgbClr val="1A2238"/>
                </a:solidFill>
                <a:latin typeface="Calibri" pitchFamily="34" charset="0"/>
                <a:ea typeface="Calibri" pitchFamily="34" charset="-122"/>
                <a:cs typeface="Calibri" pitchFamily="34" charset="-120"/>
              </a:rPr>
              <a:t>→ scikit-learn and PyTorch expect samples on rows, features on columns. Genomics files arrive transposed.</a:t>
            </a:r>
            <a:endParaRPr lang="en-US" sz="1200" dirty="0"/>
          </a:p>
          <a:p>
            <a:pPr marL="0" indent="0">
              <a:buNone/>
            </a:pPr>
            <a:endParaRPr lang="en-US" sz="1200" dirty="0"/>
          </a:p>
          <a:p>
            <a:pPr marL="0" indent="0">
              <a:buNone/>
            </a:pPr>
            <a:r>
              <a:rPr lang="en-US" sz="1200" b="1" dirty="0">
                <a:solidFill>
                  <a:srgbClr val="0B2545"/>
                </a:solidFill>
                <a:latin typeface="Calibri" pitchFamily="34" charset="0"/>
                <a:ea typeface="Calibri" pitchFamily="34" charset="-122"/>
                <a:cs typeface="Calibri" pitchFamily="34" charset="-120"/>
              </a:rPr>
              <a:t>Stratified sampling </a:t>
            </a:r>
            <a:r>
              <a:rPr lang="en-US" sz="1200" dirty="0">
                <a:solidFill>
                  <a:srgbClr val="1A2238"/>
                </a:solidFill>
                <a:latin typeface="Calibri" pitchFamily="34" charset="0"/>
                <a:ea typeface="Calibri" pitchFamily="34" charset="-122"/>
                <a:cs typeface="Calibri" pitchFamily="34" charset="-120"/>
              </a:rPr>
              <a:t>→ guarantees every cancer type appears in train/val/test. Random sampling on a 33-class problem leaves classes empty.</a:t>
            </a:r>
            <a:endParaRPr lang="en-US" sz="1200" dirty="0"/>
          </a:p>
        </p:txBody>
      </p:sp>
      <p:sp>
        <p:nvSpPr>
          <p:cNvPr id="31" name="Text 29"/>
          <p:cNvSpPr/>
          <p:nvPr/>
        </p:nvSpPr>
        <p:spPr>
          <a:xfrm>
            <a:off x="6263640" y="4023360"/>
            <a:ext cx="5303520" cy="219456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Variance filter </a:t>
            </a:r>
            <a:r>
              <a:rPr lang="en-US" sz="1200" dirty="0">
                <a:solidFill>
                  <a:srgbClr val="1A2238"/>
                </a:solidFill>
                <a:latin typeface="Calibri" pitchFamily="34" charset="0"/>
                <a:ea typeface="Calibri" pitchFamily="34" charset="-122"/>
                <a:cs typeface="Calibri" pitchFamily="34" charset="-120"/>
              </a:rPr>
              <a:t>→ drops housekeeping/inactive genes whose values are constant across all tumors. They cannot help classification and inflate dimensionality.</a:t>
            </a:r>
            <a:endParaRPr lang="en-US" sz="1200" dirty="0"/>
          </a:p>
          <a:p>
            <a:pPr marL="0" indent="0">
              <a:buNone/>
            </a:pPr>
            <a:endParaRPr lang="en-US" sz="1200" dirty="0"/>
          </a:p>
          <a:p>
            <a:pPr marL="0" indent="0">
              <a:buNone/>
            </a:pPr>
            <a:r>
              <a:rPr lang="en-US" sz="1200" b="1" dirty="0">
                <a:solidFill>
                  <a:srgbClr val="EE964B"/>
                </a:solidFill>
                <a:latin typeface="Calibri" pitchFamily="34" charset="0"/>
                <a:ea typeface="Calibri" pitchFamily="34" charset="-122"/>
                <a:cs typeface="Calibri" pitchFamily="34" charset="-120"/>
              </a:rPr>
              <a:t>Result </a:t>
            </a:r>
            <a:r>
              <a:rPr lang="en-US" sz="1200" dirty="0">
                <a:solidFill>
                  <a:srgbClr val="1A2238"/>
                </a:solidFill>
                <a:latin typeface="Calibri" pitchFamily="34" charset="0"/>
                <a:ea typeface="Calibri" pitchFamily="34" charset="-122"/>
                <a:cs typeface="Calibri" pitchFamily="34" charset="-120"/>
              </a:rPr>
              <a:t>→ a dense, balanced 495 × 20,000 matrix that fits comfortably on a CPU yet remains genuinely high-dimensional (p ≫ 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 Preprocessing</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Identical preprocessing for every model so only the optimizer differs.</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sp>
        <p:nvSpPr>
          <p:cNvPr id="8" name="Shape 6"/>
          <p:cNvSpPr/>
          <p:nvPr/>
        </p:nvSpPr>
        <p:spPr>
          <a:xfrm>
            <a:off x="457200" y="1188720"/>
            <a:ext cx="2743200" cy="2468880"/>
          </a:xfrm>
          <a:prstGeom prst="rect">
            <a:avLst/>
          </a:prstGeom>
          <a:solidFill>
            <a:srgbClr val="FFFFFF"/>
          </a:solidFill>
          <a:ln w="9525">
            <a:solidFill>
              <a:srgbClr val="DDE3EC"/>
            </a:solidFill>
            <a:prstDash val="solid"/>
          </a:ln>
        </p:spPr>
        <p:txBody>
          <a:bodyPr/>
          <a:lstStyle/>
          <a:p>
            <a:endParaRPr lang="en-US"/>
          </a:p>
        </p:txBody>
      </p:sp>
      <p:sp>
        <p:nvSpPr>
          <p:cNvPr id="9" name="Shape 7"/>
          <p:cNvSpPr/>
          <p:nvPr/>
        </p:nvSpPr>
        <p:spPr>
          <a:xfrm>
            <a:off x="457200" y="1188720"/>
            <a:ext cx="2743200" cy="640080"/>
          </a:xfrm>
          <a:prstGeom prst="rect">
            <a:avLst/>
          </a:prstGeom>
          <a:solidFill>
            <a:srgbClr val="0B2545"/>
          </a:solidFill>
          <a:ln w="12700">
            <a:solidFill>
              <a:srgbClr val="0B2545"/>
            </a:solidFill>
            <a:prstDash val="solid"/>
          </a:ln>
        </p:spPr>
        <p:txBody>
          <a:bodyPr/>
          <a:lstStyle/>
          <a:p>
            <a:endParaRPr lang="en-US"/>
          </a:p>
        </p:txBody>
      </p:sp>
      <p:sp>
        <p:nvSpPr>
          <p:cNvPr id="10" name="Shape 8"/>
          <p:cNvSpPr/>
          <p:nvPr/>
        </p:nvSpPr>
        <p:spPr>
          <a:xfrm>
            <a:off x="594360" y="1280160"/>
            <a:ext cx="457200" cy="457200"/>
          </a:xfrm>
          <a:prstGeom prst="ellipse">
            <a:avLst/>
          </a:prstGeom>
          <a:solidFill>
            <a:srgbClr val="EE964B"/>
          </a:solidFill>
          <a:ln w="12700">
            <a:solidFill>
              <a:srgbClr val="EE964B"/>
            </a:solidFill>
            <a:prstDash val="solid"/>
          </a:ln>
        </p:spPr>
        <p:txBody>
          <a:bodyPr/>
          <a:lstStyle/>
          <a:p>
            <a:endParaRPr lang="en-US"/>
          </a:p>
        </p:txBody>
      </p:sp>
      <p:sp>
        <p:nvSpPr>
          <p:cNvPr id="11" name="Text 9"/>
          <p:cNvSpPr/>
          <p:nvPr/>
        </p:nvSpPr>
        <p:spPr>
          <a:xfrm>
            <a:off x="594360" y="1280160"/>
            <a:ext cx="45720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A</a:t>
            </a:r>
            <a:endParaRPr lang="en-US" sz="1400" dirty="0"/>
          </a:p>
        </p:txBody>
      </p:sp>
      <p:sp>
        <p:nvSpPr>
          <p:cNvPr id="12" name="Text 10"/>
          <p:cNvSpPr/>
          <p:nvPr/>
        </p:nvSpPr>
        <p:spPr>
          <a:xfrm>
            <a:off x="1170432" y="1353312"/>
            <a:ext cx="19202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Clean</a:t>
            </a:r>
            <a:endParaRPr lang="en-US" sz="1600" dirty="0"/>
          </a:p>
        </p:txBody>
      </p:sp>
      <p:sp>
        <p:nvSpPr>
          <p:cNvPr id="13" name="Text 11"/>
          <p:cNvSpPr/>
          <p:nvPr/>
        </p:nvSpPr>
        <p:spPr>
          <a:xfrm>
            <a:off x="640080" y="1965960"/>
            <a:ext cx="2377440" cy="1554480"/>
          </a:xfrm>
          <a:prstGeom prst="rect">
            <a:avLst/>
          </a:prstGeom>
          <a:noFill/>
          <a:ln/>
        </p:spPr>
        <p:txBody>
          <a:bodyPr wrap="square" rtlCol="0" anchor="ctr"/>
          <a:lstStyle/>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Drop duplicate gene columns</a:t>
            </a:r>
            <a:endParaRPr lang="en-US" sz="1100" dirty="0"/>
          </a:p>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Remove zero-variance genes</a:t>
            </a:r>
            <a:endParaRPr lang="en-US" sz="1100" dirty="0"/>
          </a:p>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Remove genes with var &lt; 0.01</a:t>
            </a:r>
            <a:endParaRPr lang="en-US" sz="1100" dirty="0"/>
          </a:p>
        </p:txBody>
      </p:sp>
      <p:sp>
        <p:nvSpPr>
          <p:cNvPr id="14" name="Shape 12"/>
          <p:cNvSpPr/>
          <p:nvPr/>
        </p:nvSpPr>
        <p:spPr>
          <a:xfrm>
            <a:off x="3291840" y="1188720"/>
            <a:ext cx="2743200" cy="2468880"/>
          </a:xfrm>
          <a:prstGeom prst="rect">
            <a:avLst/>
          </a:prstGeom>
          <a:solidFill>
            <a:srgbClr val="FFFFFF"/>
          </a:solidFill>
          <a:ln w="9525">
            <a:solidFill>
              <a:srgbClr val="DDE3EC"/>
            </a:solidFill>
            <a:prstDash val="solid"/>
          </a:ln>
        </p:spPr>
        <p:txBody>
          <a:bodyPr/>
          <a:lstStyle/>
          <a:p>
            <a:endParaRPr lang="en-US"/>
          </a:p>
        </p:txBody>
      </p:sp>
      <p:sp>
        <p:nvSpPr>
          <p:cNvPr id="15" name="Shape 13"/>
          <p:cNvSpPr/>
          <p:nvPr/>
        </p:nvSpPr>
        <p:spPr>
          <a:xfrm>
            <a:off x="3291840" y="1188720"/>
            <a:ext cx="2743200" cy="640080"/>
          </a:xfrm>
          <a:prstGeom prst="rect">
            <a:avLst/>
          </a:prstGeom>
          <a:solidFill>
            <a:srgbClr val="0B2545"/>
          </a:solidFill>
          <a:ln w="12700">
            <a:solidFill>
              <a:srgbClr val="0B2545"/>
            </a:solidFill>
            <a:prstDash val="solid"/>
          </a:ln>
        </p:spPr>
        <p:txBody>
          <a:bodyPr/>
          <a:lstStyle/>
          <a:p>
            <a:endParaRPr lang="en-US"/>
          </a:p>
        </p:txBody>
      </p:sp>
      <p:sp>
        <p:nvSpPr>
          <p:cNvPr id="16" name="Shape 14"/>
          <p:cNvSpPr/>
          <p:nvPr/>
        </p:nvSpPr>
        <p:spPr>
          <a:xfrm>
            <a:off x="3429000" y="1280160"/>
            <a:ext cx="457200" cy="457200"/>
          </a:xfrm>
          <a:prstGeom prst="ellipse">
            <a:avLst/>
          </a:prstGeom>
          <a:solidFill>
            <a:srgbClr val="EE964B"/>
          </a:solidFill>
          <a:ln w="12700">
            <a:solidFill>
              <a:srgbClr val="EE964B"/>
            </a:solidFill>
            <a:prstDash val="solid"/>
          </a:ln>
        </p:spPr>
        <p:txBody>
          <a:bodyPr/>
          <a:lstStyle/>
          <a:p>
            <a:endParaRPr lang="en-US"/>
          </a:p>
        </p:txBody>
      </p:sp>
      <p:sp>
        <p:nvSpPr>
          <p:cNvPr id="17" name="Text 15"/>
          <p:cNvSpPr/>
          <p:nvPr/>
        </p:nvSpPr>
        <p:spPr>
          <a:xfrm>
            <a:off x="3429000" y="1280160"/>
            <a:ext cx="45720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B</a:t>
            </a:r>
            <a:endParaRPr lang="en-US" sz="1400" dirty="0"/>
          </a:p>
        </p:txBody>
      </p:sp>
      <p:sp>
        <p:nvSpPr>
          <p:cNvPr id="18" name="Text 16"/>
          <p:cNvSpPr/>
          <p:nvPr/>
        </p:nvSpPr>
        <p:spPr>
          <a:xfrm>
            <a:off x="4005072" y="1353312"/>
            <a:ext cx="19202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Encode</a:t>
            </a:r>
            <a:endParaRPr lang="en-US" sz="1600" dirty="0"/>
          </a:p>
        </p:txBody>
      </p:sp>
      <p:sp>
        <p:nvSpPr>
          <p:cNvPr id="19" name="Text 17"/>
          <p:cNvSpPr/>
          <p:nvPr/>
        </p:nvSpPr>
        <p:spPr>
          <a:xfrm>
            <a:off x="3474720" y="1965960"/>
            <a:ext cx="2377440" cy="1554480"/>
          </a:xfrm>
          <a:prstGeom prst="rect">
            <a:avLst/>
          </a:prstGeom>
          <a:noFill/>
          <a:ln/>
        </p:spPr>
        <p:txBody>
          <a:bodyPr wrap="square" rtlCol="0" anchor="ctr"/>
          <a:lstStyle/>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LabelEncoder on cancer-type strings</a:t>
            </a:r>
            <a:endParaRPr lang="en-US" sz="1100" dirty="0"/>
          </a:p>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33 integer labels (0–32)</a:t>
            </a:r>
            <a:endParaRPr lang="en-US" sz="1100" dirty="0"/>
          </a:p>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Stratified 60/20/20 split</a:t>
            </a:r>
            <a:endParaRPr lang="en-US" sz="1100" dirty="0"/>
          </a:p>
        </p:txBody>
      </p:sp>
      <p:sp>
        <p:nvSpPr>
          <p:cNvPr id="20" name="Shape 18"/>
          <p:cNvSpPr/>
          <p:nvPr/>
        </p:nvSpPr>
        <p:spPr>
          <a:xfrm>
            <a:off x="6126480" y="1188720"/>
            <a:ext cx="2743200" cy="2468880"/>
          </a:xfrm>
          <a:prstGeom prst="rect">
            <a:avLst/>
          </a:prstGeom>
          <a:solidFill>
            <a:srgbClr val="FFFFFF"/>
          </a:solidFill>
          <a:ln w="9525">
            <a:solidFill>
              <a:srgbClr val="DDE3EC"/>
            </a:solidFill>
            <a:prstDash val="solid"/>
          </a:ln>
        </p:spPr>
        <p:txBody>
          <a:bodyPr/>
          <a:lstStyle/>
          <a:p>
            <a:endParaRPr lang="en-US"/>
          </a:p>
        </p:txBody>
      </p:sp>
      <p:sp>
        <p:nvSpPr>
          <p:cNvPr id="21" name="Shape 19"/>
          <p:cNvSpPr/>
          <p:nvPr/>
        </p:nvSpPr>
        <p:spPr>
          <a:xfrm>
            <a:off x="6126480" y="1188720"/>
            <a:ext cx="2743200" cy="640080"/>
          </a:xfrm>
          <a:prstGeom prst="rect">
            <a:avLst/>
          </a:prstGeom>
          <a:solidFill>
            <a:srgbClr val="0B2545"/>
          </a:solidFill>
          <a:ln w="12700">
            <a:solidFill>
              <a:srgbClr val="0B2545"/>
            </a:solidFill>
            <a:prstDash val="solid"/>
          </a:ln>
        </p:spPr>
        <p:txBody>
          <a:bodyPr/>
          <a:lstStyle/>
          <a:p>
            <a:endParaRPr lang="en-US"/>
          </a:p>
        </p:txBody>
      </p:sp>
      <p:sp>
        <p:nvSpPr>
          <p:cNvPr id="22" name="Shape 20"/>
          <p:cNvSpPr/>
          <p:nvPr/>
        </p:nvSpPr>
        <p:spPr>
          <a:xfrm>
            <a:off x="6263640" y="1280160"/>
            <a:ext cx="457200" cy="457200"/>
          </a:xfrm>
          <a:prstGeom prst="ellipse">
            <a:avLst/>
          </a:prstGeom>
          <a:solidFill>
            <a:srgbClr val="EE964B"/>
          </a:solidFill>
          <a:ln w="12700">
            <a:solidFill>
              <a:srgbClr val="EE964B"/>
            </a:solidFill>
            <a:prstDash val="solid"/>
          </a:ln>
        </p:spPr>
        <p:txBody>
          <a:bodyPr/>
          <a:lstStyle/>
          <a:p>
            <a:endParaRPr lang="en-US"/>
          </a:p>
        </p:txBody>
      </p:sp>
      <p:sp>
        <p:nvSpPr>
          <p:cNvPr id="23" name="Text 21"/>
          <p:cNvSpPr/>
          <p:nvPr/>
        </p:nvSpPr>
        <p:spPr>
          <a:xfrm>
            <a:off x="6263640" y="1280160"/>
            <a:ext cx="45720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C</a:t>
            </a:r>
            <a:endParaRPr lang="en-US" sz="1400" dirty="0"/>
          </a:p>
        </p:txBody>
      </p:sp>
      <p:sp>
        <p:nvSpPr>
          <p:cNvPr id="24" name="Text 22"/>
          <p:cNvSpPr/>
          <p:nvPr/>
        </p:nvSpPr>
        <p:spPr>
          <a:xfrm>
            <a:off x="6839712" y="1353312"/>
            <a:ext cx="19202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Scale</a:t>
            </a:r>
            <a:endParaRPr lang="en-US" sz="1600" dirty="0"/>
          </a:p>
        </p:txBody>
      </p:sp>
      <p:sp>
        <p:nvSpPr>
          <p:cNvPr id="25" name="Text 23"/>
          <p:cNvSpPr/>
          <p:nvPr/>
        </p:nvSpPr>
        <p:spPr>
          <a:xfrm>
            <a:off x="6309360" y="1965960"/>
            <a:ext cx="2377440" cy="1554480"/>
          </a:xfrm>
          <a:prstGeom prst="rect">
            <a:avLst/>
          </a:prstGeom>
          <a:noFill/>
          <a:ln/>
        </p:spPr>
        <p:txBody>
          <a:bodyPr wrap="square" rtlCol="0" anchor="ctr"/>
          <a:lstStyle/>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StandardScaler fit on TRAIN only</a:t>
            </a:r>
            <a:endParaRPr lang="en-US" sz="1100" dirty="0"/>
          </a:p>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Mean = 0, std = 1 per gene</a:t>
            </a:r>
            <a:endParaRPr lang="en-US" sz="1100" dirty="0"/>
          </a:p>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Critical for gradient methods</a:t>
            </a:r>
            <a:endParaRPr lang="en-US" sz="1100" dirty="0"/>
          </a:p>
        </p:txBody>
      </p:sp>
      <p:sp>
        <p:nvSpPr>
          <p:cNvPr id="26" name="Shape 24"/>
          <p:cNvSpPr/>
          <p:nvPr/>
        </p:nvSpPr>
        <p:spPr>
          <a:xfrm>
            <a:off x="8961120" y="1188720"/>
            <a:ext cx="2743200" cy="2468880"/>
          </a:xfrm>
          <a:prstGeom prst="rect">
            <a:avLst/>
          </a:prstGeom>
          <a:solidFill>
            <a:srgbClr val="FFFFFF"/>
          </a:solidFill>
          <a:ln w="9525">
            <a:solidFill>
              <a:srgbClr val="DDE3EC"/>
            </a:solidFill>
            <a:prstDash val="solid"/>
          </a:ln>
        </p:spPr>
        <p:txBody>
          <a:bodyPr/>
          <a:lstStyle/>
          <a:p>
            <a:endParaRPr lang="en-US"/>
          </a:p>
        </p:txBody>
      </p:sp>
      <p:sp>
        <p:nvSpPr>
          <p:cNvPr id="27" name="Shape 25"/>
          <p:cNvSpPr/>
          <p:nvPr/>
        </p:nvSpPr>
        <p:spPr>
          <a:xfrm>
            <a:off x="8961120" y="1188720"/>
            <a:ext cx="2743200" cy="640080"/>
          </a:xfrm>
          <a:prstGeom prst="rect">
            <a:avLst/>
          </a:prstGeom>
          <a:solidFill>
            <a:srgbClr val="0B2545"/>
          </a:solidFill>
          <a:ln w="12700">
            <a:solidFill>
              <a:srgbClr val="0B2545"/>
            </a:solidFill>
            <a:prstDash val="solid"/>
          </a:ln>
        </p:spPr>
        <p:txBody>
          <a:bodyPr/>
          <a:lstStyle/>
          <a:p>
            <a:endParaRPr lang="en-US"/>
          </a:p>
        </p:txBody>
      </p:sp>
      <p:sp>
        <p:nvSpPr>
          <p:cNvPr id="28" name="Shape 26"/>
          <p:cNvSpPr/>
          <p:nvPr/>
        </p:nvSpPr>
        <p:spPr>
          <a:xfrm>
            <a:off x="9098280" y="1280160"/>
            <a:ext cx="457200" cy="457200"/>
          </a:xfrm>
          <a:prstGeom prst="ellipse">
            <a:avLst/>
          </a:prstGeom>
          <a:solidFill>
            <a:srgbClr val="EE964B"/>
          </a:solidFill>
          <a:ln w="12700">
            <a:solidFill>
              <a:srgbClr val="EE964B"/>
            </a:solidFill>
            <a:prstDash val="solid"/>
          </a:ln>
        </p:spPr>
        <p:txBody>
          <a:bodyPr/>
          <a:lstStyle/>
          <a:p>
            <a:endParaRPr lang="en-US"/>
          </a:p>
        </p:txBody>
      </p:sp>
      <p:sp>
        <p:nvSpPr>
          <p:cNvPr id="29" name="Text 27"/>
          <p:cNvSpPr/>
          <p:nvPr/>
        </p:nvSpPr>
        <p:spPr>
          <a:xfrm>
            <a:off x="9098280" y="1280160"/>
            <a:ext cx="45720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D</a:t>
            </a:r>
            <a:endParaRPr lang="en-US" sz="1400" dirty="0"/>
          </a:p>
        </p:txBody>
      </p:sp>
      <p:sp>
        <p:nvSpPr>
          <p:cNvPr id="30" name="Text 28"/>
          <p:cNvSpPr/>
          <p:nvPr/>
        </p:nvSpPr>
        <p:spPr>
          <a:xfrm>
            <a:off x="9674352" y="1353312"/>
            <a:ext cx="19202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Tensor</a:t>
            </a:r>
            <a:endParaRPr lang="en-US" sz="1600" dirty="0"/>
          </a:p>
        </p:txBody>
      </p:sp>
      <p:sp>
        <p:nvSpPr>
          <p:cNvPr id="31" name="Text 29"/>
          <p:cNvSpPr/>
          <p:nvPr/>
        </p:nvSpPr>
        <p:spPr>
          <a:xfrm>
            <a:off x="9144000" y="1965960"/>
            <a:ext cx="2377440" cy="1554480"/>
          </a:xfrm>
          <a:prstGeom prst="rect">
            <a:avLst/>
          </a:prstGeom>
          <a:noFill/>
          <a:ln/>
        </p:spPr>
        <p:txBody>
          <a:bodyPr wrap="square" rtlCol="0" anchor="ctr"/>
          <a:lstStyle/>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Convert to torch.float32</a:t>
            </a:r>
            <a:endParaRPr lang="en-US" sz="1100" dirty="0"/>
          </a:p>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Long-tensor for labels</a:t>
            </a:r>
            <a:endParaRPr lang="en-US" sz="1100" dirty="0"/>
          </a:p>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DataLoader: full vs mini-batch</a:t>
            </a:r>
            <a:endParaRPr lang="en-US" sz="1100" dirty="0"/>
          </a:p>
        </p:txBody>
      </p:sp>
      <p:sp>
        <p:nvSpPr>
          <p:cNvPr id="32" name="Shape 30"/>
          <p:cNvSpPr/>
          <p:nvPr/>
        </p:nvSpPr>
        <p:spPr>
          <a:xfrm>
            <a:off x="457200" y="3840480"/>
            <a:ext cx="6858000" cy="2468880"/>
          </a:xfrm>
          <a:prstGeom prst="rect">
            <a:avLst/>
          </a:prstGeom>
          <a:solidFill>
            <a:srgbClr val="0B2545"/>
          </a:solidFill>
          <a:ln w="12700">
            <a:solidFill>
              <a:srgbClr val="0B2545"/>
            </a:solidFill>
            <a:prstDash val="solid"/>
          </a:ln>
        </p:spPr>
        <p:txBody>
          <a:bodyPr/>
          <a:lstStyle/>
          <a:p>
            <a:endParaRPr lang="en-US"/>
          </a:p>
        </p:txBody>
      </p:sp>
      <p:sp>
        <p:nvSpPr>
          <p:cNvPr id="33" name="Text 31"/>
          <p:cNvSpPr/>
          <p:nvPr/>
        </p:nvSpPr>
        <p:spPr>
          <a:xfrm>
            <a:off x="640080" y="3931920"/>
            <a:ext cx="6400800" cy="320040"/>
          </a:xfrm>
          <a:prstGeom prst="rect">
            <a:avLst/>
          </a:prstGeom>
          <a:noFill/>
          <a:ln/>
        </p:spPr>
        <p:txBody>
          <a:bodyPr wrap="square" rtlCol="0" anchor="ctr"/>
          <a:lstStyle/>
          <a:p>
            <a:pPr marL="0" indent="0">
              <a:buNone/>
            </a:pPr>
            <a:r>
              <a:rPr lang="en-US" sz="1200" b="1" dirty="0">
                <a:solidFill>
                  <a:srgbClr val="EE964B"/>
                </a:solidFill>
                <a:latin typeface="Calibri" pitchFamily="34" charset="0"/>
                <a:ea typeface="Calibri" pitchFamily="34" charset="-122"/>
                <a:cs typeface="Calibri" pitchFamily="34" charset="-120"/>
              </a:rPr>
              <a:t>Key preprocessing snippet</a:t>
            </a:r>
            <a:endParaRPr lang="en-US" sz="1200" dirty="0"/>
          </a:p>
        </p:txBody>
      </p:sp>
      <p:sp>
        <p:nvSpPr>
          <p:cNvPr id="34" name="Text 32"/>
          <p:cNvSpPr/>
          <p:nvPr/>
        </p:nvSpPr>
        <p:spPr>
          <a:xfrm>
            <a:off x="640080" y="4251960"/>
            <a:ext cx="6583680" cy="2011680"/>
          </a:xfrm>
          <a:prstGeom prst="rect">
            <a:avLst/>
          </a:prstGeom>
          <a:noFill/>
          <a:ln/>
        </p:spPr>
        <p:txBody>
          <a:bodyPr wrap="square" rtlCol="0" anchor="ctr"/>
          <a:lstStyle/>
          <a:p>
            <a:pPr marL="0" indent="0">
              <a:buNone/>
            </a:pPr>
            <a:r>
              <a:rPr lang="en-US" sz="1100" dirty="0">
                <a:solidFill>
                  <a:srgbClr val="B8C5D9"/>
                </a:solidFill>
                <a:latin typeface="Consolas" pitchFamily="34" charset="0"/>
                <a:ea typeface="Consolas" pitchFamily="34" charset="-122"/>
                <a:cs typeface="Consolas" pitchFamily="34" charset="-120"/>
              </a:rPr>
              <a:t>from sklearn.preprocessing import StandardScaler</a:t>
            </a:r>
            <a:endParaRPr lang="en-US" sz="1100" dirty="0"/>
          </a:p>
          <a:p>
            <a:pPr marL="0" indent="0">
              <a:buNone/>
            </a:pPr>
            <a:r>
              <a:rPr lang="en-US" sz="1100" dirty="0">
                <a:solidFill>
                  <a:srgbClr val="B8C5D9"/>
                </a:solidFill>
                <a:latin typeface="Consolas" pitchFamily="34" charset="0"/>
                <a:ea typeface="Consolas" pitchFamily="34" charset="-122"/>
                <a:cs typeface="Consolas" pitchFamily="34" charset="-120"/>
              </a:rPr>
              <a:t>from sklearn.model_selection import train_test_split</a:t>
            </a:r>
            <a:endParaRPr lang="en-US" sz="1100" dirty="0"/>
          </a:p>
          <a:p>
            <a:pPr marL="0" indent="0">
              <a:buNone/>
            </a:pP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X_tr, X_tmp, y_tr, y_tmp = train_test_split(X, y, </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test_size=0.4, stratify=y, random_state=42)</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X_v,  X_te, y_v, y_te  = train_test_split(X_tmp, y_tmp,</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test_size=0.5, stratify=y_tmp, random_state=42)</a:t>
            </a:r>
            <a:endParaRPr lang="en-US" sz="1100" dirty="0"/>
          </a:p>
          <a:p>
            <a:pPr marL="0" indent="0">
              <a:buNone/>
            </a:pPr>
            <a:endParaRPr lang="en-US" sz="1100" dirty="0"/>
          </a:p>
          <a:p>
            <a:pPr marL="0" indent="0">
              <a:buNone/>
            </a:pPr>
            <a:r>
              <a:rPr lang="en-US" sz="1100" dirty="0">
                <a:solidFill>
                  <a:srgbClr val="EE964B"/>
                </a:solidFill>
                <a:latin typeface="Consolas" pitchFamily="34" charset="0"/>
                <a:ea typeface="Consolas" pitchFamily="34" charset="-122"/>
                <a:cs typeface="Consolas" pitchFamily="34" charset="-120"/>
              </a:rPr>
              <a:t>scaler = StandardScaler().fit(X_tr)        # fit only on TRAIN</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X_tr, X_v, X_te = map(scaler.transform, [X_tr, X_v, X_te])</a:t>
            </a:r>
            <a:endParaRPr lang="en-US" sz="1100" dirty="0"/>
          </a:p>
        </p:txBody>
      </p:sp>
      <p:sp>
        <p:nvSpPr>
          <p:cNvPr id="35" name="Shape 33"/>
          <p:cNvSpPr/>
          <p:nvPr/>
        </p:nvSpPr>
        <p:spPr>
          <a:xfrm>
            <a:off x="7589520" y="3840480"/>
            <a:ext cx="4114800" cy="2468880"/>
          </a:xfrm>
          <a:prstGeom prst="rect">
            <a:avLst/>
          </a:prstGeom>
          <a:solidFill>
            <a:srgbClr val="FFFFFF"/>
          </a:solidFill>
          <a:ln w="9525">
            <a:solidFill>
              <a:srgbClr val="DDE3EC"/>
            </a:solidFill>
            <a:prstDash val="solid"/>
          </a:ln>
        </p:spPr>
        <p:txBody>
          <a:bodyPr/>
          <a:lstStyle/>
          <a:p>
            <a:endParaRPr lang="en-US"/>
          </a:p>
        </p:txBody>
      </p:sp>
      <p:sp>
        <p:nvSpPr>
          <p:cNvPr id="36" name="Text 34"/>
          <p:cNvSpPr/>
          <p:nvPr/>
        </p:nvSpPr>
        <p:spPr>
          <a:xfrm>
            <a:off x="7772400" y="3931920"/>
            <a:ext cx="384048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Stratified 60 / 20 / 20 split</a:t>
            </a:r>
            <a:endParaRPr lang="en-US" sz="1400" dirty="0"/>
          </a:p>
        </p:txBody>
      </p:sp>
      <p:sp>
        <p:nvSpPr>
          <p:cNvPr id="37" name="Shape 35"/>
          <p:cNvSpPr/>
          <p:nvPr/>
        </p:nvSpPr>
        <p:spPr>
          <a:xfrm>
            <a:off x="7772400" y="4434840"/>
            <a:ext cx="2249424" cy="502920"/>
          </a:xfrm>
          <a:prstGeom prst="rect">
            <a:avLst/>
          </a:prstGeom>
          <a:solidFill>
            <a:srgbClr val="1B7F8C"/>
          </a:solidFill>
          <a:ln w="12700">
            <a:solidFill>
              <a:srgbClr val="1B7F8C"/>
            </a:solidFill>
            <a:prstDash val="solid"/>
          </a:ln>
        </p:spPr>
        <p:txBody>
          <a:bodyPr/>
          <a:lstStyle/>
          <a:p>
            <a:endParaRPr lang="en-US"/>
          </a:p>
        </p:txBody>
      </p:sp>
      <p:sp>
        <p:nvSpPr>
          <p:cNvPr id="38" name="Shape 36"/>
          <p:cNvSpPr/>
          <p:nvPr/>
        </p:nvSpPr>
        <p:spPr>
          <a:xfrm>
            <a:off x="10021824" y="4434840"/>
            <a:ext cx="749808" cy="502920"/>
          </a:xfrm>
          <a:prstGeom prst="rect">
            <a:avLst/>
          </a:prstGeom>
          <a:solidFill>
            <a:srgbClr val="EE964B"/>
          </a:solidFill>
          <a:ln w="12700">
            <a:solidFill>
              <a:srgbClr val="EE964B"/>
            </a:solidFill>
            <a:prstDash val="solid"/>
          </a:ln>
        </p:spPr>
        <p:txBody>
          <a:bodyPr/>
          <a:lstStyle/>
          <a:p>
            <a:endParaRPr lang="en-US"/>
          </a:p>
        </p:txBody>
      </p:sp>
      <p:sp>
        <p:nvSpPr>
          <p:cNvPr id="39" name="Shape 37"/>
          <p:cNvSpPr/>
          <p:nvPr/>
        </p:nvSpPr>
        <p:spPr>
          <a:xfrm>
            <a:off x="10771632" y="4434840"/>
            <a:ext cx="749808" cy="502920"/>
          </a:xfrm>
          <a:prstGeom prst="rect">
            <a:avLst/>
          </a:prstGeom>
          <a:solidFill>
            <a:srgbClr val="C03221"/>
          </a:solidFill>
          <a:ln w="12700">
            <a:solidFill>
              <a:srgbClr val="C03221"/>
            </a:solidFill>
            <a:prstDash val="solid"/>
          </a:ln>
        </p:spPr>
        <p:txBody>
          <a:bodyPr/>
          <a:lstStyle/>
          <a:p>
            <a:endParaRPr lang="en-US"/>
          </a:p>
        </p:txBody>
      </p:sp>
      <p:sp>
        <p:nvSpPr>
          <p:cNvPr id="40" name="Text 38"/>
          <p:cNvSpPr/>
          <p:nvPr/>
        </p:nvSpPr>
        <p:spPr>
          <a:xfrm>
            <a:off x="7772400" y="4434840"/>
            <a:ext cx="2249424"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60 % Train</a:t>
            </a:r>
            <a:endParaRPr lang="en-US" sz="1100" dirty="0"/>
          </a:p>
        </p:txBody>
      </p:sp>
      <p:sp>
        <p:nvSpPr>
          <p:cNvPr id="41" name="Text 39"/>
          <p:cNvSpPr/>
          <p:nvPr/>
        </p:nvSpPr>
        <p:spPr>
          <a:xfrm>
            <a:off x="10021824" y="4434840"/>
            <a:ext cx="749808" cy="502920"/>
          </a:xfrm>
          <a:prstGeom prst="rect">
            <a:avLst/>
          </a:prstGeom>
          <a:noFill/>
          <a:ln/>
        </p:spPr>
        <p:txBody>
          <a:bodyPr wrap="square" lIns="0" tIns="0" rIns="0" bIns="0" rtlCol="0" anchor="ctr"/>
          <a:lstStyle/>
          <a:p>
            <a:pPr marL="0" indent="0" algn="ctr">
              <a:buNone/>
            </a:pPr>
            <a:r>
              <a:rPr lang="en-US" sz="1000" b="1" dirty="0">
                <a:solidFill>
                  <a:srgbClr val="0B2545"/>
                </a:solidFill>
                <a:latin typeface="Calibri" pitchFamily="34" charset="0"/>
                <a:ea typeface="Calibri" pitchFamily="34" charset="-122"/>
                <a:cs typeface="Calibri" pitchFamily="34" charset="-120"/>
              </a:rPr>
              <a:t>20 % Val</a:t>
            </a:r>
            <a:endParaRPr lang="en-US" sz="1000" dirty="0"/>
          </a:p>
        </p:txBody>
      </p:sp>
      <p:sp>
        <p:nvSpPr>
          <p:cNvPr id="42" name="Text 40"/>
          <p:cNvSpPr/>
          <p:nvPr/>
        </p:nvSpPr>
        <p:spPr>
          <a:xfrm>
            <a:off x="10771632" y="4434840"/>
            <a:ext cx="749808"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20 % Test</a:t>
            </a:r>
            <a:endParaRPr lang="en-US" sz="1000" dirty="0"/>
          </a:p>
        </p:txBody>
      </p:sp>
      <p:sp>
        <p:nvSpPr>
          <p:cNvPr id="43" name="Text 41"/>
          <p:cNvSpPr/>
          <p:nvPr/>
        </p:nvSpPr>
        <p:spPr>
          <a:xfrm>
            <a:off x="7772400" y="5029200"/>
            <a:ext cx="2249424" cy="548640"/>
          </a:xfrm>
          <a:prstGeom prst="rect">
            <a:avLst/>
          </a:prstGeom>
          <a:noFill/>
          <a:ln/>
        </p:spPr>
        <p:txBody>
          <a:bodyPr wrap="square" rtlCol="0" anchor="ctr"/>
          <a:lstStyle/>
          <a:p>
            <a:pPr marL="0" indent="0" algn="ctr">
              <a:buNone/>
            </a:pPr>
            <a:r>
              <a:rPr lang="en-US" sz="1200" b="1" dirty="0">
                <a:solidFill>
                  <a:srgbClr val="1B7F8C"/>
                </a:solidFill>
                <a:latin typeface="Calibri" pitchFamily="34" charset="0"/>
                <a:ea typeface="Calibri" pitchFamily="34" charset="-122"/>
                <a:cs typeface="Calibri" pitchFamily="34" charset="-120"/>
              </a:rPr>
              <a:t>297 samples</a:t>
            </a:r>
            <a:endParaRPr lang="en-US" sz="1100" dirty="0"/>
          </a:p>
          <a:p>
            <a:pPr marL="0" indent="0" algn="ctr">
              <a:buNone/>
            </a:pPr>
            <a:r>
              <a:rPr lang="en-US" sz="1000" i="1" dirty="0">
                <a:solidFill>
                  <a:srgbClr val="5C6B82"/>
                </a:solidFill>
                <a:latin typeface="Calibri" pitchFamily="34" charset="0"/>
                <a:ea typeface="Calibri" pitchFamily="34" charset="-122"/>
                <a:cs typeface="Calibri" pitchFamily="34" charset="-120"/>
              </a:rPr>
              <a:t>for fitting weights</a:t>
            </a:r>
            <a:endParaRPr lang="en-US" sz="1100" dirty="0"/>
          </a:p>
        </p:txBody>
      </p:sp>
      <p:sp>
        <p:nvSpPr>
          <p:cNvPr id="44" name="Text 42"/>
          <p:cNvSpPr/>
          <p:nvPr/>
        </p:nvSpPr>
        <p:spPr>
          <a:xfrm>
            <a:off x="10021824" y="5029200"/>
            <a:ext cx="749808" cy="548640"/>
          </a:xfrm>
          <a:prstGeom prst="rect">
            <a:avLst/>
          </a:prstGeom>
          <a:noFill/>
          <a:ln/>
        </p:spPr>
        <p:txBody>
          <a:bodyPr wrap="square" rtlCol="0" anchor="ctr"/>
          <a:lstStyle/>
          <a:p>
            <a:pPr marL="0" indent="0" algn="ctr">
              <a:buNone/>
            </a:pPr>
            <a:r>
              <a:rPr lang="en-US" sz="1200" b="1" dirty="0">
                <a:solidFill>
                  <a:srgbClr val="EE964B"/>
                </a:solidFill>
                <a:latin typeface="Calibri" pitchFamily="34" charset="0"/>
                <a:ea typeface="Calibri" pitchFamily="34" charset="-122"/>
                <a:cs typeface="Calibri" pitchFamily="34" charset="-120"/>
              </a:rPr>
              <a:t>99</a:t>
            </a:r>
            <a:endParaRPr lang="en-US" sz="1100" dirty="0"/>
          </a:p>
          <a:p>
            <a:pPr marL="0" indent="0" algn="ctr">
              <a:buNone/>
            </a:pPr>
            <a:r>
              <a:rPr lang="en-US" sz="1000" i="1" dirty="0">
                <a:solidFill>
                  <a:srgbClr val="5C6B82"/>
                </a:solidFill>
                <a:latin typeface="Calibri" pitchFamily="34" charset="0"/>
                <a:ea typeface="Calibri" pitchFamily="34" charset="-122"/>
                <a:cs typeface="Calibri" pitchFamily="34" charset="-120"/>
              </a:rPr>
              <a:t>tune LR</a:t>
            </a:r>
            <a:endParaRPr lang="en-US" sz="1100" dirty="0"/>
          </a:p>
        </p:txBody>
      </p:sp>
      <p:sp>
        <p:nvSpPr>
          <p:cNvPr id="45" name="Text 43"/>
          <p:cNvSpPr/>
          <p:nvPr/>
        </p:nvSpPr>
        <p:spPr>
          <a:xfrm>
            <a:off x="10771632" y="5029200"/>
            <a:ext cx="749808" cy="548640"/>
          </a:xfrm>
          <a:prstGeom prst="rect">
            <a:avLst/>
          </a:prstGeom>
          <a:noFill/>
          <a:ln/>
        </p:spPr>
        <p:txBody>
          <a:bodyPr wrap="square" rtlCol="0" anchor="ctr"/>
          <a:lstStyle/>
          <a:p>
            <a:pPr marL="0" indent="0" algn="ctr">
              <a:buNone/>
            </a:pPr>
            <a:r>
              <a:rPr lang="en-US" sz="1200" b="1" dirty="0">
                <a:solidFill>
                  <a:srgbClr val="C03221"/>
                </a:solidFill>
                <a:latin typeface="Calibri" pitchFamily="34" charset="0"/>
                <a:ea typeface="Calibri" pitchFamily="34" charset="-122"/>
                <a:cs typeface="Calibri" pitchFamily="34" charset="-120"/>
              </a:rPr>
              <a:t>99</a:t>
            </a:r>
            <a:endParaRPr lang="en-US" sz="1100" dirty="0"/>
          </a:p>
          <a:p>
            <a:pPr marL="0" indent="0" algn="ctr">
              <a:buNone/>
            </a:pPr>
            <a:r>
              <a:rPr lang="en-US" sz="1000" i="1" dirty="0">
                <a:solidFill>
                  <a:srgbClr val="5C6B82"/>
                </a:solidFill>
                <a:latin typeface="Calibri" pitchFamily="34" charset="0"/>
                <a:ea typeface="Calibri" pitchFamily="34" charset="-122"/>
                <a:cs typeface="Calibri" pitchFamily="34" charset="-120"/>
              </a:rPr>
              <a:t>untouched</a:t>
            </a:r>
            <a:endParaRPr lang="en-US" sz="1100" dirty="0"/>
          </a:p>
        </p:txBody>
      </p:sp>
      <p:sp>
        <p:nvSpPr>
          <p:cNvPr id="46" name="Text 44"/>
          <p:cNvSpPr/>
          <p:nvPr/>
        </p:nvSpPr>
        <p:spPr>
          <a:xfrm>
            <a:off x="7772400" y="5897880"/>
            <a:ext cx="3749040" cy="365760"/>
          </a:xfrm>
          <a:prstGeom prst="rect">
            <a:avLst/>
          </a:prstGeom>
          <a:noFill/>
          <a:ln/>
        </p:spPr>
        <p:txBody>
          <a:bodyPr wrap="square" rtlCol="0" anchor="ctr"/>
          <a:lstStyle/>
          <a:p>
            <a:pPr marL="0" indent="0" algn="ctr">
              <a:buNone/>
            </a:pPr>
            <a:r>
              <a:rPr lang="en-US" sz="1100" i="1" dirty="0">
                <a:solidFill>
                  <a:srgbClr val="5C6B82"/>
                </a:solidFill>
                <a:latin typeface="Calibri" pitchFamily="34" charset="0"/>
                <a:ea typeface="Calibri" pitchFamily="34" charset="-122"/>
                <a:cs typeface="Calibri" pitchFamily="34" charset="-120"/>
              </a:rPr>
              <a:t>Every cancer type appears in all three splits.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EDA — Gene Variance Distribution</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Most genes carry almost no signal. The variance filter is justified.</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pic>
        <p:nvPicPr>
          <p:cNvPr id="8" name="Image 0" descr="/home/claude/images/01_variance.png"/>
          <p:cNvPicPr>
            <a:picLocks noChangeAspect="1"/>
          </p:cNvPicPr>
          <p:nvPr/>
        </p:nvPicPr>
        <p:blipFill>
          <a:blip r:embed="rId3"/>
          <a:srcRect/>
          <a:stretch/>
        </p:blipFill>
        <p:spPr>
          <a:xfrm>
            <a:off x="457200" y="1143000"/>
            <a:ext cx="7772400" cy="3017520"/>
          </a:xfrm>
          <a:prstGeom prst="rect">
            <a:avLst/>
          </a:prstGeom>
        </p:spPr>
      </p:pic>
      <p:sp>
        <p:nvSpPr>
          <p:cNvPr id="9" name="Shape 6"/>
          <p:cNvSpPr/>
          <p:nvPr/>
        </p:nvSpPr>
        <p:spPr>
          <a:xfrm>
            <a:off x="8412480" y="1143000"/>
            <a:ext cx="3291840" cy="3017520"/>
          </a:xfrm>
          <a:prstGeom prst="rect">
            <a:avLst/>
          </a:prstGeom>
          <a:solidFill>
            <a:srgbClr val="FFFFFF"/>
          </a:solidFill>
          <a:ln w="9525">
            <a:solidFill>
              <a:srgbClr val="DDE3EC"/>
            </a:solidFill>
            <a:prstDash val="solid"/>
          </a:ln>
        </p:spPr>
        <p:txBody>
          <a:bodyPr/>
          <a:lstStyle/>
          <a:p>
            <a:endParaRPr lang="en-US"/>
          </a:p>
        </p:txBody>
      </p:sp>
      <p:sp>
        <p:nvSpPr>
          <p:cNvPr id="10" name="Shape 7"/>
          <p:cNvSpPr/>
          <p:nvPr/>
        </p:nvSpPr>
        <p:spPr>
          <a:xfrm>
            <a:off x="8412480" y="1143000"/>
            <a:ext cx="73152" cy="3017520"/>
          </a:xfrm>
          <a:prstGeom prst="rect">
            <a:avLst/>
          </a:prstGeom>
          <a:solidFill>
            <a:srgbClr val="1B7F8C"/>
          </a:solidFill>
          <a:ln w="12700">
            <a:solidFill>
              <a:srgbClr val="1B7F8C"/>
            </a:solidFill>
            <a:prstDash val="solid"/>
          </a:ln>
        </p:spPr>
        <p:txBody>
          <a:bodyPr/>
          <a:lstStyle/>
          <a:p>
            <a:endParaRPr lang="en-US"/>
          </a:p>
        </p:txBody>
      </p:sp>
      <p:sp>
        <p:nvSpPr>
          <p:cNvPr id="11" name="Text 8"/>
          <p:cNvSpPr/>
          <p:nvPr/>
        </p:nvSpPr>
        <p:spPr>
          <a:xfrm>
            <a:off x="8595360" y="1207008"/>
            <a:ext cx="30175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Observations</a:t>
            </a:r>
            <a:endParaRPr lang="en-US" sz="1300" dirty="0"/>
          </a:p>
        </p:txBody>
      </p:sp>
      <p:sp>
        <p:nvSpPr>
          <p:cNvPr id="12" name="Text 9"/>
          <p:cNvSpPr/>
          <p:nvPr/>
        </p:nvSpPr>
        <p:spPr>
          <a:xfrm>
            <a:off x="8595360" y="1554480"/>
            <a:ext cx="3017520" cy="1280160"/>
          </a:xfrm>
          <a:prstGeom prst="rect">
            <a:avLst/>
          </a:prstGeom>
          <a:noFill/>
          <a:ln/>
        </p:spPr>
        <p:txBody>
          <a:bodyPr wrap="square" rtlCol="0" anchor="ctr"/>
          <a:lstStyle/>
          <a:p>
            <a:pPr marL="342900" indent="-342900">
              <a:spcAft>
                <a:spcPts val="300"/>
              </a:spcAft>
              <a:buSzPct val="100000"/>
              <a:buChar char="•"/>
            </a:pPr>
            <a:r>
              <a:rPr lang="en-US" sz="1100" dirty="0">
                <a:solidFill>
                  <a:srgbClr val="1A2238"/>
                </a:solidFill>
                <a:latin typeface="Calibri" pitchFamily="34" charset="0"/>
                <a:ea typeface="Calibri" pitchFamily="34" charset="-122"/>
                <a:cs typeface="Calibri" pitchFamily="34" charset="-120"/>
              </a:rPr>
              <a:t>Heavy right-skewed distribution</a:t>
            </a:r>
            <a:endParaRPr lang="en-US" sz="1100" dirty="0"/>
          </a:p>
          <a:p>
            <a:pPr marL="342900" indent="-342900">
              <a:spcAft>
                <a:spcPts val="300"/>
              </a:spcAft>
              <a:buSzPct val="100000"/>
              <a:buChar char="•"/>
            </a:pPr>
            <a:r>
              <a:rPr lang="en-US" sz="1100" dirty="0">
                <a:solidFill>
                  <a:srgbClr val="1A2238"/>
                </a:solidFill>
                <a:latin typeface="Calibri" pitchFamily="34" charset="0"/>
                <a:ea typeface="Calibri" pitchFamily="34" charset="-122"/>
                <a:cs typeface="Calibri" pitchFamily="34" charset="-120"/>
              </a:rPr>
              <a:t>Most genes have variance &lt; 5</a:t>
            </a:r>
            <a:endParaRPr lang="en-US" sz="1100" dirty="0"/>
          </a:p>
          <a:p>
            <a:pPr marL="342900" indent="-342900">
              <a:spcAft>
                <a:spcPts val="300"/>
              </a:spcAft>
              <a:buSzPct val="100000"/>
              <a:buChar char="•"/>
            </a:pPr>
            <a:r>
              <a:rPr lang="en-US" sz="1100" dirty="0">
                <a:solidFill>
                  <a:srgbClr val="1A2238"/>
                </a:solidFill>
                <a:latin typeface="Calibri" pitchFamily="34" charset="0"/>
                <a:ea typeface="Calibri" pitchFamily="34" charset="-122"/>
                <a:cs typeface="Calibri" pitchFamily="34" charset="-120"/>
              </a:rPr>
              <a:t>A long tail of highly variable genes</a:t>
            </a:r>
            <a:endParaRPr lang="en-US" sz="1100" dirty="0"/>
          </a:p>
          <a:p>
            <a:pPr marL="342900" indent="-342900">
              <a:spcAft>
                <a:spcPts val="300"/>
              </a:spcAft>
              <a:buSzPct val="100000"/>
              <a:buChar char="•"/>
            </a:pPr>
            <a:r>
              <a:rPr lang="en-US" sz="1100" dirty="0">
                <a:solidFill>
                  <a:srgbClr val="1A2238"/>
                </a:solidFill>
                <a:latin typeface="Calibri" pitchFamily="34" charset="0"/>
                <a:ea typeface="Calibri" pitchFamily="34" charset="-122"/>
                <a:cs typeface="Calibri" pitchFamily="34" charset="-120"/>
              </a:rPr>
              <a:t>Top 300 cutoff at variance ≈ 15</a:t>
            </a:r>
            <a:endParaRPr lang="en-US" sz="1100" dirty="0"/>
          </a:p>
        </p:txBody>
      </p:sp>
      <p:sp>
        <p:nvSpPr>
          <p:cNvPr id="13" name="Text 10"/>
          <p:cNvSpPr/>
          <p:nvPr/>
        </p:nvSpPr>
        <p:spPr>
          <a:xfrm>
            <a:off x="8595360" y="2788920"/>
            <a:ext cx="30175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Top variable genes</a:t>
            </a:r>
            <a:endParaRPr lang="en-US" sz="1300" dirty="0"/>
          </a:p>
        </p:txBody>
      </p:sp>
      <p:sp>
        <p:nvSpPr>
          <p:cNvPr id="14" name="Text 11"/>
          <p:cNvSpPr/>
          <p:nvPr/>
        </p:nvSpPr>
        <p:spPr>
          <a:xfrm>
            <a:off x="8595360" y="3108960"/>
            <a:ext cx="3017520" cy="1005840"/>
          </a:xfrm>
          <a:prstGeom prst="rect">
            <a:avLst/>
          </a:prstGeom>
          <a:noFill/>
          <a:ln/>
        </p:spPr>
        <p:txBody>
          <a:bodyPr wrap="square" rtlCol="0" anchor="ctr"/>
          <a:lstStyle/>
          <a:p>
            <a:pPr marL="342900" indent="-342900">
              <a:spcAft>
                <a:spcPts val="300"/>
              </a:spcAft>
              <a:buSzPct val="100000"/>
              <a:buChar char="•"/>
            </a:pPr>
            <a:r>
              <a:rPr lang="en-US" sz="1100" dirty="0">
                <a:solidFill>
                  <a:srgbClr val="1A2238"/>
                </a:solidFill>
                <a:latin typeface="Calibri" pitchFamily="34" charset="0"/>
                <a:ea typeface="Calibri" pitchFamily="34" charset="-122"/>
                <a:cs typeface="Calibri" pitchFamily="34" charset="-120"/>
              </a:rPr>
              <a:t>Keratins (KRT5/6A/14/19): epithelial markers</a:t>
            </a:r>
            <a:endParaRPr lang="en-US" sz="1100" dirty="0"/>
          </a:p>
          <a:p>
            <a:pPr marL="342900" indent="-342900">
              <a:spcAft>
                <a:spcPts val="300"/>
              </a:spcAft>
              <a:buSzPct val="100000"/>
              <a:buChar char="•"/>
            </a:pPr>
            <a:r>
              <a:rPr lang="en-US" sz="1100" dirty="0">
                <a:solidFill>
                  <a:srgbClr val="1A2238"/>
                </a:solidFill>
                <a:latin typeface="Calibri" pitchFamily="34" charset="0"/>
                <a:ea typeface="Calibri" pitchFamily="34" charset="-122"/>
                <a:cs typeface="Calibri" pitchFamily="34" charset="-120"/>
              </a:rPr>
              <a:t>CEACAM5/6: GI-tract tumor markers</a:t>
            </a:r>
            <a:endParaRPr lang="en-US" sz="1100" dirty="0"/>
          </a:p>
          <a:p>
            <a:pPr marL="342900" indent="-342900">
              <a:spcAft>
                <a:spcPts val="300"/>
              </a:spcAft>
              <a:buSzPct val="100000"/>
              <a:buChar char="•"/>
            </a:pPr>
            <a:r>
              <a:rPr lang="en-US" sz="1100" dirty="0">
                <a:solidFill>
                  <a:srgbClr val="1A2238"/>
                </a:solidFill>
                <a:latin typeface="Calibri" pitchFamily="34" charset="0"/>
                <a:ea typeface="Calibri" pitchFamily="34" charset="-122"/>
                <a:cs typeface="Calibri" pitchFamily="34" charset="-120"/>
              </a:rPr>
              <a:t>XIST/RPS4Y1: sex-chromosome genes</a:t>
            </a:r>
            <a:endParaRPr lang="en-US" sz="1100" dirty="0"/>
          </a:p>
        </p:txBody>
      </p:sp>
      <p:sp>
        <p:nvSpPr>
          <p:cNvPr id="15" name="Shape 12"/>
          <p:cNvSpPr/>
          <p:nvPr/>
        </p:nvSpPr>
        <p:spPr>
          <a:xfrm>
            <a:off x="457200" y="4343400"/>
            <a:ext cx="11247120" cy="1965960"/>
          </a:xfrm>
          <a:prstGeom prst="rect">
            <a:avLst/>
          </a:prstGeom>
          <a:solidFill>
            <a:srgbClr val="0B2545"/>
          </a:solidFill>
          <a:ln w="12700">
            <a:solidFill>
              <a:srgbClr val="0B2545"/>
            </a:solidFill>
            <a:prstDash val="solid"/>
          </a:ln>
        </p:spPr>
        <p:txBody>
          <a:bodyPr/>
          <a:lstStyle/>
          <a:p>
            <a:endParaRPr lang="en-US"/>
          </a:p>
        </p:txBody>
      </p:sp>
      <p:sp>
        <p:nvSpPr>
          <p:cNvPr id="16" name="Shape 13"/>
          <p:cNvSpPr/>
          <p:nvPr/>
        </p:nvSpPr>
        <p:spPr>
          <a:xfrm>
            <a:off x="457200" y="4343400"/>
            <a:ext cx="73152" cy="1965960"/>
          </a:xfrm>
          <a:prstGeom prst="rect">
            <a:avLst/>
          </a:prstGeom>
          <a:solidFill>
            <a:srgbClr val="EE964B"/>
          </a:solidFill>
          <a:ln w="12700">
            <a:solidFill>
              <a:srgbClr val="EE964B"/>
            </a:solidFill>
            <a:prstDash val="solid"/>
          </a:ln>
        </p:spPr>
        <p:txBody>
          <a:bodyPr/>
          <a:lstStyle/>
          <a:p>
            <a:endParaRPr lang="en-US"/>
          </a:p>
        </p:txBody>
      </p:sp>
      <p:sp>
        <p:nvSpPr>
          <p:cNvPr id="17" name="Text 14"/>
          <p:cNvSpPr/>
          <p:nvPr/>
        </p:nvSpPr>
        <p:spPr>
          <a:xfrm>
            <a:off x="777240" y="4434840"/>
            <a:ext cx="10972800" cy="365760"/>
          </a:xfrm>
          <a:prstGeom prst="rect">
            <a:avLst/>
          </a:prstGeom>
          <a:noFill/>
          <a:ln/>
        </p:spPr>
        <p:txBody>
          <a:bodyPr wrap="square" rtlCol="0" anchor="ctr"/>
          <a:lstStyle/>
          <a:p>
            <a:pPr marL="0" indent="0">
              <a:buNone/>
            </a:pPr>
            <a:r>
              <a:rPr lang="en-US" sz="1400" b="1" dirty="0">
                <a:solidFill>
                  <a:srgbClr val="EE964B"/>
                </a:solidFill>
                <a:latin typeface="Calibri" pitchFamily="34" charset="0"/>
                <a:ea typeface="Calibri" pitchFamily="34" charset="-122"/>
                <a:cs typeface="Calibri" pitchFamily="34" charset="-120"/>
              </a:rPr>
              <a:t>Why this drives our pipeline</a:t>
            </a:r>
            <a:endParaRPr lang="en-US" sz="1400" dirty="0"/>
          </a:p>
        </p:txBody>
      </p:sp>
      <p:sp>
        <p:nvSpPr>
          <p:cNvPr id="18" name="Text 15"/>
          <p:cNvSpPr/>
          <p:nvPr/>
        </p:nvSpPr>
        <p:spPr>
          <a:xfrm>
            <a:off x="777240" y="4800600"/>
            <a:ext cx="10972800" cy="1508760"/>
          </a:xfrm>
          <a:prstGeom prst="rect">
            <a:avLst/>
          </a:prstGeom>
          <a:noFill/>
          <a:ln/>
        </p:spPr>
        <p:txBody>
          <a:bodyPr wrap="square" rtlCol="0" anchor="ctr"/>
          <a:lstStyle/>
          <a:p>
            <a:pPr marL="0" indent="0">
              <a:spcAft>
                <a:spcPts val="200"/>
              </a:spcAft>
              <a:buNone/>
            </a:pPr>
            <a:r>
              <a:rPr lang="en-US" sz="1200" b="1" dirty="0">
                <a:solidFill>
                  <a:srgbClr val="EE964B"/>
                </a:solidFill>
                <a:latin typeface="Calibri" pitchFamily="34" charset="0"/>
                <a:ea typeface="Calibri" pitchFamily="34" charset="-122"/>
                <a:cs typeface="Calibri" pitchFamily="34" charset="-120"/>
              </a:rPr>
              <a:t>Statistical: </a:t>
            </a:r>
            <a:r>
              <a:rPr lang="en-US" sz="1200" dirty="0">
                <a:solidFill>
                  <a:srgbClr val="FFFFFF"/>
                </a:solidFill>
                <a:latin typeface="Calibri" pitchFamily="34" charset="0"/>
                <a:ea typeface="Calibri" pitchFamily="34" charset="-122"/>
                <a:cs typeface="Calibri" pitchFamily="34" charset="-120"/>
              </a:rPr>
              <a:t>Genes with constant expression cannot separate cancer types ,they add no rank to X but do add coordinates the gradient must search.</a:t>
            </a:r>
            <a:endParaRPr lang="en-US" sz="1200" dirty="0"/>
          </a:p>
          <a:p>
            <a:pPr marL="0" indent="0">
              <a:spcAft>
                <a:spcPts val="200"/>
              </a:spcAft>
              <a:buNone/>
            </a:pPr>
            <a:endParaRPr lang="en-US" sz="1200" dirty="0"/>
          </a:p>
          <a:p>
            <a:pPr marL="0" indent="0">
              <a:spcAft>
                <a:spcPts val="200"/>
              </a:spcAft>
              <a:buNone/>
            </a:pPr>
            <a:r>
              <a:rPr lang="en-US" sz="1200" b="1" dirty="0">
                <a:solidFill>
                  <a:srgbClr val="EE964B"/>
                </a:solidFill>
                <a:latin typeface="Calibri" pitchFamily="34" charset="0"/>
                <a:ea typeface="Calibri" pitchFamily="34" charset="-122"/>
                <a:cs typeface="Calibri" pitchFamily="34" charset="-120"/>
              </a:rPr>
              <a:t>Biological: </a:t>
            </a:r>
            <a:r>
              <a:rPr lang="en-US" sz="1200" dirty="0">
                <a:solidFill>
                  <a:srgbClr val="FFFFFF"/>
                </a:solidFill>
                <a:latin typeface="Calibri" pitchFamily="34" charset="0"/>
                <a:ea typeface="Calibri" pitchFamily="34" charset="-122"/>
                <a:cs typeface="Calibri" pitchFamily="34" charset="-120"/>
              </a:rPr>
              <a:t>The top variable genes already correspond to known tissue-of-origin markers, keratins flag squamous tissues, CEACAM flags GI lineage, XIST flags female samples. The signal is real.</a:t>
            </a:r>
            <a:endParaRPr lang="en-US" sz="1200" dirty="0"/>
          </a:p>
          <a:p>
            <a:pPr marL="0" indent="0">
              <a:spcAft>
                <a:spcPts val="200"/>
              </a:spcAft>
              <a:buNone/>
            </a:pPr>
            <a:endParaRPr lang="en-US" sz="1200" dirty="0"/>
          </a:p>
          <a:p>
            <a:pPr marL="0" indent="0">
              <a:spcAft>
                <a:spcPts val="200"/>
              </a:spcAft>
              <a:buNone/>
            </a:pPr>
            <a:r>
              <a:rPr lang="en-US" sz="1200" b="1" dirty="0">
                <a:solidFill>
                  <a:srgbClr val="EE964B"/>
                </a:solidFill>
                <a:latin typeface="Calibri" pitchFamily="34" charset="0"/>
                <a:ea typeface="Calibri" pitchFamily="34" charset="-122"/>
                <a:cs typeface="Calibri" pitchFamily="34" charset="-120"/>
              </a:rPr>
              <a:t>Computational: </a:t>
            </a:r>
            <a:r>
              <a:rPr lang="en-US" sz="1200" dirty="0">
                <a:solidFill>
                  <a:srgbClr val="FFFFFF"/>
                </a:solidFill>
                <a:latin typeface="Calibri" pitchFamily="34" charset="0"/>
                <a:ea typeface="Calibri" pitchFamily="34" charset="-122"/>
                <a:cs typeface="Calibri" pitchFamily="34" charset="-120"/>
              </a:rPr>
              <a:t>Cutting from 60K to 20K genes shrinks training time roughly 3× and removes coordinates that only contribute noise to the optimizer.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EDA  Gene-Gene Correlation Heatmap</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Top 30 most variable genes — biology emerges as visible blocks.</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pic>
        <p:nvPicPr>
          <p:cNvPr id="8" name="Image 0" descr="/home/claude/images/02_correlation.png"/>
          <p:cNvPicPr>
            <a:picLocks noChangeAspect="1"/>
          </p:cNvPicPr>
          <p:nvPr/>
        </p:nvPicPr>
        <p:blipFill>
          <a:blip r:embed="rId3"/>
          <a:srcRect/>
          <a:stretch/>
        </p:blipFill>
        <p:spPr>
          <a:xfrm>
            <a:off x="457200" y="1143000"/>
            <a:ext cx="6126480" cy="5212080"/>
          </a:xfrm>
          <a:prstGeom prst="rect">
            <a:avLst/>
          </a:prstGeom>
        </p:spPr>
      </p:pic>
      <p:sp>
        <p:nvSpPr>
          <p:cNvPr id="9" name="Shape 6"/>
          <p:cNvSpPr/>
          <p:nvPr/>
        </p:nvSpPr>
        <p:spPr>
          <a:xfrm>
            <a:off x="6675120" y="1143000"/>
            <a:ext cx="5120640" cy="1243584"/>
          </a:xfrm>
          <a:prstGeom prst="rect">
            <a:avLst/>
          </a:prstGeom>
          <a:solidFill>
            <a:srgbClr val="FFFFFF"/>
          </a:solidFill>
          <a:ln w="9525">
            <a:solidFill>
              <a:srgbClr val="DDE3EC"/>
            </a:solidFill>
            <a:prstDash val="solid"/>
          </a:ln>
        </p:spPr>
        <p:txBody>
          <a:bodyPr/>
          <a:lstStyle/>
          <a:p>
            <a:endParaRPr lang="en-US"/>
          </a:p>
        </p:txBody>
      </p:sp>
      <p:sp>
        <p:nvSpPr>
          <p:cNvPr id="10" name="Shape 7"/>
          <p:cNvSpPr/>
          <p:nvPr/>
        </p:nvSpPr>
        <p:spPr>
          <a:xfrm>
            <a:off x="6675120" y="1143000"/>
            <a:ext cx="73152" cy="1243584"/>
          </a:xfrm>
          <a:prstGeom prst="rect">
            <a:avLst/>
          </a:prstGeom>
          <a:solidFill>
            <a:srgbClr val="EE964B"/>
          </a:solidFill>
          <a:ln w="12700">
            <a:solidFill>
              <a:srgbClr val="EE964B"/>
            </a:solidFill>
            <a:prstDash val="solid"/>
          </a:ln>
        </p:spPr>
        <p:txBody>
          <a:bodyPr/>
          <a:lstStyle/>
          <a:p>
            <a:endParaRPr lang="en-US"/>
          </a:p>
        </p:txBody>
      </p:sp>
      <p:sp>
        <p:nvSpPr>
          <p:cNvPr id="11" name="Text 8"/>
          <p:cNvSpPr/>
          <p:nvPr/>
        </p:nvSpPr>
        <p:spPr>
          <a:xfrm>
            <a:off x="6858000" y="1234440"/>
            <a:ext cx="484632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Y-chromosome cluster</a:t>
            </a:r>
            <a:endParaRPr lang="en-US" sz="1400" dirty="0"/>
          </a:p>
        </p:txBody>
      </p:sp>
      <p:sp>
        <p:nvSpPr>
          <p:cNvPr id="12" name="Text 9"/>
          <p:cNvSpPr/>
          <p:nvPr/>
        </p:nvSpPr>
        <p:spPr>
          <a:xfrm>
            <a:off x="6858000" y="1600200"/>
            <a:ext cx="4846320" cy="740664"/>
          </a:xfrm>
          <a:prstGeom prst="rect">
            <a:avLst/>
          </a:prstGeom>
          <a:noFill/>
          <a:ln/>
        </p:spPr>
        <p:txBody>
          <a:bodyPr wrap="square" lIns="0" tIns="0" rIns="0" bIns="0"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DDX3Y · KDM5D · RPS4Y1 co-cluster at r &gt; 0.97 — these are male-specific genes that move together perfectly.</a:t>
            </a:r>
            <a:endParaRPr lang="en-US" sz="1100" dirty="0"/>
          </a:p>
        </p:txBody>
      </p:sp>
      <p:sp>
        <p:nvSpPr>
          <p:cNvPr id="13" name="Shape 10"/>
          <p:cNvSpPr/>
          <p:nvPr/>
        </p:nvSpPr>
        <p:spPr>
          <a:xfrm>
            <a:off x="6675120" y="2450592"/>
            <a:ext cx="5120640" cy="1243584"/>
          </a:xfrm>
          <a:prstGeom prst="rect">
            <a:avLst/>
          </a:prstGeom>
          <a:solidFill>
            <a:srgbClr val="FFFFFF"/>
          </a:solidFill>
          <a:ln w="9525">
            <a:solidFill>
              <a:srgbClr val="DDE3EC"/>
            </a:solidFill>
            <a:prstDash val="solid"/>
          </a:ln>
        </p:spPr>
        <p:txBody>
          <a:bodyPr/>
          <a:lstStyle/>
          <a:p>
            <a:endParaRPr lang="en-US"/>
          </a:p>
        </p:txBody>
      </p:sp>
      <p:sp>
        <p:nvSpPr>
          <p:cNvPr id="14" name="Shape 11"/>
          <p:cNvSpPr/>
          <p:nvPr/>
        </p:nvSpPr>
        <p:spPr>
          <a:xfrm>
            <a:off x="6675120" y="2450592"/>
            <a:ext cx="73152" cy="1243584"/>
          </a:xfrm>
          <a:prstGeom prst="rect">
            <a:avLst/>
          </a:prstGeom>
          <a:solidFill>
            <a:srgbClr val="1B7F8C"/>
          </a:solidFill>
          <a:ln w="12700">
            <a:solidFill>
              <a:srgbClr val="1B7F8C"/>
            </a:solidFill>
            <a:prstDash val="solid"/>
          </a:ln>
        </p:spPr>
        <p:txBody>
          <a:bodyPr/>
          <a:lstStyle/>
          <a:p>
            <a:endParaRPr lang="en-US"/>
          </a:p>
        </p:txBody>
      </p:sp>
      <p:sp>
        <p:nvSpPr>
          <p:cNvPr id="15" name="Text 12"/>
          <p:cNvSpPr/>
          <p:nvPr/>
        </p:nvSpPr>
        <p:spPr>
          <a:xfrm>
            <a:off x="6858000" y="2542032"/>
            <a:ext cx="484632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XIST anti-correlation</a:t>
            </a:r>
            <a:endParaRPr lang="en-US" sz="1400" dirty="0"/>
          </a:p>
        </p:txBody>
      </p:sp>
      <p:sp>
        <p:nvSpPr>
          <p:cNvPr id="16" name="Text 13"/>
          <p:cNvSpPr/>
          <p:nvPr/>
        </p:nvSpPr>
        <p:spPr>
          <a:xfrm>
            <a:off x="6858000" y="2907792"/>
            <a:ext cx="4846320" cy="740664"/>
          </a:xfrm>
          <a:prstGeom prst="rect">
            <a:avLst/>
          </a:prstGeom>
          <a:noFill/>
          <a:ln/>
        </p:spPr>
        <p:txBody>
          <a:bodyPr wrap="square" lIns="0" tIns="0" rIns="0" bIns="0"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XIST flips negative against the Y-cluster: female samples express it, males don't — a clean biological dichotomy.</a:t>
            </a:r>
            <a:endParaRPr lang="en-US" sz="1100" dirty="0"/>
          </a:p>
        </p:txBody>
      </p:sp>
      <p:sp>
        <p:nvSpPr>
          <p:cNvPr id="17" name="Shape 14"/>
          <p:cNvSpPr/>
          <p:nvPr/>
        </p:nvSpPr>
        <p:spPr>
          <a:xfrm>
            <a:off x="6675120" y="3758184"/>
            <a:ext cx="5120640" cy="1243584"/>
          </a:xfrm>
          <a:prstGeom prst="rect">
            <a:avLst/>
          </a:prstGeom>
          <a:solidFill>
            <a:srgbClr val="FFFFFF"/>
          </a:solidFill>
          <a:ln w="9525">
            <a:solidFill>
              <a:srgbClr val="DDE3EC"/>
            </a:solidFill>
            <a:prstDash val="solid"/>
          </a:ln>
        </p:spPr>
        <p:txBody>
          <a:bodyPr/>
          <a:lstStyle/>
          <a:p>
            <a:endParaRPr lang="en-US"/>
          </a:p>
        </p:txBody>
      </p:sp>
      <p:sp>
        <p:nvSpPr>
          <p:cNvPr id="18" name="Shape 15"/>
          <p:cNvSpPr/>
          <p:nvPr/>
        </p:nvSpPr>
        <p:spPr>
          <a:xfrm>
            <a:off x="6675120" y="3758184"/>
            <a:ext cx="73152" cy="1243584"/>
          </a:xfrm>
          <a:prstGeom prst="rect">
            <a:avLst/>
          </a:prstGeom>
          <a:solidFill>
            <a:srgbClr val="C03221"/>
          </a:solidFill>
          <a:ln w="12700">
            <a:solidFill>
              <a:srgbClr val="C03221"/>
            </a:solidFill>
            <a:prstDash val="solid"/>
          </a:ln>
        </p:spPr>
        <p:txBody>
          <a:bodyPr/>
          <a:lstStyle/>
          <a:p>
            <a:endParaRPr lang="en-US"/>
          </a:p>
        </p:txBody>
      </p:sp>
      <p:sp>
        <p:nvSpPr>
          <p:cNvPr id="19" name="Text 16"/>
          <p:cNvSpPr/>
          <p:nvPr/>
        </p:nvSpPr>
        <p:spPr>
          <a:xfrm>
            <a:off x="6858000" y="3849624"/>
            <a:ext cx="484632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Keratin block</a:t>
            </a:r>
            <a:endParaRPr lang="en-US" sz="1400" dirty="0"/>
          </a:p>
        </p:txBody>
      </p:sp>
      <p:sp>
        <p:nvSpPr>
          <p:cNvPr id="20" name="Text 17"/>
          <p:cNvSpPr/>
          <p:nvPr/>
        </p:nvSpPr>
        <p:spPr>
          <a:xfrm>
            <a:off x="6858000" y="4215384"/>
            <a:ext cx="4846320" cy="740664"/>
          </a:xfrm>
          <a:prstGeom prst="rect">
            <a:avLst/>
          </a:prstGeom>
          <a:noFill/>
          <a:ln/>
        </p:spPr>
        <p:txBody>
          <a:bodyPr wrap="square" lIns="0" tIns="0" rIns="0" bIns="0"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KRT5/6A/13/14 form a positively correlated module — squamous epithelial signature shared across head&amp;neck, lung-SCC, esophageal cancers.</a:t>
            </a:r>
            <a:endParaRPr lang="en-US" sz="1100" dirty="0"/>
          </a:p>
        </p:txBody>
      </p:sp>
      <p:sp>
        <p:nvSpPr>
          <p:cNvPr id="21" name="Shape 18"/>
          <p:cNvSpPr/>
          <p:nvPr/>
        </p:nvSpPr>
        <p:spPr>
          <a:xfrm>
            <a:off x="6675120" y="5065776"/>
            <a:ext cx="5120640" cy="1243584"/>
          </a:xfrm>
          <a:prstGeom prst="rect">
            <a:avLst/>
          </a:prstGeom>
          <a:solidFill>
            <a:srgbClr val="FFFFFF"/>
          </a:solidFill>
          <a:ln w="9525">
            <a:solidFill>
              <a:srgbClr val="DDE3EC"/>
            </a:solidFill>
            <a:prstDash val="solid"/>
          </a:ln>
        </p:spPr>
        <p:txBody>
          <a:bodyPr/>
          <a:lstStyle/>
          <a:p>
            <a:endParaRPr lang="en-US"/>
          </a:p>
        </p:txBody>
      </p:sp>
      <p:sp>
        <p:nvSpPr>
          <p:cNvPr id="22" name="Shape 19"/>
          <p:cNvSpPr/>
          <p:nvPr/>
        </p:nvSpPr>
        <p:spPr>
          <a:xfrm>
            <a:off x="6675120" y="5065776"/>
            <a:ext cx="73152" cy="1243584"/>
          </a:xfrm>
          <a:prstGeom prst="rect">
            <a:avLst/>
          </a:prstGeom>
          <a:solidFill>
            <a:srgbClr val="0B2545"/>
          </a:solidFill>
          <a:ln w="12700">
            <a:solidFill>
              <a:srgbClr val="0B2545"/>
            </a:solidFill>
            <a:prstDash val="solid"/>
          </a:ln>
        </p:spPr>
        <p:txBody>
          <a:bodyPr/>
          <a:lstStyle/>
          <a:p>
            <a:endParaRPr lang="en-US"/>
          </a:p>
        </p:txBody>
      </p:sp>
      <p:sp>
        <p:nvSpPr>
          <p:cNvPr id="23" name="Text 20"/>
          <p:cNvSpPr/>
          <p:nvPr/>
        </p:nvSpPr>
        <p:spPr>
          <a:xfrm>
            <a:off x="6858000" y="5157216"/>
            <a:ext cx="484632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GI block</a:t>
            </a:r>
            <a:endParaRPr lang="en-US" sz="1400" dirty="0"/>
          </a:p>
        </p:txBody>
      </p:sp>
      <p:sp>
        <p:nvSpPr>
          <p:cNvPr id="24" name="Text 21"/>
          <p:cNvSpPr/>
          <p:nvPr/>
        </p:nvSpPr>
        <p:spPr>
          <a:xfrm>
            <a:off x="6858000" y="5522976"/>
            <a:ext cx="4846320" cy="740664"/>
          </a:xfrm>
          <a:prstGeom prst="rect">
            <a:avLst/>
          </a:prstGeom>
          <a:noFill/>
          <a:ln/>
        </p:spPr>
        <p:txBody>
          <a:bodyPr wrap="square" lIns="0" tIns="0" rIns="0" bIns="0"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CEACAM5/6, AGR2, FXYD3, MUC13 cluster together — luminal GI tract identity (colon, stomach, pancreas).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EDA — PCA Eigenvalues &amp; Cumulative Variance</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There is no single dominant axis — the data is genuinely high-dimensional.</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pic>
        <p:nvPicPr>
          <p:cNvPr id="8" name="Image 0" descr="/home/claude/images/03_eigenvalues.png"/>
          <p:cNvPicPr>
            <a:picLocks noChangeAspect="1"/>
          </p:cNvPicPr>
          <p:nvPr/>
        </p:nvPicPr>
        <p:blipFill>
          <a:blip r:embed="rId3"/>
          <a:srcRect/>
          <a:stretch/>
        </p:blipFill>
        <p:spPr>
          <a:xfrm>
            <a:off x="457200" y="1143000"/>
            <a:ext cx="7955280" cy="3200400"/>
          </a:xfrm>
          <a:prstGeom prst="rect">
            <a:avLst/>
          </a:prstGeom>
        </p:spPr>
      </p:pic>
      <p:sp>
        <p:nvSpPr>
          <p:cNvPr id="9" name="Shape 6"/>
          <p:cNvSpPr/>
          <p:nvPr/>
        </p:nvSpPr>
        <p:spPr>
          <a:xfrm>
            <a:off x="8595360" y="1143000"/>
            <a:ext cx="3108960" cy="3200400"/>
          </a:xfrm>
          <a:prstGeom prst="rect">
            <a:avLst/>
          </a:prstGeom>
          <a:solidFill>
            <a:srgbClr val="0B2545"/>
          </a:solidFill>
          <a:ln w="12700">
            <a:solidFill>
              <a:srgbClr val="0B2545"/>
            </a:solidFill>
            <a:prstDash val="solid"/>
          </a:ln>
        </p:spPr>
        <p:txBody>
          <a:bodyPr/>
          <a:lstStyle/>
          <a:p>
            <a:endParaRPr lang="en-US"/>
          </a:p>
        </p:txBody>
      </p:sp>
      <p:sp>
        <p:nvSpPr>
          <p:cNvPr id="10" name="Shape 7"/>
          <p:cNvSpPr/>
          <p:nvPr/>
        </p:nvSpPr>
        <p:spPr>
          <a:xfrm>
            <a:off x="8595360" y="1143000"/>
            <a:ext cx="73152" cy="3200400"/>
          </a:xfrm>
          <a:prstGeom prst="rect">
            <a:avLst/>
          </a:prstGeom>
          <a:solidFill>
            <a:srgbClr val="EE964B"/>
          </a:solidFill>
          <a:ln w="12700">
            <a:solidFill>
              <a:srgbClr val="EE964B"/>
            </a:solidFill>
            <a:prstDash val="solid"/>
          </a:ln>
        </p:spPr>
        <p:txBody>
          <a:bodyPr/>
          <a:lstStyle/>
          <a:p>
            <a:endParaRPr lang="en-US"/>
          </a:p>
        </p:txBody>
      </p:sp>
      <p:sp>
        <p:nvSpPr>
          <p:cNvPr id="11" name="Text 8"/>
          <p:cNvSpPr/>
          <p:nvPr/>
        </p:nvSpPr>
        <p:spPr>
          <a:xfrm>
            <a:off x="8732520" y="1234440"/>
            <a:ext cx="2926080" cy="320040"/>
          </a:xfrm>
          <a:prstGeom prst="rect">
            <a:avLst/>
          </a:prstGeom>
          <a:noFill/>
          <a:ln/>
        </p:spPr>
        <p:txBody>
          <a:bodyPr wrap="square" rtlCol="0" anchor="ctr"/>
          <a:lstStyle/>
          <a:p>
            <a:pPr marL="0" indent="0">
              <a:buNone/>
            </a:pPr>
            <a:r>
              <a:rPr lang="en-US" sz="1300" b="1" dirty="0">
                <a:solidFill>
                  <a:srgbClr val="EE964B"/>
                </a:solidFill>
                <a:latin typeface="Calibri" pitchFamily="34" charset="0"/>
                <a:ea typeface="Calibri" pitchFamily="34" charset="-122"/>
                <a:cs typeface="Calibri" pitchFamily="34" charset="-120"/>
              </a:rPr>
              <a:t>Reading the scree plot</a:t>
            </a:r>
            <a:endParaRPr lang="en-US" sz="1300" dirty="0"/>
          </a:p>
        </p:txBody>
      </p:sp>
      <p:sp>
        <p:nvSpPr>
          <p:cNvPr id="12" name="Text 9"/>
          <p:cNvSpPr/>
          <p:nvPr/>
        </p:nvSpPr>
        <p:spPr>
          <a:xfrm>
            <a:off x="8732520" y="1554480"/>
            <a:ext cx="2926080" cy="2743200"/>
          </a:xfrm>
          <a:prstGeom prst="rect">
            <a:avLst/>
          </a:prstGeom>
          <a:noFill/>
          <a:ln/>
        </p:spPr>
        <p:txBody>
          <a:bodyPr wrap="square" rtlCol="0" anchor="ctr"/>
          <a:lstStyle/>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PC1 dominates (λ ≈ 84) — broad tumor identity</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Sharp elbow after PC3</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Many components &gt; 1 (Kaiser line)</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Need PC48 to reach 90 % variance</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Need ~51 PCs for 80 %</a:t>
            </a:r>
            <a:endParaRPr lang="en-US" sz="1100" dirty="0"/>
          </a:p>
        </p:txBody>
      </p:sp>
      <p:sp>
        <p:nvSpPr>
          <p:cNvPr id="13" name="Shape 10"/>
          <p:cNvSpPr/>
          <p:nvPr/>
        </p:nvSpPr>
        <p:spPr>
          <a:xfrm>
            <a:off x="457200" y="4480560"/>
            <a:ext cx="3627120" cy="1828800"/>
          </a:xfrm>
          <a:prstGeom prst="rect">
            <a:avLst/>
          </a:prstGeom>
          <a:solidFill>
            <a:srgbClr val="FFFFFF"/>
          </a:solidFill>
          <a:ln w="9525">
            <a:solidFill>
              <a:srgbClr val="DDE3EC"/>
            </a:solidFill>
            <a:prstDash val="solid"/>
          </a:ln>
        </p:spPr>
        <p:txBody>
          <a:bodyPr/>
          <a:lstStyle/>
          <a:p>
            <a:endParaRPr lang="en-US"/>
          </a:p>
        </p:txBody>
      </p:sp>
      <p:sp>
        <p:nvSpPr>
          <p:cNvPr id="14" name="Shape 11"/>
          <p:cNvSpPr/>
          <p:nvPr/>
        </p:nvSpPr>
        <p:spPr>
          <a:xfrm>
            <a:off x="457200" y="6236208"/>
            <a:ext cx="3627120" cy="73152"/>
          </a:xfrm>
          <a:prstGeom prst="rect">
            <a:avLst/>
          </a:prstGeom>
          <a:solidFill>
            <a:srgbClr val="1B7F8C"/>
          </a:solidFill>
          <a:ln w="12700">
            <a:solidFill>
              <a:srgbClr val="1B7F8C"/>
            </a:solidFill>
            <a:prstDash val="solid"/>
          </a:ln>
        </p:spPr>
        <p:txBody>
          <a:bodyPr/>
          <a:lstStyle/>
          <a:p>
            <a:endParaRPr lang="en-US"/>
          </a:p>
        </p:txBody>
      </p:sp>
      <p:sp>
        <p:nvSpPr>
          <p:cNvPr id="15" name="Text 12"/>
          <p:cNvSpPr/>
          <p:nvPr/>
        </p:nvSpPr>
        <p:spPr>
          <a:xfrm>
            <a:off x="457200" y="4663440"/>
            <a:ext cx="3627120" cy="777240"/>
          </a:xfrm>
          <a:prstGeom prst="rect">
            <a:avLst/>
          </a:prstGeom>
          <a:noFill/>
          <a:ln/>
        </p:spPr>
        <p:txBody>
          <a:bodyPr wrap="square" lIns="0" tIns="0" rIns="0" bIns="0" rtlCol="0" anchor="ctr"/>
          <a:lstStyle/>
          <a:p>
            <a:pPr marL="0" indent="0" algn="ctr">
              <a:buNone/>
            </a:pPr>
            <a:r>
              <a:rPr lang="en-US" sz="4400" b="1" dirty="0">
                <a:solidFill>
                  <a:srgbClr val="1B7F8C"/>
                </a:solidFill>
                <a:latin typeface="Calibri" pitchFamily="34" charset="0"/>
                <a:ea typeface="Calibri" pitchFamily="34" charset="-122"/>
                <a:cs typeface="Calibri" pitchFamily="34" charset="-120"/>
              </a:rPr>
              <a:t>27.9 %</a:t>
            </a:r>
            <a:endParaRPr lang="en-US" sz="4400" dirty="0"/>
          </a:p>
        </p:txBody>
      </p:sp>
      <p:sp>
        <p:nvSpPr>
          <p:cNvPr id="16" name="Text 13"/>
          <p:cNvSpPr/>
          <p:nvPr/>
        </p:nvSpPr>
        <p:spPr>
          <a:xfrm>
            <a:off x="457200" y="5440680"/>
            <a:ext cx="3627120" cy="36576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PC1 alone</a:t>
            </a:r>
            <a:endParaRPr lang="en-US" sz="1400" dirty="0"/>
          </a:p>
        </p:txBody>
      </p:sp>
      <p:sp>
        <p:nvSpPr>
          <p:cNvPr id="17" name="Text 14"/>
          <p:cNvSpPr/>
          <p:nvPr/>
        </p:nvSpPr>
        <p:spPr>
          <a:xfrm>
            <a:off x="640080" y="5806440"/>
            <a:ext cx="3261360" cy="411480"/>
          </a:xfrm>
          <a:prstGeom prst="rect">
            <a:avLst/>
          </a:prstGeom>
          <a:noFill/>
          <a:ln/>
        </p:spPr>
        <p:txBody>
          <a:bodyPr wrap="square" lIns="0" tIns="0" rIns="0" bIns="0" rtlCol="0" anchor="ctr"/>
          <a:lstStyle/>
          <a:p>
            <a:pPr marL="0" indent="0" algn="ctr">
              <a:buNone/>
            </a:pPr>
            <a:r>
              <a:rPr lang="en-US" sz="1100" i="1" dirty="0">
                <a:solidFill>
                  <a:srgbClr val="5C6B82"/>
                </a:solidFill>
                <a:latin typeface="Calibri" pitchFamily="34" charset="0"/>
                <a:ea typeface="Calibri" pitchFamily="34" charset="-122"/>
                <a:cs typeface="Calibri" pitchFamily="34" charset="-120"/>
              </a:rPr>
              <a:t>Tumor vs normal separation</a:t>
            </a:r>
            <a:endParaRPr lang="en-US" sz="1100" dirty="0"/>
          </a:p>
        </p:txBody>
      </p:sp>
      <p:sp>
        <p:nvSpPr>
          <p:cNvPr id="18" name="Shape 15"/>
          <p:cNvSpPr/>
          <p:nvPr/>
        </p:nvSpPr>
        <p:spPr>
          <a:xfrm>
            <a:off x="4267200" y="4480560"/>
            <a:ext cx="3627120" cy="1828800"/>
          </a:xfrm>
          <a:prstGeom prst="rect">
            <a:avLst/>
          </a:prstGeom>
          <a:solidFill>
            <a:srgbClr val="FFFFFF"/>
          </a:solidFill>
          <a:ln w="9525">
            <a:solidFill>
              <a:srgbClr val="DDE3EC"/>
            </a:solidFill>
            <a:prstDash val="solid"/>
          </a:ln>
        </p:spPr>
        <p:txBody>
          <a:bodyPr/>
          <a:lstStyle/>
          <a:p>
            <a:endParaRPr lang="en-US"/>
          </a:p>
        </p:txBody>
      </p:sp>
      <p:sp>
        <p:nvSpPr>
          <p:cNvPr id="19" name="Shape 16"/>
          <p:cNvSpPr/>
          <p:nvPr/>
        </p:nvSpPr>
        <p:spPr>
          <a:xfrm>
            <a:off x="4267200" y="6236208"/>
            <a:ext cx="3627120" cy="73152"/>
          </a:xfrm>
          <a:prstGeom prst="rect">
            <a:avLst/>
          </a:prstGeom>
          <a:solidFill>
            <a:srgbClr val="1B7F8C"/>
          </a:solidFill>
          <a:ln w="12700">
            <a:solidFill>
              <a:srgbClr val="1B7F8C"/>
            </a:solidFill>
            <a:prstDash val="solid"/>
          </a:ln>
        </p:spPr>
        <p:txBody>
          <a:bodyPr/>
          <a:lstStyle/>
          <a:p>
            <a:endParaRPr lang="en-US"/>
          </a:p>
        </p:txBody>
      </p:sp>
      <p:sp>
        <p:nvSpPr>
          <p:cNvPr id="20" name="Text 17"/>
          <p:cNvSpPr/>
          <p:nvPr/>
        </p:nvSpPr>
        <p:spPr>
          <a:xfrm>
            <a:off x="4267200" y="4663440"/>
            <a:ext cx="3627120" cy="777240"/>
          </a:xfrm>
          <a:prstGeom prst="rect">
            <a:avLst/>
          </a:prstGeom>
          <a:noFill/>
          <a:ln/>
        </p:spPr>
        <p:txBody>
          <a:bodyPr wrap="square" lIns="0" tIns="0" rIns="0" bIns="0" rtlCol="0" anchor="ctr"/>
          <a:lstStyle/>
          <a:p>
            <a:pPr marL="0" indent="0" algn="ctr">
              <a:buNone/>
            </a:pPr>
            <a:r>
              <a:rPr lang="en-US" sz="4400" b="1" dirty="0">
                <a:solidFill>
                  <a:srgbClr val="1B7F8C"/>
                </a:solidFill>
                <a:latin typeface="Calibri" pitchFamily="34" charset="0"/>
                <a:ea typeface="Calibri" pitchFamily="34" charset="-122"/>
                <a:cs typeface="Calibri" pitchFamily="34" charset="-120"/>
              </a:rPr>
              <a:t>42.9 %</a:t>
            </a:r>
            <a:endParaRPr lang="en-US" sz="4400" dirty="0"/>
          </a:p>
        </p:txBody>
      </p:sp>
      <p:sp>
        <p:nvSpPr>
          <p:cNvPr id="21" name="Text 18"/>
          <p:cNvSpPr/>
          <p:nvPr/>
        </p:nvSpPr>
        <p:spPr>
          <a:xfrm>
            <a:off x="4267200" y="5440680"/>
            <a:ext cx="3627120" cy="36576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First two PCs</a:t>
            </a:r>
            <a:endParaRPr lang="en-US" sz="1400" dirty="0"/>
          </a:p>
        </p:txBody>
      </p:sp>
      <p:sp>
        <p:nvSpPr>
          <p:cNvPr id="22" name="Text 19"/>
          <p:cNvSpPr/>
          <p:nvPr/>
        </p:nvSpPr>
        <p:spPr>
          <a:xfrm>
            <a:off x="4450080" y="5806440"/>
            <a:ext cx="3261360" cy="411480"/>
          </a:xfrm>
          <a:prstGeom prst="rect">
            <a:avLst/>
          </a:prstGeom>
          <a:noFill/>
          <a:ln/>
        </p:spPr>
        <p:txBody>
          <a:bodyPr wrap="square" lIns="0" tIns="0" rIns="0" bIns="0" rtlCol="0" anchor="ctr"/>
          <a:lstStyle/>
          <a:p>
            <a:pPr marL="0" indent="0" algn="ctr">
              <a:buNone/>
            </a:pPr>
            <a:r>
              <a:rPr lang="en-US" sz="1100" i="1" dirty="0">
                <a:solidFill>
                  <a:srgbClr val="5C6B82"/>
                </a:solidFill>
                <a:latin typeface="Calibri" pitchFamily="34" charset="0"/>
                <a:ea typeface="Calibri" pitchFamily="34" charset="-122"/>
                <a:cs typeface="Calibri" pitchFamily="34" charset="-120"/>
              </a:rPr>
              <a:t>Tissue-of-origin axis</a:t>
            </a:r>
            <a:endParaRPr lang="en-US" sz="1100" dirty="0"/>
          </a:p>
        </p:txBody>
      </p:sp>
      <p:sp>
        <p:nvSpPr>
          <p:cNvPr id="23" name="Shape 20"/>
          <p:cNvSpPr/>
          <p:nvPr/>
        </p:nvSpPr>
        <p:spPr>
          <a:xfrm>
            <a:off x="8077200" y="4480560"/>
            <a:ext cx="3627120" cy="1828800"/>
          </a:xfrm>
          <a:prstGeom prst="rect">
            <a:avLst/>
          </a:prstGeom>
          <a:solidFill>
            <a:srgbClr val="FFFFFF"/>
          </a:solidFill>
          <a:ln w="9525">
            <a:solidFill>
              <a:srgbClr val="DDE3EC"/>
            </a:solidFill>
            <a:prstDash val="solid"/>
          </a:ln>
        </p:spPr>
        <p:txBody>
          <a:bodyPr/>
          <a:lstStyle/>
          <a:p>
            <a:endParaRPr lang="en-US"/>
          </a:p>
        </p:txBody>
      </p:sp>
      <p:sp>
        <p:nvSpPr>
          <p:cNvPr id="24" name="Shape 21"/>
          <p:cNvSpPr/>
          <p:nvPr/>
        </p:nvSpPr>
        <p:spPr>
          <a:xfrm>
            <a:off x="8077200" y="6236208"/>
            <a:ext cx="3627120" cy="73152"/>
          </a:xfrm>
          <a:prstGeom prst="rect">
            <a:avLst/>
          </a:prstGeom>
          <a:solidFill>
            <a:srgbClr val="1B7F8C"/>
          </a:solidFill>
          <a:ln w="12700">
            <a:solidFill>
              <a:srgbClr val="1B7F8C"/>
            </a:solidFill>
            <a:prstDash val="solid"/>
          </a:ln>
        </p:spPr>
        <p:txBody>
          <a:bodyPr/>
          <a:lstStyle/>
          <a:p>
            <a:endParaRPr lang="en-US"/>
          </a:p>
        </p:txBody>
      </p:sp>
      <p:sp>
        <p:nvSpPr>
          <p:cNvPr id="25" name="Text 22"/>
          <p:cNvSpPr/>
          <p:nvPr/>
        </p:nvSpPr>
        <p:spPr>
          <a:xfrm>
            <a:off x="8077200" y="4663440"/>
            <a:ext cx="3627120" cy="777240"/>
          </a:xfrm>
          <a:prstGeom prst="rect">
            <a:avLst/>
          </a:prstGeom>
          <a:noFill/>
          <a:ln/>
        </p:spPr>
        <p:txBody>
          <a:bodyPr wrap="square" lIns="0" tIns="0" rIns="0" bIns="0" rtlCol="0" anchor="ctr"/>
          <a:lstStyle/>
          <a:p>
            <a:pPr marL="0" indent="0" algn="ctr">
              <a:buNone/>
            </a:pPr>
            <a:r>
              <a:rPr lang="en-US" sz="4400" b="1" dirty="0">
                <a:solidFill>
                  <a:srgbClr val="1B7F8C"/>
                </a:solidFill>
                <a:latin typeface="Calibri" pitchFamily="34" charset="0"/>
                <a:ea typeface="Calibri" pitchFamily="34" charset="-122"/>
                <a:cs typeface="Calibri" pitchFamily="34" charset="-120"/>
              </a:rPr>
              <a:t>~51</a:t>
            </a:r>
            <a:endParaRPr lang="en-US" sz="4400" dirty="0"/>
          </a:p>
        </p:txBody>
      </p:sp>
      <p:sp>
        <p:nvSpPr>
          <p:cNvPr id="26" name="Text 23"/>
          <p:cNvSpPr/>
          <p:nvPr/>
        </p:nvSpPr>
        <p:spPr>
          <a:xfrm>
            <a:off x="8077200" y="5440680"/>
            <a:ext cx="3627120" cy="36576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PCs for 80 %</a:t>
            </a:r>
            <a:endParaRPr lang="en-US" sz="1400" dirty="0"/>
          </a:p>
        </p:txBody>
      </p:sp>
      <p:sp>
        <p:nvSpPr>
          <p:cNvPr id="27" name="Text 24"/>
          <p:cNvSpPr/>
          <p:nvPr/>
        </p:nvSpPr>
        <p:spPr>
          <a:xfrm>
            <a:off x="8260080" y="5806440"/>
            <a:ext cx="3261360" cy="411480"/>
          </a:xfrm>
          <a:prstGeom prst="rect">
            <a:avLst/>
          </a:prstGeom>
          <a:noFill/>
          <a:ln/>
        </p:spPr>
        <p:txBody>
          <a:bodyPr wrap="square" lIns="0" tIns="0" rIns="0" bIns="0" rtlCol="0" anchor="ctr"/>
          <a:lstStyle/>
          <a:p>
            <a:pPr marL="0" indent="0" algn="ctr">
              <a:buNone/>
            </a:pPr>
            <a:r>
              <a:rPr lang="en-US" sz="1100" i="1" dirty="0">
                <a:solidFill>
                  <a:srgbClr val="5C6B82"/>
                </a:solidFill>
                <a:latin typeface="Calibri" pitchFamily="34" charset="0"/>
                <a:ea typeface="Calibri" pitchFamily="34" charset="-122"/>
                <a:cs typeface="Calibri" pitchFamily="34" charset="-120"/>
              </a:rPr>
              <a:t>Genuine high dimensionality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EDA — 2D PCA Projection by Cancer Type</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Unsupervised structure already aligns with tumor lineage.</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pic>
        <p:nvPicPr>
          <p:cNvPr id="8" name="Image 0" descr="/home/claude/images/04_pca_scatter.png"/>
          <p:cNvPicPr>
            <a:picLocks noChangeAspect="1"/>
          </p:cNvPicPr>
          <p:nvPr/>
        </p:nvPicPr>
        <p:blipFill>
          <a:blip r:embed="rId3"/>
          <a:srcRect/>
          <a:stretch/>
        </p:blipFill>
        <p:spPr>
          <a:xfrm>
            <a:off x="457200" y="1097280"/>
            <a:ext cx="7680960" cy="5212080"/>
          </a:xfrm>
          <a:prstGeom prst="rect">
            <a:avLst/>
          </a:prstGeom>
        </p:spPr>
      </p:pic>
      <p:sp>
        <p:nvSpPr>
          <p:cNvPr id="9" name="Shape 6"/>
          <p:cNvSpPr/>
          <p:nvPr/>
        </p:nvSpPr>
        <p:spPr>
          <a:xfrm>
            <a:off x="8321040" y="1143000"/>
            <a:ext cx="3383280" cy="5120640"/>
          </a:xfrm>
          <a:prstGeom prst="rect">
            <a:avLst/>
          </a:prstGeom>
          <a:solidFill>
            <a:srgbClr val="FFFFFF"/>
          </a:solidFill>
          <a:ln w="9525">
            <a:solidFill>
              <a:srgbClr val="DDE3EC"/>
            </a:solidFill>
            <a:prstDash val="solid"/>
          </a:ln>
        </p:spPr>
        <p:txBody>
          <a:bodyPr/>
          <a:lstStyle/>
          <a:p>
            <a:endParaRPr lang="en-US"/>
          </a:p>
        </p:txBody>
      </p:sp>
      <p:sp>
        <p:nvSpPr>
          <p:cNvPr id="10" name="Shape 7"/>
          <p:cNvSpPr/>
          <p:nvPr/>
        </p:nvSpPr>
        <p:spPr>
          <a:xfrm>
            <a:off x="8321040" y="1143000"/>
            <a:ext cx="73152" cy="5120640"/>
          </a:xfrm>
          <a:prstGeom prst="rect">
            <a:avLst/>
          </a:prstGeom>
          <a:solidFill>
            <a:srgbClr val="EE964B"/>
          </a:solidFill>
          <a:ln w="12700">
            <a:solidFill>
              <a:srgbClr val="EE964B"/>
            </a:solidFill>
            <a:prstDash val="solid"/>
          </a:ln>
        </p:spPr>
        <p:txBody>
          <a:bodyPr/>
          <a:lstStyle/>
          <a:p>
            <a:endParaRPr lang="en-US"/>
          </a:p>
        </p:txBody>
      </p:sp>
      <p:sp>
        <p:nvSpPr>
          <p:cNvPr id="11" name="Text 8"/>
          <p:cNvSpPr/>
          <p:nvPr/>
        </p:nvSpPr>
        <p:spPr>
          <a:xfrm>
            <a:off x="8503920" y="1234440"/>
            <a:ext cx="320040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What we see</a:t>
            </a:r>
            <a:endParaRPr lang="en-US" sz="1400" dirty="0"/>
          </a:p>
        </p:txBody>
      </p:sp>
      <p:sp>
        <p:nvSpPr>
          <p:cNvPr id="12" name="Text 9"/>
          <p:cNvSpPr/>
          <p:nvPr/>
        </p:nvSpPr>
        <p:spPr>
          <a:xfrm>
            <a:off x="8503920" y="1600200"/>
            <a:ext cx="3200400" cy="2743200"/>
          </a:xfrm>
          <a:prstGeom prst="rect">
            <a:avLst/>
          </a:prstGeom>
          <a:noFill/>
          <a:ln/>
        </p:spPr>
        <p:txBody>
          <a:bodyPr wrap="square" rtlCol="0" anchor="ctr"/>
          <a:lstStyle/>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Brain tumors (LGG/GBM) cluster tightly on the far left</a:t>
            </a:r>
            <a:endParaRPr lang="en-US" sz="1100" dirty="0"/>
          </a:p>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Kidney subtypes form an upper cloud — chromophobe vs clear-cell vs papillary are visibly distinct</a:t>
            </a:r>
            <a:endParaRPr lang="en-US" sz="1100" dirty="0"/>
          </a:p>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GI tract tumors (colon, rectum, esophageal, stomach) overlap in the right cluster — biologically expected</a:t>
            </a:r>
            <a:endParaRPr lang="en-US" sz="1100" dirty="0"/>
          </a:p>
          <a:p>
            <a:pPr marL="342900" indent="-342900">
              <a:spcAft>
                <a:spcPts val="400"/>
              </a:spcAft>
              <a:buSzPct val="100000"/>
              <a:buChar char="•"/>
            </a:pPr>
            <a:r>
              <a:rPr lang="en-US" sz="1100" dirty="0">
                <a:solidFill>
                  <a:srgbClr val="1A2238"/>
                </a:solidFill>
                <a:latin typeface="Calibri" pitchFamily="34" charset="0"/>
                <a:ea typeface="Calibri" pitchFamily="34" charset="-122"/>
                <a:cs typeface="Calibri" pitchFamily="34" charset="-120"/>
              </a:rPr>
              <a:t>Liver hepatocellular pulls upward — distinct expression program</a:t>
            </a:r>
            <a:endParaRPr lang="en-US" sz="1100" dirty="0"/>
          </a:p>
        </p:txBody>
      </p:sp>
      <p:sp>
        <p:nvSpPr>
          <p:cNvPr id="13" name="Shape 10"/>
          <p:cNvSpPr/>
          <p:nvPr/>
        </p:nvSpPr>
        <p:spPr>
          <a:xfrm>
            <a:off x="8503920" y="4434840"/>
            <a:ext cx="3200400" cy="1691640"/>
          </a:xfrm>
          <a:prstGeom prst="rect">
            <a:avLst/>
          </a:prstGeom>
          <a:solidFill>
            <a:srgbClr val="F4F1EC"/>
          </a:solidFill>
          <a:ln w="6350">
            <a:solidFill>
              <a:srgbClr val="DDE3EC"/>
            </a:solidFill>
            <a:prstDash val="solid"/>
          </a:ln>
        </p:spPr>
        <p:txBody>
          <a:bodyPr/>
          <a:lstStyle/>
          <a:p>
            <a:endParaRPr lang="en-US"/>
          </a:p>
        </p:txBody>
      </p:sp>
      <p:sp>
        <p:nvSpPr>
          <p:cNvPr id="14" name="Text 11"/>
          <p:cNvSpPr/>
          <p:nvPr/>
        </p:nvSpPr>
        <p:spPr>
          <a:xfrm>
            <a:off x="8641080" y="4526280"/>
            <a:ext cx="3017520" cy="36576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Implication for modelling</a:t>
            </a:r>
            <a:endParaRPr lang="en-US" sz="1200" dirty="0"/>
          </a:p>
        </p:txBody>
      </p:sp>
      <p:sp>
        <p:nvSpPr>
          <p:cNvPr id="15" name="Text 12"/>
          <p:cNvSpPr/>
          <p:nvPr/>
        </p:nvSpPr>
        <p:spPr>
          <a:xfrm>
            <a:off x="8641080" y="4892040"/>
            <a:ext cx="3017520" cy="1188720"/>
          </a:xfrm>
          <a:prstGeom prst="rect">
            <a:avLst/>
          </a:prstGeom>
          <a:noFill/>
          <a:ln/>
        </p:spPr>
        <p:txBody>
          <a:bodyPr wrap="square"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Two PCs (43 % variance) already separate broad lineages — but fine-grained 33-class separation needs many dimensions and a regularized linear model is enough.</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Why Regularize?</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When p ≫ n, plain logistic regression has infinitely many zero-loss solutions. We need to pick one.</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sp>
        <p:nvSpPr>
          <p:cNvPr id="8" name="Shape 6"/>
          <p:cNvSpPr/>
          <p:nvPr/>
        </p:nvSpPr>
        <p:spPr>
          <a:xfrm>
            <a:off x="457200" y="1143000"/>
            <a:ext cx="5486400" cy="3566160"/>
          </a:xfrm>
          <a:prstGeom prst="rect">
            <a:avLst/>
          </a:prstGeom>
          <a:solidFill>
            <a:srgbClr val="FFFFFF"/>
          </a:solidFill>
          <a:ln w="9525">
            <a:solidFill>
              <a:srgbClr val="DDE3EC"/>
            </a:solidFill>
            <a:prstDash val="solid"/>
          </a:ln>
        </p:spPr>
        <p:txBody>
          <a:bodyPr/>
          <a:lstStyle/>
          <a:p>
            <a:endParaRPr lang="en-US"/>
          </a:p>
        </p:txBody>
      </p:sp>
      <p:sp>
        <p:nvSpPr>
          <p:cNvPr id="9" name="Shape 7"/>
          <p:cNvSpPr/>
          <p:nvPr/>
        </p:nvSpPr>
        <p:spPr>
          <a:xfrm>
            <a:off x="457200" y="1143000"/>
            <a:ext cx="5486400" cy="502920"/>
          </a:xfrm>
          <a:prstGeom prst="rect">
            <a:avLst/>
          </a:prstGeom>
          <a:solidFill>
            <a:srgbClr val="EE964B"/>
          </a:solidFill>
          <a:ln w="12700">
            <a:solidFill>
              <a:srgbClr val="EE964B"/>
            </a:solidFill>
            <a:prstDash val="solid"/>
          </a:ln>
        </p:spPr>
        <p:txBody>
          <a:bodyPr/>
          <a:lstStyle/>
          <a:p>
            <a:endParaRPr lang="en-US"/>
          </a:p>
        </p:txBody>
      </p:sp>
      <p:sp>
        <p:nvSpPr>
          <p:cNvPr id="10" name="Text 8"/>
          <p:cNvSpPr/>
          <p:nvPr/>
        </p:nvSpPr>
        <p:spPr>
          <a:xfrm>
            <a:off x="640080" y="1207008"/>
            <a:ext cx="5120640" cy="365760"/>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LASSO (L1)</a:t>
            </a:r>
            <a:endParaRPr lang="en-US" sz="1600" dirty="0"/>
          </a:p>
        </p:txBody>
      </p:sp>
      <p:sp>
        <p:nvSpPr>
          <p:cNvPr id="11" name="Text 9"/>
          <p:cNvSpPr/>
          <p:nvPr/>
        </p:nvSpPr>
        <p:spPr>
          <a:xfrm>
            <a:off x="640080" y="1755648"/>
            <a:ext cx="5120640" cy="320040"/>
          </a:xfrm>
          <a:prstGeom prst="rect">
            <a:avLst/>
          </a:prstGeom>
          <a:noFill/>
          <a:ln/>
        </p:spPr>
        <p:txBody>
          <a:bodyPr wrap="square" rtlCol="0" anchor="ctr"/>
          <a:lstStyle/>
          <a:p>
            <a:pPr marL="0" indent="0">
              <a:buNone/>
            </a:pPr>
            <a:r>
              <a:rPr lang="en-US" sz="1400" b="1" i="1" dirty="0">
                <a:solidFill>
                  <a:srgbClr val="0B2545"/>
                </a:solidFill>
                <a:latin typeface="Consolas" pitchFamily="34" charset="0"/>
                <a:ea typeface="Consolas" pitchFamily="34" charset="-122"/>
                <a:cs typeface="Consolas" pitchFamily="34" charset="-120"/>
              </a:rPr>
              <a:t>min  L(w) + λ ||w||₁</a:t>
            </a:r>
            <a:endParaRPr lang="en-US" sz="1400" dirty="0"/>
          </a:p>
        </p:txBody>
      </p:sp>
      <p:sp>
        <p:nvSpPr>
          <p:cNvPr id="12" name="Text 10"/>
          <p:cNvSpPr/>
          <p:nvPr/>
        </p:nvSpPr>
        <p:spPr>
          <a:xfrm>
            <a:off x="640080" y="2148840"/>
            <a:ext cx="5120640" cy="2468880"/>
          </a:xfrm>
          <a:prstGeom prst="rect">
            <a:avLst/>
          </a:prstGeom>
          <a:noFill/>
          <a:ln/>
        </p:spPr>
        <p:txBody>
          <a:bodyPr wrap="square" rtlCol="0" anchor="ctr"/>
          <a:lstStyle/>
          <a:p>
            <a:pPr marL="342900" indent="-342900">
              <a:spcAft>
                <a:spcPts val="400"/>
              </a:spcAft>
              <a:buSzPct val="100000"/>
              <a:buChar char="•"/>
            </a:pPr>
            <a:r>
              <a:rPr lang="en-US" sz="1200" dirty="0">
                <a:solidFill>
                  <a:srgbClr val="1A2238"/>
                </a:solidFill>
                <a:latin typeface="Calibri" pitchFamily="34" charset="0"/>
                <a:ea typeface="Calibri" pitchFamily="34" charset="-122"/>
                <a:cs typeface="Calibri" pitchFamily="34" charset="-120"/>
              </a:rPr>
              <a:t>Penalizes the sum of absolute coefficients</a:t>
            </a:r>
            <a:endParaRPr lang="en-US" sz="1200" dirty="0"/>
          </a:p>
          <a:p>
            <a:pPr marL="342900" indent="-342900">
              <a:spcAft>
                <a:spcPts val="400"/>
              </a:spcAft>
              <a:buSzPct val="100000"/>
              <a:buChar char="•"/>
            </a:pPr>
            <a:r>
              <a:rPr lang="en-US" sz="1200" dirty="0">
                <a:solidFill>
                  <a:srgbClr val="1A2238"/>
                </a:solidFill>
                <a:latin typeface="Calibri" pitchFamily="34" charset="0"/>
                <a:ea typeface="Calibri" pitchFamily="34" charset="-122"/>
                <a:cs typeface="Calibri" pitchFamily="34" charset="-120"/>
              </a:rPr>
              <a:t>Drives coefficients to exactly zero → feature selection</a:t>
            </a:r>
            <a:endParaRPr lang="en-US" sz="1200" dirty="0"/>
          </a:p>
          <a:p>
            <a:pPr marL="342900" indent="-342900">
              <a:spcAft>
                <a:spcPts val="400"/>
              </a:spcAft>
              <a:buSzPct val="100000"/>
              <a:buChar char="•"/>
            </a:pPr>
            <a:r>
              <a:rPr lang="en-US" sz="1200" dirty="0">
                <a:solidFill>
                  <a:srgbClr val="1A2238"/>
                </a:solidFill>
                <a:latin typeface="Calibri" pitchFamily="34" charset="0"/>
                <a:ea typeface="Calibri" pitchFamily="34" charset="-122"/>
                <a:cs typeface="Calibri" pitchFamily="34" charset="-120"/>
              </a:rPr>
              <a:t>Picks one representative per correlated gene block</a:t>
            </a:r>
            <a:endParaRPr lang="en-US" sz="1200" dirty="0"/>
          </a:p>
          <a:p>
            <a:pPr marL="342900" indent="-342900">
              <a:spcAft>
                <a:spcPts val="400"/>
              </a:spcAft>
              <a:buSzPct val="100000"/>
              <a:buChar char="•"/>
            </a:pPr>
            <a:r>
              <a:rPr lang="en-US" sz="1200" dirty="0">
                <a:solidFill>
                  <a:srgbClr val="1A2238"/>
                </a:solidFill>
                <a:latin typeface="Calibri" pitchFamily="34" charset="0"/>
                <a:ea typeface="Calibri" pitchFamily="34" charset="-122"/>
                <a:cs typeface="Calibri" pitchFamily="34" charset="-120"/>
              </a:rPr>
              <a:t>Optimization: subgradient · proximal · coordinate descent</a:t>
            </a:r>
            <a:endParaRPr lang="en-US" sz="1200" dirty="0"/>
          </a:p>
          <a:p>
            <a:pPr marL="342900" indent="-342900">
              <a:spcAft>
                <a:spcPts val="400"/>
              </a:spcAft>
              <a:buSzPct val="100000"/>
              <a:buChar char="•"/>
            </a:pPr>
            <a:r>
              <a:rPr lang="en-US" sz="1200" b="1" dirty="0">
                <a:solidFill>
                  <a:srgbClr val="EE964B"/>
                </a:solidFill>
                <a:latin typeface="Calibri" pitchFamily="34" charset="0"/>
                <a:ea typeface="Calibri" pitchFamily="34" charset="-122"/>
                <a:cs typeface="Calibri" pitchFamily="34" charset="-120"/>
              </a:rPr>
              <a:t>Chosen here for biological interpretability</a:t>
            </a:r>
            <a:endParaRPr lang="en-US" sz="1200" dirty="0"/>
          </a:p>
        </p:txBody>
      </p:sp>
      <p:sp>
        <p:nvSpPr>
          <p:cNvPr id="13" name="Shape 11"/>
          <p:cNvSpPr/>
          <p:nvPr/>
        </p:nvSpPr>
        <p:spPr>
          <a:xfrm>
            <a:off x="6217920" y="1143000"/>
            <a:ext cx="5486400" cy="3566160"/>
          </a:xfrm>
          <a:prstGeom prst="rect">
            <a:avLst/>
          </a:prstGeom>
          <a:solidFill>
            <a:srgbClr val="FFFFFF"/>
          </a:solidFill>
          <a:ln w="9525">
            <a:solidFill>
              <a:srgbClr val="DDE3EC"/>
            </a:solidFill>
            <a:prstDash val="solid"/>
          </a:ln>
        </p:spPr>
        <p:txBody>
          <a:bodyPr/>
          <a:lstStyle/>
          <a:p>
            <a:endParaRPr lang="en-US"/>
          </a:p>
        </p:txBody>
      </p:sp>
      <p:sp>
        <p:nvSpPr>
          <p:cNvPr id="14" name="Shape 12"/>
          <p:cNvSpPr/>
          <p:nvPr/>
        </p:nvSpPr>
        <p:spPr>
          <a:xfrm>
            <a:off x="6217920" y="1143000"/>
            <a:ext cx="5486400" cy="502920"/>
          </a:xfrm>
          <a:prstGeom prst="rect">
            <a:avLst/>
          </a:prstGeom>
          <a:solidFill>
            <a:srgbClr val="1B7F8C"/>
          </a:solidFill>
          <a:ln w="12700">
            <a:solidFill>
              <a:srgbClr val="1B7F8C"/>
            </a:solidFill>
            <a:prstDash val="solid"/>
          </a:ln>
        </p:spPr>
        <p:txBody>
          <a:bodyPr/>
          <a:lstStyle/>
          <a:p>
            <a:endParaRPr lang="en-US"/>
          </a:p>
        </p:txBody>
      </p:sp>
      <p:sp>
        <p:nvSpPr>
          <p:cNvPr id="15" name="Text 13"/>
          <p:cNvSpPr/>
          <p:nvPr/>
        </p:nvSpPr>
        <p:spPr>
          <a:xfrm>
            <a:off x="6400800" y="1207008"/>
            <a:ext cx="51206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RIDGE (L2)</a:t>
            </a:r>
            <a:endParaRPr lang="en-US" sz="1600" dirty="0"/>
          </a:p>
        </p:txBody>
      </p:sp>
      <p:sp>
        <p:nvSpPr>
          <p:cNvPr id="16" name="Text 14"/>
          <p:cNvSpPr/>
          <p:nvPr/>
        </p:nvSpPr>
        <p:spPr>
          <a:xfrm>
            <a:off x="6400800" y="1755648"/>
            <a:ext cx="5120640" cy="320040"/>
          </a:xfrm>
          <a:prstGeom prst="rect">
            <a:avLst/>
          </a:prstGeom>
          <a:noFill/>
          <a:ln/>
        </p:spPr>
        <p:txBody>
          <a:bodyPr wrap="square" rtlCol="0" anchor="ctr"/>
          <a:lstStyle/>
          <a:p>
            <a:pPr marL="0" indent="0">
              <a:buNone/>
            </a:pPr>
            <a:r>
              <a:rPr lang="en-US" sz="1400" b="1" i="1" dirty="0">
                <a:solidFill>
                  <a:srgbClr val="0B2545"/>
                </a:solidFill>
                <a:latin typeface="Consolas" pitchFamily="34" charset="0"/>
                <a:ea typeface="Consolas" pitchFamily="34" charset="-122"/>
                <a:cs typeface="Consolas" pitchFamily="34" charset="-120"/>
              </a:rPr>
              <a:t>min  L(w) + λ ||w||₂²</a:t>
            </a:r>
            <a:endParaRPr lang="en-US" sz="1400" dirty="0"/>
          </a:p>
        </p:txBody>
      </p:sp>
      <p:sp>
        <p:nvSpPr>
          <p:cNvPr id="17" name="Text 15"/>
          <p:cNvSpPr/>
          <p:nvPr/>
        </p:nvSpPr>
        <p:spPr>
          <a:xfrm>
            <a:off x="6400800" y="2148840"/>
            <a:ext cx="5120640" cy="2468880"/>
          </a:xfrm>
          <a:prstGeom prst="rect">
            <a:avLst/>
          </a:prstGeom>
          <a:noFill/>
          <a:ln/>
        </p:spPr>
        <p:txBody>
          <a:bodyPr wrap="square" rtlCol="0" anchor="ctr"/>
          <a:lstStyle/>
          <a:p>
            <a:pPr marL="342900" indent="-342900">
              <a:spcAft>
                <a:spcPts val="400"/>
              </a:spcAft>
              <a:buSzPct val="100000"/>
              <a:buChar char="•"/>
            </a:pPr>
            <a:r>
              <a:rPr lang="en-US" sz="1200" dirty="0">
                <a:solidFill>
                  <a:srgbClr val="1A2238"/>
                </a:solidFill>
                <a:latin typeface="Calibri" pitchFamily="34" charset="0"/>
                <a:ea typeface="Calibri" pitchFamily="34" charset="-122"/>
                <a:cs typeface="Calibri" pitchFamily="34" charset="-120"/>
              </a:rPr>
              <a:t>Penalizes the sum of squared coefficients</a:t>
            </a:r>
            <a:endParaRPr lang="en-US" sz="1200" dirty="0"/>
          </a:p>
          <a:p>
            <a:pPr marL="342900" indent="-342900">
              <a:spcAft>
                <a:spcPts val="400"/>
              </a:spcAft>
              <a:buSzPct val="100000"/>
              <a:buChar char="•"/>
            </a:pPr>
            <a:r>
              <a:rPr lang="en-US" sz="1200" dirty="0">
                <a:solidFill>
                  <a:srgbClr val="1A2238"/>
                </a:solidFill>
                <a:latin typeface="Calibri" pitchFamily="34" charset="0"/>
                <a:ea typeface="Calibri" pitchFamily="34" charset="-122"/>
                <a:cs typeface="Calibri" pitchFamily="34" charset="-120"/>
              </a:rPr>
              <a:t>Shrinks weights smoothly — never exactly zero</a:t>
            </a:r>
            <a:endParaRPr lang="en-US" sz="1200" dirty="0"/>
          </a:p>
          <a:p>
            <a:pPr marL="342900" indent="-342900">
              <a:spcAft>
                <a:spcPts val="400"/>
              </a:spcAft>
              <a:buSzPct val="100000"/>
              <a:buChar char="•"/>
            </a:pPr>
            <a:r>
              <a:rPr lang="en-US" sz="1200" dirty="0">
                <a:solidFill>
                  <a:srgbClr val="1A2238"/>
                </a:solidFill>
                <a:latin typeface="Calibri" pitchFamily="34" charset="0"/>
                <a:ea typeface="Calibri" pitchFamily="34" charset="-122"/>
                <a:cs typeface="Calibri" pitchFamily="34" charset="-120"/>
              </a:rPr>
              <a:t>Distributes weight across correlated genes</a:t>
            </a:r>
            <a:endParaRPr lang="en-US" sz="1200" dirty="0"/>
          </a:p>
          <a:p>
            <a:pPr marL="342900" indent="-342900">
              <a:spcAft>
                <a:spcPts val="400"/>
              </a:spcAft>
              <a:buSzPct val="100000"/>
              <a:buChar char="•"/>
            </a:pPr>
            <a:r>
              <a:rPr lang="en-US" sz="1200" dirty="0">
                <a:solidFill>
                  <a:srgbClr val="1A2238"/>
                </a:solidFill>
                <a:latin typeface="Calibri" pitchFamily="34" charset="0"/>
                <a:ea typeface="Calibri" pitchFamily="34" charset="-122"/>
                <a:cs typeface="Calibri" pitchFamily="34" charset="-120"/>
              </a:rPr>
              <a:t>Optimization: closed-form · gradient methods</a:t>
            </a:r>
            <a:endParaRPr lang="en-US" sz="1200" dirty="0"/>
          </a:p>
          <a:p>
            <a:pPr marL="342900" indent="-342900">
              <a:spcAft>
                <a:spcPts val="400"/>
              </a:spcAft>
              <a:buSzPct val="100000"/>
              <a:buChar char="•"/>
            </a:pPr>
            <a:r>
              <a:rPr lang="en-US" sz="1200" b="1" dirty="0">
                <a:solidFill>
                  <a:srgbClr val="1B7F8C"/>
                </a:solidFill>
                <a:latin typeface="Calibri" pitchFamily="34" charset="0"/>
                <a:ea typeface="Calibri" pitchFamily="34" charset="-122"/>
                <a:cs typeface="Calibri" pitchFamily="34" charset="-120"/>
              </a:rPr>
              <a:t>Chosen here for stable convergence comparisons</a:t>
            </a:r>
            <a:endParaRPr lang="en-US" sz="1200" dirty="0"/>
          </a:p>
        </p:txBody>
      </p:sp>
      <p:sp>
        <p:nvSpPr>
          <p:cNvPr id="18" name="Shape 16"/>
          <p:cNvSpPr/>
          <p:nvPr/>
        </p:nvSpPr>
        <p:spPr>
          <a:xfrm>
            <a:off x="457200" y="4846320"/>
            <a:ext cx="11247120" cy="1463040"/>
          </a:xfrm>
          <a:prstGeom prst="rect">
            <a:avLst/>
          </a:prstGeom>
          <a:solidFill>
            <a:srgbClr val="0B2545"/>
          </a:solidFill>
          <a:ln w="12700">
            <a:solidFill>
              <a:srgbClr val="0B2545"/>
            </a:solidFill>
            <a:prstDash val="solid"/>
          </a:ln>
        </p:spPr>
        <p:txBody>
          <a:bodyPr/>
          <a:lstStyle/>
          <a:p>
            <a:endParaRPr lang="en-US"/>
          </a:p>
        </p:txBody>
      </p:sp>
      <p:sp>
        <p:nvSpPr>
          <p:cNvPr id="19" name="Shape 17"/>
          <p:cNvSpPr/>
          <p:nvPr/>
        </p:nvSpPr>
        <p:spPr>
          <a:xfrm>
            <a:off x="457200" y="4846320"/>
            <a:ext cx="73152" cy="1463040"/>
          </a:xfrm>
          <a:prstGeom prst="rect">
            <a:avLst/>
          </a:prstGeom>
          <a:solidFill>
            <a:srgbClr val="EE964B"/>
          </a:solidFill>
          <a:ln w="12700">
            <a:solidFill>
              <a:srgbClr val="EE964B"/>
            </a:solidFill>
            <a:prstDash val="solid"/>
          </a:ln>
        </p:spPr>
        <p:txBody>
          <a:bodyPr/>
          <a:lstStyle/>
          <a:p>
            <a:endParaRPr lang="en-US"/>
          </a:p>
        </p:txBody>
      </p:sp>
      <p:sp>
        <p:nvSpPr>
          <p:cNvPr id="20" name="Text 18"/>
          <p:cNvSpPr/>
          <p:nvPr/>
        </p:nvSpPr>
        <p:spPr>
          <a:xfrm>
            <a:off x="777240" y="4937760"/>
            <a:ext cx="10972800" cy="320040"/>
          </a:xfrm>
          <a:prstGeom prst="rect">
            <a:avLst/>
          </a:prstGeom>
          <a:noFill/>
          <a:ln/>
        </p:spPr>
        <p:txBody>
          <a:bodyPr wrap="square" rtlCol="0" anchor="ctr"/>
          <a:lstStyle/>
          <a:p>
            <a:pPr marL="0" indent="0">
              <a:buNone/>
            </a:pPr>
            <a:r>
              <a:rPr lang="en-US" sz="1300" b="1" dirty="0">
                <a:solidFill>
                  <a:srgbClr val="EE964B"/>
                </a:solidFill>
                <a:latin typeface="Calibri" pitchFamily="34" charset="0"/>
                <a:ea typeface="Calibri" pitchFamily="34" charset="-122"/>
                <a:cs typeface="Calibri" pitchFamily="34" charset="-120"/>
              </a:rPr>
              <a:t>The geometric intuition</a:t>
            </a:r>
            <a:endParaRPr lang="en-US" sz="1300" dirty="0"/>
          </a:p>
        </p:txBody>
      </p:sp>
      <p:sp>
        <p:nvSpPr>
          <p:cNvPr id="21" name="Text 19"/>
          <p:cNvSpPr/>
          <p:nvPr/>
        </p:nvSpPr>
        <p:spPr>
          <a:xfrm>
            <a:off x="777240" y="5257800"/>
            <a:ext cx="10972800" cy="10058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Lasso's diamond constraint region has corners on the axes , solutions land on those corners, zeroing coefficients. Ridge's circular region has no corners — solutions are always interior, all coefficients stay non-zero. </a:t>
            </a:r>
            <a:endParaRPr lang="en-US" sz="1200" dirty="0"/>
          </a:p>
          <a:p>
            <a:pPr marL="0" indent="0">
              <a:buNone/>
            </a:pPr>
            <a:r>
              <a:rPr lang="en-US" sz="1200" b="1" i="1" dirty="0">
                <a:solidFill>
                  <a:srgbClr val="EE964B"/>
                </a:solidFill>
                <a:latin typeface="Calibri" pitchFamily="34" charset="0"/>
                <a:ea typeface="Calibri" pitchFamily="34" charset="-122"/>
                <a:cs typeface="Calibri" pitchFamily="34" charset="-120"/>
              </a:rPr>
              <a:t>In genomics, the diamond is what we want: it gives us a short list of relevant genes a clinician can read.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Lasso Regularization Path</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We trained 25 Lasso models across α — sparsity emerges, then accuracy rises, then plateaus.</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pic>
        <p:nvPicPr>
          <p:cNvPr id="8" name="Image 0" descr="/home/claude/images/05_lasso_path.png"/>
          <p:cNvPicPr>
            <a:picLocks noChangeAspect="1"/>
          </p:cNvPicPr>
          <p:nvPr/>
        </p:nvPicPr>
        <p:blipFill>
          <a:blip r:embed="rId3"/>
          <a:srcRect/>
          <a:stretch/>
        </p:blipFill>
        <p:spPr>
          <a:xfrm>
            <a:off x="457200" y="1143000"/>
            <a:ext cx="7955280" cy="3200400"/>
          </a:xfrm>
          <a:prstGeom prst="rect">
            <a:avLst/>
          </a:prstGeom>
        </p:spPr>
      </p:pic>
      <p:sp>
        <p:nvSpPr>
          <p:cNvPr id="9" name="Shape 6"/>
          <p:cNvSpPr/>
          <p:nvPr/>
        </p:nvSpPr>
        <p:spPr>
          <a:xfrm>
            <a:off x="8595360" y="1143000"/>
            <a:ext cx="3108960" cy="1005840"/>
          </a:xfrm>
          <a:prstGeom prst="rect">
            <a:avLst/>
          </a:prstGeom>
          <a:solidFill>
            <a:srgbClr val="FFFFFF"/>
          </a:solidFill>
          <a:ln w="9525">
            <a:solidFill>
              <a:srgbClr val="DDE3EC"/>
            </a:solidFill>
            <a:prstDash val="solid"/>
          </a:ln>
        </p:spPr>
        <p:txBody>
          <a:bodyPr/>
          <a:lstStyle/>
          <a:p>
            <a:endParaRPr lang="en-US"/>
          </a:p>
        </p:txBody>
      </p:sp>
      <p:sp>
        <p:nvSpPr>
          <p:cNvPr id="10" name="Shape 7"/>
          <p:cNvSpPr/>
          <p:nvPr/>
        </p:nvSpPr>
        <p:spPr>
          <a:xfrm>
            <a:off x="8595360" y="1143000"/>
            <a:ext cx="73152" cy="1005840"/>
          </a:xfrm>
          <a:prstGeom prst="rect">
            <a:avLst/>
          </a:prstGeom>
          <a:solidFill>
            <a:srgbClr val="C03221"/>
          </a:solidFill>
          <a:ln w="12700">
            <a:solidFill>
              <a:srgbClr val="C03221"/>
            </a:solidFill>
            <a:prstDash val="solid"/>
          </a:ln>
        </p:spPr>
        <p:txBody>
          <a:bodyPr/>
          <a:lstStyle/>
          <a:p>
            <a:endParaRPr lang="en-US"/>
          </a:p>
        </p:txBody>
      </p:sp>
      <p:sp>
        <p:nvSpPr>
          <p:cNvPr id="11" name="Text 8"/>
          <p:cNvSpPr/>
          <p:nvPr/>
        </p:nvSpPr>
        <p:spPr>
          <a:xfrm>
            <a:off x="8732520" y="1207008"/>
            <a:ext cx="2926080" cy="320040"/>
          </a:xfrm>
          <a:prstGeom prst="rect">
            <a:avLst/>
          </a:prstGeom>
          <a:noFill/>
          <a:ln/>
        </p:spPr>
        <p:txBody>
          <a:bodyPr wrap="square" lIns="0" tIns="0" rIns="0" bIns="0" rtlCol="0" anchor="ctr"/>
          <a:lstStyle/>
          <a:p>
            <a:pPr marL="0" indent="0">
              <a:buNone/>
            </a:pPr>
            <a:r>
              <a:rPr lang="en-US" sz="1300" b="1" dirty="0">
                <a:solidFill>
                  <a:srgbClr val="C03221"/>
                </a:solidFill>
                <a:latin typeface="Calibri" pitchFamily="34" charset="0"/>
                <a:ea typeface="Calibri" pitchFamily="34" charset="-122"/>
                <a:cs typeface="Calibri" pitchFamily="34" charset="-120"/>
              </a:rPr>
              <a:t>Strong λ</a:t>
            </a:r>
            <a:endParaRPr lang="en-US" sz="1300" dirty="0"/>
          </a:p>
        </p:txBody>
      </p:sp>
      <p:sp>
        <p:nvSpPr>
          <p:cNvPr id="12" name="Text 9"/>
          <p:cNvSpPr/>
          <p:nvPr/>
        </p:nvSpPr>
        <p:spPr>
          <a:xfrm>
            <a:off x="8732520" y="1508760"/>
            <a:ext cx="2926080" cy="292608"/>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All coefficients → 0</a:t>
            </a:r>
            <a:endParaRPr lang="en-US" sz="1200" dirty="0"/>
          </a:p>
        </p:txBody>
      </p:sp>
      <p:sp>
        <p:nvSpPr>
          <p:cNvPr id="13" name="Text 10"/>
          <p:cNvSpPr/>
          <p:nvPr/>
        </p:nvSpPr>
        <p:spPr>
          <a:xfrm>
            <a:off x="8732520" y="1801368"/>
            <a:ext cx="2926080" cy="365760"/>
          </a:xfrm>
          <a:prstGeom prst="rect">
            <a:avLst/>
          </a:prstGeom>
          <a:noFill/>
          <a:ln/>
        </p:spPr>
        <p:txBody>
          <a:bodyPr wrap="square" lIns="0" tIns="0" rIns="0" bIns="0" rtlCol="0" anchor="ctr"/>
          <a:lstStyle/>
          <a:p>
            <a:pPr marL="0" indent="0">
              <a:buNone/>
            </a:pPr>
            <a:r>
              <a:rPr lang="en-US" sz="1000" i="1" dirty="0">
                <a:solidFill>
                  <a:srgbClr val="5C6B82"/>
                </a:solidFill>
                <a:latin typeface="Calibri" pitchFamily="34" charset="0"/>
                <a:ea typeface="Calibri" pitchFamily="34" charset="-122"/>
                <a:cs typeface="Calibri" pitchFamily="34" charset="-120"/>
              </a:rPr>
              <a:t>No genes selected; underfitting</a:t>
            </a:r>
            <a:endParaRPr lang="en-US" sz="1000" dirty="0"/>
          </a:p>
        </p:txBody>
      </p:sp>
      <p:sp>
        <p:nvSpPr>
          <p:cNvPr id="14" name="Shape 11"/>
          <p:cNvSpPr/>
          <p:nvPr/>
        </p:nvSpPr>
        <p:spPr>
          <a:xfrm>
            <a:off x="8595360" y="2240280"/>
            <a:ext cx="3108960" cy="1005840"/>
          </a:xfrm>
          <a:prstGeom prst="rect">
            <a:avLst/>
          </a:prstGeom>
          <a:solidFill>
            <a:srgbClr val="FFFFFF"/>
          </a:solidFill>
          <a:ln w="9525">
            <a:solidFill>
              <a:srgbClr val="DDE3EC"/>
            </a:solidFill>
            <a:prstDash val="solid"/>
          </a:ln>
        </p:spPr>
        <p:txBody>
          <a:bodyPr/>
          <a:lstStyle/>
          <a:p>
            <a:endParaRPr lang="en-US"/>
          </a:p>
        </p:txBody>
      </p:sp>
      <p:sp>
        <p:nvSpPr>
          <p:cNvPr id="15" name="Shape 12"/>
          <p:cNvSpPr/>
          <p:nvPr/>
        </p:nvSpPr>
        <p:spPr>
          <a:xfrm>
            <a:off x="8595360" y="2240280"/>
            <a:ext cx="73152" cy="1005840"/>
          </a:xfrm>
          <a:prstGeom prst="rect">
            <a:avLst/>
          </a:prstGeom>
          <a:solidFill>
            <a:srgbClr val="EE964B"/>
          </a:solidFill>
          <a:ln w="12700">
            <a:solidFill>
              <a:srgbClr val="EE964B"/>
            </a:solidFill>
            <a:prstDash val="solid"/>
          </a:ln>
        </p:spPr>
        <p:txBody>
          <a:bodyPr/>
          <a:lstStyle/>
          <a:p>
            <a:endParaRPr lang="en-US"/>
          </a:p>
        </p:txBody>
      </p:sp>
      <p:sp>
        <p:nvSpPr>
          <p:cNvPr id="16" name="Text 13"/>
          <p:cNvSpPr/>
          <p:nvPr/>
        </p:nvSpPr>
        <p:spPr>
          <a:xfrm>
            <a:off x="8732520" y="2304288"/>
            <a:ext cx="2926080" cy="320040"/>
          </a:xfrm>
          <a:prstGeom prst="rect">
            <a:avLst/>
          </a:prstGeom>
          <a:noFill/>
          <a:ln/>
        </p:spPr>
        <p:txBody>
          <a:bodyPr wrap="square" lIns="0" tIns="0" rIns="0" bIns="0" rtlCol="0" anchor="ctr"/>
          <a:lstStyle/>
          <a:p>
            <a:pPr marL="0" indent="0">
              <a:buNone/>
            </a:pPr>
            <a:r>
              <a:rPr lang="en-US" sz="1300" b="1" dirty="0">
                <a:solidFill>
                  <a:srgbClr val="EE964B"/>
                </a:solidFill>
                <a:latin typeface="Calibri" pitchFamily="34" charset="0"/>
                <a:ea typeface="Calibri" pitchFamily="34" charset="-122"/>
                <a:cs typeface="Calibri" pitchFamily="34" charset="-120"/>
              </a:rPr>
              <a:t>Sweet spot</a:t>
            </a:r>
            <a:endParaRPr lang="en-US" sz="1300" dirty="0"/>
          </a:p>
        </p:txBody>
      </p:sp>
      <p:sp>
        <p:nvSpPr>
          <p:cNvPr id="17" name="Text 14"/>
          <p:cNvSpPr/>
          <p:nvPr/>
        </p:nvSpPr>
        <p:spPr>
          <a:xfrm>
            <a:off x="8732520" y="2606040"/>
            <a:ext cx="2926080" cy="292608"/>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C ≈ 0.46</a:t>
            </a:r>
            <a:endParaRPr lang="en-US" sz="1200" dirty="0"/>
          </a:p>
        </p:txBody>
      </p:sp>
      <p:sp>
        <p:nvSpPr>
          <p:cNvPr id="18" name="Text 15"/>
          <p:cNvSpPr/>
          <p:nvPr/>
        </p:nvSpPr>
        <p:spPr>
          <a:xfrm>
            <a:off x="8732520" y="2898648"/>
            <a:ext cx="2926080" cy="365760"/>
          </a:xfrm>
          <a:prstGeom prst="rect">
            <a:avLst/>
          </a:prstGeom>
          <a:noFill/>
          <a:ln/>
        </p:spPr>
        <p:txBody>
          <a:bodyPr wrap="square" lIns="0" tIns="0" rIns="0" bIns="0" rtlCol="0" anchor="ctr"/>
          <a:lstStyle/>
          <a:p>
            <a:pPr marL="0" indent="0">
              <a:buNone/>
            </a:pPr>
            <a:r>
              <a:rPr lang="en-US" sz="1000" i="1" dirty="0">
                <a:solidFill>
                  <a:srgbClr val="5C6B82"/>
                </a:solidFill>
                <a:latin typeface="Calibri" pitchFamily="34" charset="0"/>
                <a:ea typeface="Calibri" pitchFamily="34" charset="-122"/>
                <a:cs typeface="Calibri" pitchFamily="34" charset="-120"/>
              </a:rPr>
              <a:t>~1,742 genes; val acc 90.9 %</a:t>
            </a:r>
            <a:endParaRPr lang="en-US" sz="1000" dirty="0"/>
          </a:p>
        </p:txBody>
      </p:sp>
      <p:sp>
        <p:nvSpPr>
          <p:cNvPr id="19" name="Shape 16"/>
          <p:cNvSpPr/>
          <p:nvPr/>
        </p:nvSpPr>
        <p:spPr>
          <a:xfrm>
            <a:off x="8595360" y="3337560"/>
            <a:ext cx="3108960" cy="1005840"/>
          </a:xfrm>
          <a:prstGeom prst="rect">
            <a:avLst/>
          </a:prstGeom>
          <a:solidFill>
            <a:srgbClr val="FFFFFF"/>
          </a:solidFill>
          <a:ln w="9525">
            <a:solidFill>
              <a:srgbClr val="DDE3EC"/>
            </a:solidFill>
            <a:prstDash val="solid"/>
          </a:ln>
        </p:spPr>
        <p:txBody>
          <a:bodyPr/>
          <a:lstStyle/>
          <a:p>
            <a:endParaRPr lang="en-US"/>
          </a:p>
        </p:txBody>
      </p:sp>
      <p:sp>
        <p:nvSpPr>
          <p:cNvPr id="20" name="Shape 17"/>
          <p:cNvSpPr/>
          <p:nvPr/>
        </p:nvSpPr>
        <p:spPr>
          <a:xfrm>
            <a:off x="8595360" y="3337560"/>
            <a:ext cx="73152" cy="1005840"/>
          </a:xfrm>
          <a:prstGeom prst="rect">
            <a:avLst/>
          </a:prstGeom>
          <a:solidFill>
            <a:srgbClr val="1B7F8C"/>
          </a:solidFill>
          <a:ln w="12700">
            <a:solidFill>
              <a:srgbClr val="1B7F8C"/>
            </a:solidFill>
            <a:prstDash val="solid"/>
          </a:ln>
        </p:spPr>
        <p:txBody>
          <a:bodyPr/>
          <a:lstStyle/>
          <a:p>
            <a:endParaRPr lang="en-US"/>
          </a:p>
        </p:txBody>
      </p:sp>
      <p:sp>
        <p:nvSpPr>
          <p:cNvPr id="21" name="Text 18"/>
          <p:cNvSpPr/>
          <p:nvPr/>
        </p:nvSpPr>
        <p:spPr>
          <a:xfrm>
            <a:off x="8732520" y="3401568"/>
            <a:ext cx="2926080" cy="320040"/>
          </a:xfrm>
          <a:prstGeom prst="rect">
            <a:avLst/>
          </a:prstGeom>
          <a:noFill/>
          <a:ln/>
        </p:spPr>
        <p:txBody>
          <a:bodyPr wrap="square" lIns="0" tIns="0" rIns="0" bIns="0" rtlCol="0" anchor="ctr"/>
          <a:lstStyle/>
          <a:p>
            <a:pPr marL="0" indent="0">
              <a:buNone/>
            </a:pPr>
            <a:r>
              <a:rPr lang="en-US" sz="1300" b="1" dirty="0">
                <a:solidFill>
                  <a:srgbClr val="1B7F8C"/>
                </a:solidFill>
                <a:latin typeface="Calibri" pitchFamily="34" charset="0"/>
                <a:ea typeface="Calibri" pitchFamily="34" charset="-122"/>
                <a:cs typeface="Calibri" pitchFamily="34" charset="-120"/>
              </a:rPr>
              <a:t>Weak λ</a:t>
            </a:r>
            <a:endParaRPr lang="en-US" sz="1300" dirty="0"/>
          </a:p>
        </p:txBody>
      </p:sp>
      <p:sp>
        <p:nvSpPr>
          <p:cNvPr id="22" name="Text 19"/>
          <p:cNvSpPr/>
          <p:nvPr/>
        </p:nvSpPr>
        <p:spPr>
          <a:xfrm>
            <a:off x="8732520" y="3703320"/>
            <a:ext cx="2926080" cy="292608"/>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Most coefficients non-zero</a:t>
            </a:r>
            <a:endParaRPr lang="en-US" sz="1200" dirty="0"/>
          </a:p>
        </p:txBody>
      </p:sp>
      <p:sp>
        <p:nvSpPr>
          <p:cNvPr id="23" name="Text 20"/>
          <p:cNvSpPr/>
          <p:nvPr/>
        </p:nvSpPr>
        <p:spPr>
          <a:xfrm>
            <a:off x="8732520" y="3995928"/>
            <a:ext cx="2926080" cy="365760"/>
          </a:xfrm>
          <a:prstGeom prst="rect">
            <a:avLst/>
          </a:prstGeom>
          <a:noFill/>
          <a:ln/>
        </p:spPr>
        <p:txBody>
          <a:bodyPr wrap="square" lIns="0" tIns="0" rIns="0" bIns="0" rtlCol="0" anchor="ctr"/>
          <a:lstStyle/>
          <a:p>
            <a:pPr marL="0" indent="0">
              <a:buNone/>
            </a:pPr>
            <a:r>
              <a:rPr lang="en-US" sz="1000" i="1" dirty="0">
                <a:solidFill>
                  <a:srgbClr val="5C6B82"/>
                </a:solidFill>
                <a:latin typeface="Calibri" pitchFamily="34" charset="0"/>
                <a:ea typeface="Calibri" pitchFamily="34" charset="-122"/>
                <a:cs typeface="Calibri" pitchFamily="34" charset="-120"/>
              </a:rPr>
              <a:t>Diminishing returns; overfitting risk</a:t>
            </a:r>
            <a:endParaRPr lang="en-US" sz="1000" dirty="0"/>
          </a:p>
        </p:txBody>
      </p:sp>
      <p:sp>
        <p:nvSpPr>
          <p:cNvPr id="24" name="Text 21"/>
          <p:cNvSpPr/>
          <p:nvPr/>
        </p:nvSpPr>
        <p:spPr>
          <a:xfrm>
            <a:off x="457200" y="4480560"/>
            <a:ext cx="1097280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Selected path: non-zero genes vs validation accuracy</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4846320"/>
          <a:ext cx="11247120" cy="1097280"/>
        </p:xfrm>
        <a:graphic>
          <a:graphicData uri="http://schemas.openxmlformats.org/drawingml/2006/table">
            <a:tbl>
              <a:tblPr/>
              <a:tblGrid>
                <a:gridCol w="1405890">
                  <a:extLst>
                    <a:ext uri="{9D8B030D-6E8A-4147-A177-3AD203B41FA5}">
                      <a16:colId xmlns:a16="http://schemas.microsoft.com/office/drawing/2014/main" val="20000"/>
                    </a:ext>
                  </a:extLst>
                </a:gridCol>
                <a:gridCol w="1405890">
                  <a:extLst>
                    <a:ext uri="{9D8B030D-6E8A-4147-A177-3AD203B41FA5}">
                      <a16:colId xmlns:a16="http://schemas.microsoft.com/office/drawing/2014/main" val="20001"/>
                    </a:ext>
                  </a:extLst>
                </a:gridCol>
                <a:gridCol w="1405890">
                  <a:extLst>
                    <a:ext uri="{9D8B030D-6E8A-4147-A177-3AD203B41FA5}">
                      <a16:colId xmlns:a16="http://schemas.microsoft.com/office/drawing/2014/main" val="20002"/>
                    </a:ext>
                  </a:extLst>
                </a:gridCol>
                <a:gridCol w="1405890">
                  <a:extLst>
                    <a:ext uri="{9D8B030D-6E8A-4147-A177-3AD203B41FA5}">
                      <a16:colId xmlns:a16="http://schemas.microsoft.com/office/drawing/2014/main" val="20003"/>
                    </a:ext>
                  </a:extLst>
                </a:gridCol>
                <a:gridCol w="1405890">
                  <a:extLst>
                    <a:ext uri="{9D8B030D-6E8A-4147-A177-3AD203B41FA5}">
                      <a16:colId xmlns:a16="http://schemas.microsoft.com/office/drawing/2014/main" val="20004"/>
                    </a:ext>
                  </a:extLst>
                </a:gridCol>
                <a:gridCol w="1405890">
                  <a:extLst>
                    <a:ext uri="{9D8B030D-6E8A-4147-A177-3AD203B41FA5}">
                      <a16:colId xmlns:a16="http://schemas.microsoft.com/office/drawing/2014/main" val="20005"/>
                    </a:ext>
                  </a:extLst>
                </a:gridCol>
                <a:gridCol w="1405890">
                  <a:extLst>
                    <a:ext uri="{9D8B030D-6E8A-4147-A177-3AD203B41FA5}">
                      <a16:colId xmlns:a16="http://schemas.microsoft.com/office/drawing/2014/main" val="20006"/>
                    </a:ext>
                  </a:extLst>
                </a:gridCol>
                <a:gridCol w="1405890">
                  <a:extLst>
                    <a:ext uri="{9D8B030D-6E8A-4147-A177-3AD203B41FA5}">
                      <a16:colId xmlns:a16="http://schemas.microsoft.com/office/drawing/2014/main" val="20007"/>
                    </a:ext>
                  </a:extLst>
                </a:gridCol>
              </a:tblGrid>
              <a:tr h="36576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 (1/λ)</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0.010</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0.046</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0.100</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0.215</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b="1" dirty="0">
                          <a:solidFill>
                            <a:srgbClr val="1A2238"/>
                          </a:solidFill>
                          <a:latin typeface="Calibri" pitchFamily="34" charset="0"/>
                          <a:ea typeface="Calibri" pitchFamily="34" charset="-122"/>
                          <a:cs typeface="Calibri" pitchFamily="34" charset="-120"/>
                        </a:rPr>
                        <a:t>0.464</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1.468</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Non-zero genes</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92</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335</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824</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b="1" dirty="0">
                          <a:solidFill>
                            <a:srgbClr val="EE964B"/>
                          </a:solidFill>
                          <a:latin typeface="Calibri" pitchFamily="34" charset="0"/>
                          <a:ea typeface="Calibri" pitchFamily="34" charset="-122"/>
                          <a:cs typeface="Calibri" pitchFamily="34" charset="-120"/>
                        </a:rPr>
                        <a:t>1,742</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3,204</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3,877</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Val Accuracy</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0.030</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0.525</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0.869</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0.889</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b="1" dirty="0">
                          <a:solidFill>
                            <a:srgbClr val="EE964B"/>
                          </a:solidFill>
                          <a:latin typeface="Calibri" pitchFamily="34" charset="0"/>
                          <a:ea typeface="Calibri" pitchFamily="34" charset="-122"/>
                          <a:cs typeface="Calibri" pitchFamily="34" charset="-120"/>
                        </a:rPr>
                        <a:t>0.909</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0.899</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0.899</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6" name="Text 22"/>
          <p:cNvSpPr/>
          <p:nvPr/>
        </p:nvSpPr>
        <p:spPr>
          <a:xfrm>
            <a:off x="457200" y="6126480"/>
            <a:ext cx="11247120" cy="274320"/>
          </a:xfrm>
          <a:prstGeom prst="rect">
            <a:avLst/>
          </a:prstGeom>
          <a:noFill/>
          <a:ln/>
        </p:spPr>
        <p:txBody>
          <a:bodyPr wrap="square" rtlCol="0" anchor="ctr"/>
          <a:lstStyle/>
          <a:p>
            <a:pPr marL="0" indent="0" algn="ctr">
              <a:buNone/>
            </a:pPr>
            <a:r>
              <a:rPr lang="en-US" sz="1100" b="1" i="1" dirty="0">
                <a:solidFill>
                  <a:srgbClr val="EE964B"/>
                </a:solidFill>
                <a:latin typeface="Calibri" pitchFamily="34" charset="0"/>
                <a:ea typeface="Calibri" pitchFamily="34" charset="-122"/>
                <a:cs typeface="Calibri" pitchFamily="34" charset="-120"/>
              </a:rPr>
              <a:t>Best C = 0.464 → 1,742 genes selected at 90.9 % validation accuracy.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Method Identical Architecture, Only the Optimizer Differs</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A 6 × 4 × 2 factorial design with 3 seeds per cell = 144 model fits.</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sp>
        <p:nvSpPr>
          <p:cNvPr id="8" name="Text 6"/>
          <p:cNvSpPr/>
          <p:nvPr/>
        </p:nvSpPr>
        <p:spPr>
          <a:xfrm>
            <a:off x="457200" y="1143000"/>
            <a:ext cx="548640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Factorial design</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6400800" cy="2346960"/>
        </p:xfrm>
        <a:graphic>
          <a:graphicData uri="http://schemas.openxmlformats.org/drawingml/2006/table">
            <a:tbl>
              <a:tblPr/>
              <a:tblGrid>
                <a:gridCol w="1371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Factor</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Levels</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Count</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Optimizer</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Full-batch GD · SGD (b=1) · Mini-batch SGD · SGD+Momentum · Adam · L-BFGS</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b="1" dirty="0">
                          <a:solidFill>
                            <a:srgbClr val="EE964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LR Schedule</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Constant · Cosine decay · Exponential decay · Warm restarts</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b="1" dirty="0">
                          <a:solidFill>
                            <a:srgbClr val="EE964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Regularizer</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Lasso (L1) · Ridge (L2)</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b="1" dirty="0">
                          <a:solidFill>
                            <a:srgbClr val="EE964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Seeds per cell</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buNone/>
                      </a:pPr>
                      <a:r>
                        <a:rPr lang="en-US" sz="1100" dirty="0">
                          <a:solidFill>
                            <a:srgbClr val="1A2238"/>
                          </a:solidFill>
                          <a:latin typeface="Calibri" pitchFamily="34" charset="0"/>
                          <a:ea typeface="Calibri" pitchFamily="34" charset="-122"/>
                          <a:cs typeface="Calibri" pitchFamily="34" charset="-120"/>
                        </a:rPr>
                        <a:t>42 · 123 · 2026</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b="1" dirty="0">
                          <a:solidFill>
                            <a:srgbClr val="EE964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b="1" dirty="0">
                          <a:solidFill>
                            <a:srgbClr val="1A2238"/>
                          </a:solidFill>
                          <a:latin typeface="Calibri" pitchFamily="34" charset="0"/>
                          <a:ea typeface="Calibri" pitchFamily="34" charset="-122"/>
                          <a:cs typeface="Calibri" pitchFamily="34" charset="-120"/>
                        </a:rPr>
                        <a:t>Total fits</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buNone/>
                      </a:pPr>
                      <a:r>
                        <a:rPr lang="en-US" sz="1100" b="1" dirty="0">
                          <a:solidFill>
                            <a:srgbClr val="1A2238"/>
                          </a:solidFill>
                          <a:latin typeface="Consolas" pitchFamily="34" charset="0"/>
                          <a:ea typeface="Consolas" pitchFamily="34" charset="-122"/>
                          <a:cs typeface="Consolas" pitchFamily="34" charset="-120"/>
                        </a:rPr>
                        <a:t>6 × 4 × 2 × 3</a:t>
                      </a:r>
                      <a:endParaRPr lang="en-US" sz="1100" dirty="0">
                        <a:latin typeface="Consolas" charset="0"/>
                        <a:ea typeface="Consolas" charset="0"/>
                        <a:cs typeface="Consolas"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100" b="1" dirty="0">
                          <a:solidFill>
                            <a:srgbClr val="EE964B"/>
                          </a:solidFill>
                          <a:latin typeface="Calibri" pitchFamily="34" charset="0"/>
                          <a:ea typeface="Calibri" pitchFamily="34" charset="-122"/>
                          <a:cs typeface="Calibri" pitchFamily="34" charset="-120"/>
                        </a:rPr>
                        <a:t>144</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extLst>
                  <a:ext uri="{0D108BD9-81ED-4DB2-BD59-A6C34878D82A}">
                    <a16:rowId xmlns:a16="http://schemas.microsoft.com/office/drawing/2014/main" val="10005"/>
                  </a:ext>
                </a:extLst>
              </a:tr>
            </a:tbl>
          </a:graphicData>
        </a:graphic>
      </p:graphicFrame>
      <p:sp>
        <p:nvSpPr>
          <p:cNvPr id="10" name="Shape 7"/>
          <p:cNvSpPr/>
          <p:nvPr/>
        </p:nvSpPr>
        <p:spPr>
          <a:xfrm>
            <a:off x="7223760" y="1143000"/>
            <a:ext cx="4480560" cy="3840480"/>
          </a:xfrm>
          <a:prstGeom prst="rect">
            <a:avLst/>
          </a:prstGeom>
          <a:solidFill>
            <a:srgbClr val="0B2545"/>
          </a:solidFill>
          <a:ln w="12700">
            <a:solidFill>
              <a:srgbClr val="0B2545"/>
            </a:solidFill>
            <a:prstDash val="solid"/>
          </a:ln>
        </p:spPr>
        <p:txBody>
          <a:bodyPr/>
          <a:lstStyle/>
          <a:p>
            <a:endParaRPr lang="en-US"/>
          </a:p>
        </p:txBody>
      </p:sp>
      <p:sp>
        <p:nvSpPr>
          <p:cNvPr id="11" name="Shape 8"/>
          <p:cNvSpPr/>
          <p:nvPr/>
        </p:nvSpPr>
        <p:spPr>
          <a:xfrm>
            <a:off x="7223760" y="1143000"/>
            <a:ext cx="73152" cy="3840480"/>
          </a:xfrm>
          <a:prstGeom prst="rect">
            <a:avLst/>
          </a:prstGeom>
          <a:solidFill>
            <a:srgbClr val="EE964B"/>
          </a:solidFill>
          <a:ln w="12700">
            <a:solidFill>
              <a:srgbClr val="EE964B"/>
            </a:solidFill>
            <a:prstDash val="solid"/>
          </a:ln>
        </p:spPr>
        <p:txBody>
          <a:bodyPr/>
          <a:lstStyle/>
          <a:p>
            <a:endParaRPr lang="en-US"/>
          </a:p>
        </p:txBody>
      </p:sp>
      <p:sp>
        <p:nvSpPr>
          <p:cNvPr id="12" name="Text 9"/>
          <p:cNvSpPr/>
          <p:nvPr/>
        </p:nvSpPr>
        <p:spPr>
          <a:xfrm>
            <a:off x="7360920" y="1234440"/>
            <a:ext cx="4297680" cy="365760"/>
          </a:xfrm>
          <a:prstGeom prst="rect">
            <a:avLst/>
          </a:prstGeom>
          <a:noFill/>
          <a:ln/>
        </p:spPr>
        <p:txBody>
          <a:bodyPr wrap="square" rtlCol="0" anchor="ctr"/>
          <a:lstStyle/>
          <a:p>
            <a:pPr marL="0" indent="0">
              <a:buNone/>
            </a:pPr>
            <a:r>
              <a:rPr lang="en-US" sz="1400" b="1" dirty="0">
                <a:solidFill>
                  <a:srgbClr val="EE964B"/>
                </a:solidFill>
                <a:latin typeface="Calibri" pitchFamily="34" charset="0"/>
                <a:ea typeface="Calibri" pitchFamily="34" charset="-122"/>
                <a:cs typeface="Calibri" pitchFamily="34" charset="-120"/>
              </a:rPr>
              <a:t>Shared architecture</a:t>
            </a:r>
            <a:endParaRPr lang="en-US" sz="1400" dirty="0"/>
          </a:p>
        </p:txBody>
      </p:sp>
      <p:sp>
        <p:nvSpPr>
          <p:cNvPr id="13" name="Text 10"/>
          <p:cNvSpPr/>
          <p:nvPr/>
        </p:nvSpPr>
        <p:spPr>
          <a:xfrm>
            <a:off x="7360920" y="1600200"/>
            <a:ext cx="4297680" cy="3291840"/>
          </a:xfrm>
          <a:prstGeom prst="rect">
            <a:avLst/>
          </a:prstGeom>
          <a:noFill/>
          <a:ln/>
        </p:spPr>
        <p:txBody>
          <a:bodyPr wrap="square" rtlCol="0" anchor="ctr"/>
          <a:lstStyle/>
          <a:p>
            <a:pPr marL="0" indent="0">
              <a:spcAft>
                <a:spcPts val="100"/>
              </a:spcAft>
              <a:buNone/>
            </a:pPr>
            <a:r>
              <a:rPr lang="en-US" sz="1200" b="1" dirty="0">
                <a:solidFill>
                  <a:srgbClr val="FFFFFF"/>
                </a:solidFill>
                <a:latin typeface="Calibri" pitchFamily="34" charset="0"/>
                <a:ea typeface="Calibri" pitchFamily="34" charset="-122"/>
                <a:cs typeface="Calibri" pitchFamily="34" charset="-120"/>
              </a:rPr>
              <a:t>Single-layer linear classifier</a:t>
            </a:r>
            <a:endParaRPr lang="en-US" sz="1200" dirty="0"/>
          </a:p>
          <a:p>
            <a:pPr marL="0" indent="0">
              <a:spcAft>
                <a:spcPts val="100"/>
              </a:spcAft>
              <a:buNone/>
            </a:pPr>
            <a:r>
              <a:rPr lang="en-US" sz="1100" i="1" dirty="0">
                <a:solidFill>
                  <a:srgbClr val="B8C5D9"/>
                </a:solidFill>
                <a:latin typeface="Calibri" pitchFamily="34" charset="0"/>
                <a:ea typeface="Calibri" pitchFamily="34" charset="-122"/>
                <a:cs typeface="Calibri" pitchFamily="34" charset="-120"/>
              </a:rPr>
              <a:t>(multinomial logistic regression)</a:t>
            </a:r>
            <a:endParaRPr lang="en-US" sz="1200" dirty="0"/>
          </a:p>
          <a:p>
            <a:pPr marL="0" indent="0">
              <a:spcAft>
                <a:spcPts val="100"/>
              </a:spcAft>
              <a:buNone/>
            </a:pPr>
            <a:endParaRPr lang="en-US" sz="1200" dirty="0"/>
          </a:p>
          <a:p>
            <a:pPr marL="0" indent="0">
              <a:spcAft>
                <a:spcPts val="100"/>
              </a:spcAft>
              <a:buNone/>
            </a:pPr>
            <a:r>
              <a:rPr lang="en-US" sz="1200" b="1" dirty="0">
                <a:solidFill>
                  <a:srgbClr val="EE964B"/>
                </a:solidFill>
                <a:latin typeface="Calibri" pitchFamily="34" charset="0"/>
                <a:ea typeface="Calibri" pitchFamily="34" charset="-122"/>
                <a:cs typeface="Calibri" pitchFamily="34" charset="-120"/>
              </a:rPr>
              <a:t>Loss:        </a:t>
            </a:r>
            <a:r>
              <a:rPr lang="en-US" sz="1200" dirty="0">
                <a:solidFill>
                  <a:srgbClr val="FFFFFF"/>
                </a:solidFill>
                <a:latin typeface="Consolas" pitchFamily="34" charset="0"/>
                <a:ea typeface="Consolas" pitchFamily="34" charset="-122"/>
                <a:cs typeface="Consolas" pitchFamily="34" charset="-120"/>
              </a:rPr>
              <a:t>CrossEntropy</a:t>
            </a:r>
            <a:endParaRPr lang="en-US" sz="1200" dirty="0"/>
          </a:p>
          <a:p>
            <a:pPr marL="0" indent="0">
              <a:spcAft>
                <a:spcPts val="100"/>
              </a:spcAft>
              <a:buNone/>
            </a:pPr>
            <a:r>
              <a:rPr lang="en-US" sz="1200" b="1" dirty="0">
                <a:solidFill>
                  <a:srgbClr val="EE964B"/>
                </a:solidFill>
                <a:latin typeface="Calibri" pitchFamily="34" charset="0"/>
                <a:ea typeface="Calibri" pitchFamily="34" charset="-122"/>
                <a:cs typeface="Calibri" pitchFamily="34" charset="-120"/>
              </a:rPr>
              <a:t>Input:        </a:t>
            </a:r>
            <a:r>
              <a:rPr lang="en-US" sz="1200" dirty="0">
                <a:solidFill>
                  <a:srgbClr val="FFFFFF"/>
                </a:solidFill>
                <a:latin typeface="Consolas" pitchFamily="34" charset="0"/>
                <a:ea typeface="Consolas" pitchFamily="34" charset="-122"/>
                <a:cs typeface="Consolas" pitchFamily="34" charset="-120"/>
              </a:rPr>
              <a:t>20,000 genes</a:t>
            </a:r>
            <a:endParaRPr lang="en-US" sz="1200" dirty="0"/>
          </a:p>
          <a:p>
            <a:pPr marL="0" indent="0">
              <a:spcAft>
                <a:spcPts val="100"/>
              </a:spcAft>
              <a:buNone/>
            </a:pPr>
            <a:r>
              <a:rPr lang="en-US" sz="1200" b="1" dirty="0">
                <a:solidFill>
                  <a:srgbClr val="EE964B"/>
                </a:solidFill>
                <a:latin typeface="Calibri" pitchFamily="34" charset="0"/>
                <a:ea typeface="Calibri" pitchFamily="34" charset="-122"/>
                <a:cs typeface="Calibri" pitchFamily="34" charset="-120"/>
              </a:rPr>
              <a:t>Output:    </a:t>
            </a:r>
            <a:r>
              <a:rPr lang="en-US" sz="1200" dirty="0">
                <a:solidFill>
                  <a:srgbClr val="FFFFFF"/>
                </a:solidFill>
                <a:latin typeface="Consolas" pitchFamily="34" charset="0"/>
                <a:ea typeface="Consolas" pitchFamily="34" charset="-122"/>
                <a:cs typeface="Consolas" pitchFamily="34" charset="-120"/>
              </a:rPr>
              <a:t>33 cancer classes</a:t>
            </a:r>
            <a:endParaRPr lang="en-US" sz="1200" dirty="0"/>
          </a:p>
          <a:p>
            <a:pPr marL="0" indent="0">
              <a:spcAft>
                <a:spcPts val="100"/>
              </a:spcAft>
              <a:buNone/>
            </a:pPr>
            <a:r>
              <a:rPr lang="en-US" sz="1200" b="1" dirty="0">
                <a:solidFill>
                  <a:srgbClr val="EE964B"/>
                </a:solidFill>
                <a:latin typeface="Calibri" pitchFamily="34" charset="0"/>
                <a:ea typeface="Calibri" pitchFamily="34" charset="-122"/>
                <a:cs typeface="Calibri" pitchFamily="34" charset="-120"/>
              </a:rPr>
              <a:t>Epochs:    </a:t>
            </a:r>
            <a:r>
              <a:rPr lang="en-US" sz="1200" dirty="0">
                <a:solidFill>
                  <a:srgbClr val="FFFFFF"/>
                </a:solidFill>
                <a:latin typeface="Consolas" pitchFamily="34" charset="0"/>
                <a:ea typeface="Consolas" pitchFamily="34" charset="-122"/>
                <a:cs typeface="Consolas" pitchFamily="34" charset="-120"/>
              </a:rPr>
              <a:t>100</a:t>
            </a:r>
            <a:endParaRPr lang="en-US" sz="1200" dirty="0"/>
          </a:p>
          <a:p>
            <a:pPr marL="0" indent="0">
              <a:spcAft>
                <a:spcPts val="100"/>
              </a:spcAft>
              <a:buNone/>
            </a:pPr>
            <a:r>
              <a:rPr lang="en-US" sz="1200" b="1" dirty="0">
                <a:solidFill>
                  <a:srgbClr val="EE964B"/>
                </a:solidFill>
                <a:latin typeface="Calibri" pitchFamily="34" charset="0"/>
                <a:ea typeface="Calibri" pitchFamily="34" charset="-122"/>
                <a:cs typeface="Calibri" pitchFamily="34" charset="-120"/>
              </a:rPr>
              <a:t>Batch:       </a:t>
            </a:r>
            <a:r>
              <a:rPr lang="en-US" sz="1200" dirty="0">
                <a:solidFill>
                  <a:srgbClr val="FFFFFF"/>
                </a:solidFill>
                <a:latin typeface="Consolas" pitchFamily="34" charset="0"/>
                <a:ea typeface="Consolas" pitchFamily="34" charset="-122"/>
                <a:cs typeface="Consolas" pitchFamily="34" charset="-120"/>
              </a:rPr>
              <a:t>32 (mini-batch)</a:t>
            </a:r>
            <a:endParaRPr lang="en-US" sz="1200" dirty="0"/>
          </a:p>
          <a:p>
            <a:pPr marL="0" indent="0">
              <a:spcAft>
                <a:spcPts val="100"/>
              </a:spcAft>
              <a:buNone/>
            </a:pPr>
            <a:r>
              <a:rPr lang="en-US" sz="1200" b="1" dirty="0">
                <a:solidFill>
                  <a:srgbClr val="EE964B"/>
                </a:solidFill>
                <a:latin typeface="Calibri" pitchFamily="34" charset="0"/>
                <a:ea typeface="Calibri" pitchFamily="34" charset="-122"/>
                <a:cs typeface="Calibri" pitchFamily="34" charset="-120"/>
              </a:rPr>
              <a:t>Base LR:  </a:t>
            </a:r>
            <a:r>
              <a:rPr lang="en-US" sz="1200" dirty="0">
                <a:solidFill>
                  <a:srgbClr val="FFFFFF"/>
                </a:solidFill>
                <a:latin typeface="Consolas" pitchFamily="34" charset="0"/>
                <a:ea typeface="Consolas" pitchFamily="34" charset="-122"/>
                <a:cs typeface="Consolas" pitchFamily="34" charset="-120"/>
              </a:rPr>
              <a:t>0.01</a:t>
            </a:r>
            <a:endParaRPr lang="en-US" sz="1200" dirty="0"/>
          </a:p>
          <a:p>
            <a:pPr marL="0" indent="0">
              <a:spcAft>
                <a:spcPts val="100"/>
              </a:spcAft>
              <a:buNone/>
            </a:pPr>
            <a:r>
              <a:rPr lang="en-US" sz="1200" b="1" dirty="0">
                <a:solidFill>
                  <a:srgbClr val="EE964B"/>
                </a:solidFill>
                <a:latin typeface="Calibri" pitchFamily="34" charset="0"/>
                <a:ea typeface="Calibri" pitchFamily="34" charset="-122"/>
                <a:cs typeface="Calibri" pitchFamily="34" charset="-120"/>
              </a:rPr>
              <a:t>λ (reg):    </a:t>
            </a:r>
            <a:r>
              <a:rPr lang="en-US" sz="1200" dirty="0">
                <a:solidFill>
                  <a:srgbClr val="FFFFFF"/>
                </a:solidFill>
                <a:latin typeface="Consolas" pitchFamily="34" charset="0"/>
                <a:ea typeface="Consolas" pitchFamily="34" charset="-122"/>
                <a:cs typeface="Consolas" pitchFamily="34" charset="-120"/>
              </a:rPr>
              <a:t>1e-4</a:t>
            </a:r>
            <a:endParaRPr lang="en-US" sz="1200" dirty="0"/>
          </a:p>
        </p:txBody>
      </p:sp>
      <p:sp>
        <p:nvSpPr>
          <p:cNvPr id="14" name="Shape 11"/>
          <p:cNvSpPr/>
          <p:nvPr/>
        </p:nvSpPr>
        <p:spPr>
          <a:xfrm>
            <a:off x="457200" y="5120640"/>
            <a:ext cx="11247120" cy="1188720"/>
          </a:xfrm>
          <a:prstGeom prst="rect">
            <a:avLst/>
          </a:prstGeom>
          <a:solidFill>
            <a:srgbClr val="FFFFFF"/>
          </a:solidFill>
          <a:ln w="9525">
            <a:solidFill>
              <a:srgbClr val="DDE3EC"/>
            </a:solidFill>
            <a:prstDash val="solid"/>
          </a:ln>
        </p:spPr>
        <p:txBody>
          <a:bodyPr/>
          <a:lstStyle/>
          <a:p>
            <a:endParaRPr lang="en-US"/>
          </a:p>
        </p:txBody>
      </p:sp>
      <p:sp>
        <p:nvSpPr>
          <p:cNvPr id="9" name="Shape 12"/>
          <p:cNvSpPr/>
          <p:nvPr/>
        </p:nvSpPr>
        <p:spPr>
          <a:xfrm>
            <a:off x="457200" y="5120640"/>
            <a:ext cx="73152" cy="1188720"/>
          </a:xfrm>
          <a:prstGeom prst="rect">
            <a:avLst/>
          </a:prstGeom>
          <a:solidFill>
            <a:srgbClr val="1B7F8C"/>
          </a:solidFill>
          <a:ln w="12700">
            <a:solidFill>
              <a:srgbClr val="1B7F8C"/>
            </a:solidFill>
            <a:prstDash val="solid"/>
          </a:ln>
        </p:spPr>
        <p:txBody>
          <a:bodyPr/>
          <a:lstStyle/>
          <a:p>
            <a:endParaRPr lang="en-US"/>
          </a:p>
        </p:txBody>
      </p:sp>
      <p:sp>
        <p:nvSpPr>
          <p:cNvPr id="16" name="Text 13"/>
          <p:cNvSpPr/>
          <p:nvPr/>
        </p:nvSpPr>
        <p:spPr>
          <a:xfrm>
            <a:off x="777240" y="5212080"/>
            <a:ext cx="10972800" cy="36576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Why we hold everything else constant</a:t>
            </a:r>
            <a:endParaRPr lang="en-US" sz="1300" dirty="0"/>
          </a:p>
        </p:txBody>
      </p:sp>
      <p:sp>
        <p:nvSpPr>
          <p:cNvPr id="17" name="Text 14"/>
          <p:cNvSpPr/>
          <p:nvPr/>
        </p:nvSpPr>
        <p:spPr>
          <a:xfrm>
            <a:off x="777240" y="5532120"/>
            <a:ext cx="10972800" cy="777240"/>
          </a:xfrm>
          <a:prstGeom prst="rect">
            <a:avLst/>
          </a:prstGeom>
          <a:noFill/>
          <a:ln/>
        </p:spPr>
        <p:txBody>
          <a:bodyPr wrap="square" rtlCol="0" anchor="ctr"/>
          <a:lstStyle/>
          <a:p>
            <a:pPr marL="0" indent="0">
              <a:buNone/>
            </a:pPr>
            <a:r>
              <a:rPr lang="en-US" sz="1200" i="1" dirty="0">
                <a:solidFill>
                  <a:srgbClr val="1A2238"/>
                </a:solidFill>
                <a:latin typeface="Calibri" pitchFamily="34" charset="0"/>
                <a:ea typeface="Calibri" pitchFamily="34" charset="-122"/>
                <a:cs typeface="Calibri" pitchFamily="34" charset="-120"/>
              </a:rPr>
              <a:t>Same model, same loss, same data, same epoch budget any difference in test accuracy or convergence is attributable to the optimizer or its schedule, not to architectural confounds. Three random seeds let us report mean ± std.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The Six Optimizers,  What Each One Actually Does</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From plain gradient descent to quasi-Newton and adaptive methods.</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sp>
        <p:nvSpPr>
          <p:cNvPr id="8" name="Shape 6"/>
          <p:cNvSpPr/>
          <p:nvPr/>
        </p:nvSpPr>
        <p:spPr>
          <a:xfrm>
            <a:off x="457200" y="1188720"/>
            <a:ext cx="3657600" cy="1417320"/>
          </a:xfrm>
          <a:prstGeom prst="rect">
            <a:avLst/>
          </a:prstGeom>
          <a:solidFill>
            <a:srgbClr val="FFFFFF"/>
          </a:solidFill>
          <a:ln w="9525">
            <a:solidFill>
              <a:srgbClr val="DDE3EC"/>
            </a:solidFill>
            <a:prstDash val="solid"/>
          </a:ln>
        </p:spPr>
        <p:txBody>
          <a:bodyPr/>
          <a:lstStyle/>
          <a:p>
            <a:endParaRPr lang="en-US"/>
          </a:p>
        </p:txBody>
      </p:sp>
      <p:sp>
        <p:nvSpPr>
          <p:cNvPr id="9" name="Shape 7"/>
          <p:cNvSpPr/>
          <p:nvPr/>
        </p:nvSpPr>
        <p:spPr>
          <a:xfrm>
            <a:off x="457200" y="1188720"/>
            <a:ext cx="3657600" cy="411480"/>
          </a:xfrm>
          <a:prstGeom prst="rect">
            <a:avLst/>
          </a:prstGeom>
          <a:solidFill>
            <a:srgbClr val="0B2545"/>
          </a:solidFill>
          <a:ln w="12700">
            <a:solidFill>
              <a:srgbClr val="0B2545"/>
            </a:solidFill>
            <a:prstDash val="solid"/>
          </a:ln>
        </p:spPr>
        <p:txBody>
          <a:bodyPr/>
          <a:lstStyle/>
          <a:p>
            <a:endParaRPr lang="en-US"/>
          </a:p>
        </p:txBody>
      </p:sp>
      <p:sp>
        <p:nvSpPr>
          <p:cNvPr id="10" name="Text 8"/>
          <p:cNvSpPr/>
          <p:nvPr/>
        </p:nvSpPr>
        <p:spPr>
          <a:xfrm>
            <a:off x="594360" y="1234440"/>
            <a:ext cx="33832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Full-batch GD</a:t>
            </a:r>
            <a:endParaRPr lang="en-US" sz="1300" dirty="0"/>
          </a:p>
        </p:txBody>
      </p:sp>
      <p:sp>
        <p:nvSpPr>
          <p:cNvPr id="11" name="Text 9"/>
          <p:cNvSpPr/>
          <p:nvPr/>
        </p:nvSpPr>
        <p:spPr>
          <a:xfrm>
            <a:off x="594360" y="1645920"/>
            <a:ext cx="3383280" cy="365760"/>
          </a:xfrm>
          <a:prstGeom prst="rect">
            <a:avLst/>
          </a:prstGeom>
          <a:noFill/>
          <a:ln/>
        </p:spPr>
        <p:txBody>
          <a:bodyPr wrap="square" lIns="0" tIns="0" rIns="0" bIns="0" rtlCol="0" anchor="ctr"/>
          <a:lstStyle/>
          <a:p>
            <a:pPr marL="0" indent="0">
              <a:buNone/>
            </a:pPr>
            <a:r>
              <a:rPr lang="en-US" sz="1300" b="1" i="1" dirty="0">
                <a:solidFill>
                  <a:srgbClr val="0B2545"/>
                </a:solidFill>
                <a:latin typeface="Consolas" pitchFamily="34" charset="0"/>
                <a:ea typeface="Consolas" pitchFamily="34" charset="-122"/>
                <a:cs typeface="Consolas" pitchFamily="34" charset="-120"/>
              </a:rPr>
              <a:t>w ← w − η ∇L(w)</a:t>
            </a:r>
            <a:endParaRPr lang="en-US" sz="1300" dirty="0"/>
          </a:p>
        </p:txBody>
      </p:sp>
      <p:sp>
        <p:nvSpPr>
          <p:cNvPr id="12" name="Text 10"/>
          <p:cNvSpPr/>
          <p:nvPr/>
        </p:nvSpPr>
        <p:spPr>
          <a:xfrm>
            <a:off x="594360" y="2057400"/>
            <a:ext cx="3383280" cy="457200"/>
          </a:xfrm>
          <a:prstGeom prst="rect">
            <a:avLst/>
          </a:prstGeom>
          <a:noFill/>
          <a:ln/>
        </p:spPr>
        <p:txBody>
          <a:bodyPr wrap="square" lIns="0" tIns="0" rIns="0" bIns="0" rtlCol="0" anchor="ctr"/>
          <a:lstStyle/>
          <a:p>
            <a:pPr marL="0" indent="0">
              <a:buNone/>
            </a:pPr>
            <a:r>
              <a:rPr lang="en-US" sz="1100" dirty="0">
                <a:solidFill>
                  <a:srgbClr val="5C6B82"/>
                </a:solidFill>
                <a:latin typeface="Calibri" pitchFamily="34" charset="0"/>
                <a:ea typeface="Calibri" pitchFamily="34" charset="-122"/>
                <a:cs typeface="Calibri" pitchFamily="34" charset="-120"/>
              </a:rPr>
              <a:t>All 297 samples per step. Smooth gradient, slow updates.</a:t>
            </a:r>
            <a:endParaRPr lang="en-US" sz="1100" dirty="0"/>
          </a:p>
        </p:txBody>
      </p:sp>
      <p:sp>
        <p:nvSpPr>
          <p:cNvPr id="13" name="Shape 11"/>
          <p:cNvSpPr/>
          <p:nvPr/>
        </p:nvSpPr>
        <p:spPr>
          <a:xfrm>
            <a:off x="4233672" y="1188720"/>
            <a:ext cx="3657600" cy="1417320"/>
          </a:xfrm>
          <a:prstGeom prst="rect">
            <a:avLst/>
          </a:prstGeom>
          <a:solidFill>
            <a:srgbClr val="FFFFFF"/>
          </a:solidFill>
          <a:ln w="9525">
            <a:solidFill>
              <a:srgbClr val="DDE3EC"/>
            </a:solidFill>
            <a:prstDash val="solid"/>
          </a:ln>
        </p:spPr>
        <p:txBody>
          <a:bodyPr/>
          <a:lstStyle/>
          <a:p>
            <a:endParaRPr lang="en-US"/>
          </a:p>
        </p:txBody>
      </p:sp>
      <p:sp>
        <p:nvSpPr>
          <p:cNvPr id="14" name="Shape 12"/>
          <p:cNvSpPr/>
          <p:nvPr/>
        </p:nvSpPr>
        <p:spPr>
          <a:xfrm>
            <a:off x="4233672" y="1188720"/>
            <a:ext cx="3657600" cy="411480"/>
          </a:xfrm>
          <a:prstGeom prst="rect">
            <a:avLst/>
          </a:prstGeom>
          <a:solidFill>
            <a:srgbClr val="8E24AA"/>
          </a:solidFill>
          <a:ln w="12700">
            <a:solidFill>
              <a:srgbClr val="8E24AA"/>
            </a:solidFill>
            <a:prstDash val="solid"/>
          </a:ln>
        </p:spPr>
        <p:txBody>
          <a:bodyPr/>
          <a:lstStyle/>
          <a:p>
            <a:endParaRPr lang="en-US"/>
          </a:p>
        </p:txBody>
      </p:sp>
      <p:sp>
        <p:nvSpPr>
          <p:cNvPr id="15" name="Text 13"/>
          <p:cNvSpPr/>
          <p:nvPr/>
        </p:nvSpPr>
        <p:spPr>
          <a:xfrm>
            <a:off x="4370832" y="1234440"/>
            <a:ext cx="33832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SGD (batch=1)</a:t>
            </a:r>
            <a:endParaRPr lang="en-US" sz="1300" dirty="0"/>
          </a:p>
        </p:txBody>
      </p:sp>
      <p:sp>
        <p:nvSpPr>
          <p:cNvPr id="16" name="Text 14"/>
          <p:cNvSpPr/>
          <p:nvPr/>
        </p:nvSpPr>
        <p:spPr>
          <a:xfrm>
            <a:off x="4370832" y="1645920"/>
            <a:ext cx="3383280" cy="365760"/>
          </a:xfrm>
          <a:prstGeom prst="rect">
            <a:avLst/>
          </a:prstGeom>
          <a:noFill/>
          <a:ln/>
        </p:spPr>
        <p:txBody>
          <a:bodyPr wrap="square" lIns="0" tIns="0" rIns="0" bIns="0" rtlCol="0" anchor="ctr"/>
          <a:lstStyle/>
          <a:p>
            <a:pPr marL="0" indent="0">
              <a:buNone/>
            </a:pPr>
            <a:r>
              <a:rPr lang="en-US" sz="1300" b="1" i="1" dirty="0">
                <a:solidFill>
                  <a:srgbClr val="0B2545"/>
                </a:solidFill>
                <a:latin typeface="Consolas" pitchFamily="34" charset="0"/>
                <a:ea typeface="Consolas" pitchFamily="34" charset="-122"/>
                <a:cs typeface="Consolas" pitchFamily="34" charset="-120"/>
              </a:rPr>
              <a:t>w ← w − η ∇Lᵢ(w)</a:t>
            </a:r>
            <a:endParaRPr lang="en-US" sz="1300" dirty="0"/>
          </a:p>
        </p:txBody>
      </p:sp>
      <p:sp>
        <p:nvSpPr>
          <p:cNvPr id="17" name="Text 15"/>
          <p:cNvSpPr/>
          <p:nvPr/>
        </p:nvSpPr>
        <p:spPr>
          <a:xfrm>
            <a:off x="4370832" y="2057400"/>
            <a:ext cx="3383280" cy="457200"/>
          </a:xfrm>
          <a:prstGeom prst="rect">
            <a:avLst/>
          </a:prstGeom>
          <a:noFill/>
          <a:ln/>
        </p:spPr>
        <p:txBody>
          <a:bodyPr wrap="square" lIns="0" tIns="0" rIns="0" bIns="0" rtlCol="0" anchor="ctr"/>
          <a:lstStyle/>
          <a:p>
            <a:pPr marL="0" indent="0">
              <a:buNone/>
            </a:pPr>
            <a:r>
              <a:rPr lang="en-US" sz="1100" dirty="0">
                <a:solidFill>
                  <a:srgbClr val="5C6B82"/>
                </a:solidFill>
                <a:latin typeface="Calibri" pitchFamily="34" charset="0"/>
                <a:ea typeface="Calibri" pitchFamily="34" charset="-122"/>
                <a:cs typeface="Calibri" pitchFamily="34" charset="-120"/>
              </a:rPr>
              <a:t>One sample per step. Noisy but updates 297× per epoch.</a:t>
            </a:r>
            <a:endParaRPr lang="en-US" sz="1100" dirty="0"/>
          </a:p>
        </p:txBody>
      </p:sp>
      <p:sp>
        <p:nvSpPr>
          <p:cNvPr id="18" name="Shape 16"/>
          <p:cNvSpPr/>
          <p:nvPr/>
        </p:nvSpPr>
        <p:spPr>
          <a:xfrm>
            <a:off x="8010144" y="1188720"/>
            <a:ext cx="3657600" cy="1417320"/>
          </a:xfrm>
          <a:prstGeom prst="rect">
            <a:avLst/>
          </a:prstGeom>
          <a:solidFill>
            <a:srgbClr val="FFFFFF"/>
          </a:solidFill>
          <a:ln w="9525">
            <a:solidFill>
              <a:srgbClr val="DDE3EC"/>
            </a:solidFill>
            <a:prstDash val="solid"/>
          </a:ln>
        </p:spPr>
        <p:txBody>
          <a:bodyPr/>
          <a:lstStyle/>
          <a:p>
            <a:endParaRPr lang="en-US"/>
          </a:p>
        </p:txBody>
      </p:sp>
      <p:sp>
        <p:nvSpPr>
          <p:cNvPr id="19" name="Shape 17"/>
          <p:cNvSpPr/>
          <p:nvPr/>
        </p:nvSpPr>
        <p:spPr>
          <a:xfrm>
            <a:off x="8010144" y="1188720"/>
            <a:ext cx="3657600" cy="411480"/>
          </a:xfrm>
          <a:prstGeom prst="rect">
            <a:avLst/>
          </a:prstGeom>
          <a:solidFill>
            <a:srgbClr val="1B7F8C"/>
          </a:solidFill>
          <a:ln w="12700">
            <a:solidFill>
              <a:srgbClr val="1B7F8C"/>
            </a:solidFill>
            <a:prstDash val="solid"/>
          </a:ln>
        </p:spPr>
        <p:txBody>
          <a:bodyPr/>
          <a:lstStyle/>
          <a:p>
            <a:endParaRPr lang="en-US"/>
          </a:p>
        </p:txBody>
      </p:sp>
      <p:sp>
        <p:nvSpPr>
          <p:cNvPr id="20" name="Text 18"/>
          <p:cNvSpPr/>
          <p:nvPr/>
        </p:nvSpPr>
        <p:spPr>
          <a:xfrm>
            <a:off x="8147304" y="1234440"/>
            <a:ext cx="33832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Mini-batch SGD</a:t>
            </a:r>
            <a:endParaRPr lang="en-US" sz="1300" dirty="0"/>
          </a:p>
        </p:txBody>
      </p:sp>
      <p:sp>
        <p:nvSpPr>
          <p:cNvPr id="21" name="Text 19"/>
          <p:cNvSpPr/>
          <p:nvPr/>
        </p:nvSpPr>
        <p:spPr>
          <a:xfrm>
            <a:off x="8147304" y="1645920"/>
            <a:ext cx="3383280" cy="365760"/>
          </a:xfrm>
          <a:prstGeom prst="rect">
            <a:avLst/>
          </a:prstGeom>
          <a:noFill/>
          <a:ln/>
        </p:spPr>
        <p:txBody>
          <a:bodyPr wrap="square" lIns="0" tIns="0" rIns="0" bIns="0" rtlCol="0" anchor="ctr"/>
          <a:lstStyle/>
          <a:p>
            <a:pPr marL="0" indent="0">
              <a:buNone/>
            </a:pPr>
            <a:r>
              <a:rPr lang="en-US" sz="1300" b="1" i="1" dirty="0">
                <a:solidFill>
                  <a:srgbClr val="0B2545"/>
                </a:solidFill>
                <a:latin typeface="Consolas" pitchFamily="34" charset="0"/>
                <a:ea typeface="Consolas" pitchFamily="34" charset="-122"/>
                <a:cs typeface="Consolas" pitchFamily="34" charset="-120"/>
              </a:rPr>
              <a:t>w ← w − η ∇L_B(w)</a:t>
            </a:r>
            <a:endParaRPr lang="en-US" sz="1300" dirty="0"/>
          </a:p>
        </p:txBody>
      </p:sp>
      <p:sp>
        <p:nvSpPr>
          <p:cNvPr id="22" name="Text 20"/>
          <p:cNvSpPr/>
          <p:nvPr/>
        </p:nvSpPr>
        <p:spPr>
          <a:xfrm>
            <a:off x="8147304" y="2057400"/>
            <a:ext cx="3383280" cy="457200"/>
          </a:xfrm>
          <a:prstGeom prst="rect">
            <a:avLst/>
          </a:prstGeom>
          <a:noFill/>
          <a:ln/>
        </p:spPr>
        <p:txBody>
          <a:bodyPr wrap="square" lIns="0" tIns="0" rIns="0" bIns="0" rtlCol="0" anchor="ctr"/>
          <a:lstStyle/>
          <a:p>
            <a:pPr marL="0" indent="0">
              <a:buNone/>
            </a:pPr>
            <a:r>
              <a:rPr lang="en-US" sz="1100" dirty="0">
                <a:solidFill>
                  <a:srgbClr val="5C6B82"/>
                </a:solidFill>
                <a:latin typeface="Calibri" pitchFamily="34" charset="0"/>
                <a:ea typeface="Calibri" pitchFamily="34" charset="-122"/>
                <a:cs typeface="Calibri" pitchFamily="34" charset="-120"/>
              </a:rPr>
              <a:t>Batch of 32 samples.</a:t>
            </a:r>
            <a:endParaRPr lang="en-US" sz="1100" dirty="0"/>
          </a:p>
        </p:txBody>
      </p:sp>
      <p:sp>
        <p:nvSpPr>
          <p:cNvPr id="23" name="Shape 21"/>
          <p:cNvSpPr/>
          <p:nvPr/>
        </p:nvSpPr>
        <p:spPr>
          <a:xfrm>
            <a:off x="457200" y="2724912"/>
            <a:ext cx="3657600" cy="1417320"/>
          </a:xfrm>
          <a:prstGeom prst="rect">
            <a:avLst/>
          </a:prstGeom>
          <a:solidFill>
            <a:srgbClr val="FFFFFF"/>
          </a:solidFill>
          <a:ln w="9525">
            <a:solidFill>
              <a:srgbClr val="DDE3EC"/>
            </a:solidFill>
            <a:prstDash val="solid"/>
          </a:ln>
        </p:spPr>
        <p:txBody>
          <a:bodyPr/>
          <a:lstStyle/>
          <a:p>
            <a:endParaRPr lang="en-US"/>
          </a:p>
        </p:txBody>
      </p:sp>
      <p:sp>
        <p:nvSpPr>
          <p:cNvPr id="24" name="Shape 22"/>
          <p:cNvSpPr/>
          <p:nvPr/>
        </p:nvSpPr>
        <p:spPr>
          <a:xfrm>
            <a:off x="457200" y="2724912"/>
            <a:ext cx="3657600" cy="411480"/>
          </a:xfrm>
          <a:prstGeom prst="rect">
            <a:avLst/>
          </a:prstGeom>
          <a:solidFill>
            <a:srgbClr val="1E88E5"/>
          </a:solidFill>
          <a:ln w="12700">
            <a:solidFill>
              <a:srgbClr val="1E88E5"/>
            </a:solidFill>
            <a:prstDash val="solid"/>
          </a:ln>
        </p:spPr>
        <p:txBody>
          <a:bodyPr/>
          <a:lstStyle/>
          <a:p>
            <a:endParaRPr lang="en-US"/>
          </a:p>
        </p:txBody>
      </p:sp>
      <p:sp>
        <p:nvSpPr>
          <p:cNvPr id="25" name="Text 23"/>
          <p:cNvSpPr/>
          <p:nvPr/>
        </p:nvSpPr>
        <p:spPr>
          <a:xfrm>
            <a:off x="594360" y="2770632"/>
            <a:ext cx="33832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SGD + Momentum</a:t>
            </a:r>
            <a:endParaRPr lang="en-US" sz="1300" dirty="0"/>
          </a:p>
        </p:txBody>
      </p:sp>
      <p:sp>
        <p:nvSpPr>
          <p:cNvPr id="26" name="Text 24"/>
          <p:cNvSpPr/>
          <p:nvPr/>
        </p:nvSpPr>
        <p:spPr>
          <a:xfrm>
            <a:off x="594360" y="3182112"/>
            <a:ext cx="3383280" cy="365760"/>
          </a:xfrm>
          <a:prstGeom prst="rect">
            <a:avLst/>
          </a:prstGeom>
          <a:noFill/>
          <a:ln/>
        </p:spPr>
        <p:txBody>
          <a:bodyPr wrap="square" lIns="0" tIns="0" rIns="0" bIns="0" rtlCol="0" anchor="ctr"/>
          <a:lstStyle/>
          <a:p>
            <a:pPr marL="0" indent="0">
              <a:buNone/>
            </a:pPr>
            <a:r>
              <a:rPr lang="en-US" sz="1300" b="1" i="1" dirty="0">
                <a:solidFill>
                  <a:srgbClr val="0B2545"/>
                </a:solidFill>
                <a:latin typeface="Consolas" pitchFamily="34" charset="0"/>
                <a:ea typeface="Consolas" pitchFamily="34" charset="-122"/>
                <a:cs typeface="Consolas" pitchFamily="34" charset="-120"/>
              </a:rPr>
              <a:t>v ← βv + ∇L; w ← w − ηv</a:t>
            </a:r>
            <a:endParaRPr lang="en-US" sz="1300" dirty="0"/>
          </a:p>
        </p:txBody>
      </p:sp>
      <p:sp>
        <p:nvSpPr>
          <p:cNvPr id="27" name="Text 25"/>
          <p:cNvSpPr/>
          <p:nvPr/>
        </p:nvSpPr>
        <p:spPr>
          <a:xfrm>
            <a:off x="594360" y="3593592"/>
            <a:ext cx="3383280" cy="457200"/>
          </a:xfrm>
          <a:prstGeom prst="rect">
            <a:avLst/>
          </a:prstGeom>
          <a:noFill/>
          <a:ln/>
        </p:spPr>
        <p:txBody>
          <a:bodyPr wrap="square" lIns="0" tIns="0" rIns="0" bIns="0" rtlCol="0" anchor="ctr"/>
          <a:lstStyle/>
          <a:p>
            <a:pPr marL="0" indent="0">
              <a:buNone/>
            </a:pPr>
            <a:r>
              <a:rPr lang="en-US" sz="1100" dirty="0">
                <a:solidFill>
                  <a:srgbClr val="5C6B82"/>
                </a:solidFill>
                <a:latin typeface="Calibri" pitchFamily="34" charset="0"/>
                <a:ea typeface="Calibri" pitchFamily="34" charset="-122"/>
                <a:cs typeface="Calibri" pitchFamily="34" charset="-120"/>
              </a:rPr>
              <a:t>Velocity term β = 0.9 carries past gradients forward.</a:t>
            </a:r>
            <a:endParaRPr lang="en-US" sz="1100" dirty="0"/>
          </a:p>
        </p:txBody>
      </p:sp>
      <p:sp>
        <p:nvSpPr>
          <p:cNvPr id="28" name="Shape 26"/>
          <p:cNvSpPr/>
          <p:nvPr/>
        </p:nvSpPr>
        <p:spPr>
          <a:xfrm>
            <a:off x="4233672" y="2724912"/>
            <a:ext cx="3657600" cy="1417320"/>
          </a:xfrm>
          <a:prstGeom prst="rect">
            <a:avLst/>
          </a:prstGeom>
          <a:solidFill>
            <a:srgbClr val="FFFFFF"/>
          </a:solidFill>
          <a:ln w="9525">
            <a:solidFill>
              <a:srgbClr val="DDE3EC"/>
            </a:solidFill>
            <a:prstDash val="solid"/>
          </a:ln>
        </p:spPr>
        <p:txBody>
          <a:bodyPr/>
          <a:lstStyle/>
          <a:p>
            <a:endParaRPr lang="en-US"/>
          </a:p>
        </p:txBody>
      </p:sp>
      <p:sp>
        <p:nvSpPr>
          <p:cNvPr id="29" name="Shape 27"/>
          <p:cNvSpPr/>
          <p:nvPr/>
        </p:nvSpPr>
        <p:spPr>
          <a:xfrm>
            <a:off x="4233672" y="2724912"/>
            <a:ext cx="3657600" cy="411480"/>
          </a:xfrm>
          <a:prstGeom prst="rect">
            <a:avLst/>
          </a:prstGeom>
          <a:solidFill>
            <a:srgbClr val="EE964B"/>
          </a:solidFill>
          <a:ln w="12700">
            <a:solidFill>
              <a:srgbClr val="EE964B"/>
            </a:solidFill>
            <a:prstDash val="solid"/>
          </a:ln>
        </p:spPr>
        <p:txBody>
          <a:bodyPr/>
          <a:lstStyle/>
          <a:p>
            <a:endParaRPr lang="en-US"/>
          </a:p>
        </p:txBody>
      </p:sp>
      <p:sp>
        <p:nvSpPr>
          <p:cNvPr id="30" name="Text 28"/>
          <p:cNvSpPr/>
          <p:nvPr/>
        </p:nvSpPr>
        <p:spPr>
          <a:xfrm>
            <a:off x="4370832" y="2770632"/>
            <a:ext cx="33832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Adam</a:t>
            </a:r>
            <a:endParaRPr lang="en-US" sz="1300" dirty="0"/>
          </a:p>
        </p:txBody>
      </p:sp>
      <p:sp>
        <p:nvSpPr>
          <p:cNvPr id="31" name="Text 29"/>
          <p:cNvSpPr/>
          <p:nvPr/>
        </p:nvSpPr>
        <p:spPr>
          <a:xfrm>
            <a:off x="4370832" y="3182112"/>
            <a:ext cx="3383280" cy="365760"/>
          </a:xfrm>
          <a:prstGeom prst="rect">
            <a:avLst/>
          </a:prstGeom>
          <a:noFill/>
          <a:ln/>
        </p:spPr>
        <p:txBody>
          <a:bodyPr wrap="square" lIns="0" tIns="0" rIns="0" bIns="0" rtlCol="0" anchor="ctr"/>
          <a:lstStyle/>
          <a:p>
            <a:pPr marL="0" indent="0">
              <a:buNone/>
            </a:pPr>
            <a:r>
              <a:rPr lang="en-US" sz="1300" b="1" i="1" dirty="0">
                <a:solidFill>
                  <a:srgbClr val="0B2545"/>
                </a:solidFill>
                <a:latin typeface="Consolas" pitchFamily="34" charset="0"/>
                <a:ea typeface="Consolas" pitchFamily="34" charset="-122"/>
                <a:cs typeface="Consolas" pitchFamily="34" charset="-120"/>
              </a:rPr>
              <a:t>m̂, v̂ → w ← w − η · m̂/(√v̂+ε)</a:t>
            </a:r>
            <a:endParaRPr lang="en-US" sz="1300" dirty="0"/>
          </a:p>
        </p:txBody>
      </p:sp>
      <p:sp>
        <p:nvSpPr>
          <p:cNvPr id="32" name="Text 30"/>
          <p:cNvSpPr/>
          <p:nvPr/>
        </p:nvSpPr>
        <p:spPr>
          <a:xfrm>
            <a:off x="4370832" y="3593592"/>
            <a:ext cx="3383280" cy="457200"/>
          </a:xfrm>
          <a:prstGeom prst="rect">
            <a:avLst/>
          </a:prstGeom>
          <a:noFill/>
          <a:ln/>
        </p:spPr>
        <p:txBody>
          <a:bodyPr wrap="square" lIns="0" tIns="0" rIns="0" bIns="0" rtlCol="0" anchor="ctr"/>
          <a:lstStyle/>
          <a:p>
            <a:pPr marL="0" indent="0">
              <a:buNone/>
            </a:pPr>
            <a:r>
              <a:rPr lang="en-US" sz="1100" dirty="0">
                <a:solidFill>
                  <a:srgbClr val="5C6B82"/>
                </a:solidFill>
                <a:latin typeface="Calibri" pitchFamily="34" charset="0"/>
                <a:ea typeface="Calibri" pitchFamily="34" charset="-122"/>
                <a:cs typeface="Calibri" pitchFamily="34" charset="-120"/>
              </a:rPr>
              <a:t>Per-parameter adaptive step size from running moments.</a:t>
            </a:r>
            <a:endParaRPr lang="en-US" sz="1100" dirty="0"/>
          </a:p>
        </p:txBody>
      </p:sp>
      <p:sp>
        <p:nvSpPr>
          <p:cNvPr id="33" name="Shape 31"/>
          <p:cNvSpPr/>
          <p:nvPr/>
        </p:nvSpPr>
        <p:spPr>
          <a:xfrm>
            <a:off x="8010144" y="2724912"/>
            <a:ext cx="3657600" cy="1417320"/>
          </a:xfrm>
          <a:prstGeom prst="rect">
            <a:avLst/>
          </a:prstGeom>
          <a:solidFill>
            <a:srgbClr val="FFFFFF"/>
          </a:solidFill>
          <a:ln w="9525">
            <a:solidFill>
              <a:srgbClr val="DDE3EC"/>
            </a:solidFill>
            <a:prstDash val="solid"/>
          </a:ln>
        </p:spPr>
        <p:txBody>
          <a:bodyPr/>
          <a:lstStyle/>
          <a:p>
            <a:endParaRPr lang="en-US"/>
          </a:p>
        </p:txBody>
      </p:sp>
      <p:sp>
        <p:nvSpPr>
          <p:cNvPr id="34" name="Shape 32"/>
          <p:cNvSpPr/>
          <p:nvPr/>
        </p:nvSpPr>
        <p:spPr>
          <a:xfrm>
            <a:off x="8010144" y="2724912"/>
            <a:ext cx="3657600" cy="411480"/>
          </a:xfrm>
          <a:prstGeom prst="rect">
            <a:avLst/>
          </a:prstGeom>
          <a:solidFill>
            <a:srgbClr val="C03221"/>
          </a:solidFill>
          <a:ln w="12700">
            <a:solidFill>
              <a:srgbClr val="C03221"/>
            </a:solidFill>
            <a:prstDash val="solid"/>
          </a:ln>
        </p:spPr>
        <p:txBody>
          <a:bodyPr/>
          <a:lstStyle/>
          <a:p>
            <a:endParaRPr lang="en-US"/>
          </a:p>
        </p:txBody>
      </p:sp>
      <p:sp>
        <p:nvSpPr>
          <p:cNvPr id="35" name="Text 33"/>
          <p:cNvSpPr/>
          <p:nvPr/>
        </p:nvSpPr>
        <p:spPr>
          <a:xfrm>
            <a:off x="8147304" y="2770632"/>
            <a:ext cx="33832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L-BFGS</a:t>
            </a:r>
            <a:endParaRPr lang="en-US" sz="1300" dirty="0"/>
          </a:p>
        </p:txBody>
      </p:sp>
      <p:sp>
        <p:nvSpPr>
          <p:cNvPr id="36" name="Text 34"/>
          <p:cNvSpPr/>
          <p:nvPr/>
        </p:nvSpPr>
        <p:spPr>
          <a:xfrm>
            <a:off x="8147304" y="3182112"/>
            <a:ext cx="3383280" cy="365760"/>
          </a:xfrm>
          <a:prstGeom prst="rect">
            <a:avLst/>
          </a:prstGeom>
          <a:noFill/>
          <a:ln/>
        </p:spPr>
        <p:txBody>
          <a:bodyPr wrap="square" lIns="0" tIns="0" rIns="0" bIns="0" rtlCol="0" anchor="ctr"/>
          <a:lstStyle/>
          <a:p>
            <a:pPr marL="0" indent="0">
              <a:buNone/>
            </a:pPr>
            <a:r>
              <a:rPr lang="en-US" sz="1300" b="1" i="1" dirty="0">
                <a:solidFill>
                  <a:srgbClr val="0B2545"/>
                </a:solidFill>
                <a:latin typeface="Consolas" pitchFamily="34" charset="0"/>
                <a:ea typeface="Consolas" pitchFamily="34" charset="-122"/>
                <a:cs typeface="Consolas" pitchFamily="34" charset="-120"/>
              </a:rPr>
              <a:t>w ← w − η H⁻¹ ∇L</a:t>
            </a:r>
            <a:endParaRPr lang="en-US" sz="1300" dirty="0"/>
          </a:p>
        </p:txBody>
      </p:sp>
      <p:sp>
        <p:nvSpPr>
          <p:cNvPr id="37" name="Text 35"/>
          <p:cNvSpPr/>
          <p:nvPr/>
        </p:nvSpPr>
        <p:spPr>
          <a:xfrm>
            <a:off x="8147304" y="3593592"/>
            <a:ext cx="3383280" cy="457200"/>
          </a:xfrm>
          <a:prstGeom prst="rect">
            <a:avLst/>
          </a:prstGeom>
          <a:noFill/>
          <a:ln/>
        </p:spPr>
        <p:txBody>
          <a:bodyPr wrap="square" lIns="0" tIns="0" rIns="0" bIns="0" rtlCol="0" anchor="ctr"/>
          <a:lstStyle/>
          <a:p>
            <a:pPr marL="0" indent="0">
              <a:buNone/>
            </a:pPr>
            <a:r>
              <a:rPr lang="en-US" sz="1100" dirty="0">
                <a:solidFill>
                  <a:srgbClr val="5C6B82"/>
                </a:solidFill>
                <a:latin typeface="Calibri" pitchFamily="34" charset="0"/>
                <a:ea typeface="Calibri" pitchFamily="34" charset="-122"/>
                <a:cs typeface="Calibri" pitchFamily="34" charset="-120"/>
              </a:rPr>
              <a:t>Quasi-Newton: approximates inverse Hessian from history.</a:t>
            </a:r>
            <a:endParaRPr lang="en-US" sz="1100" dirty="0"/>
          </a:p>
        </p:txBody>
      </p:sp>
      <p:sp>
        <p:nvSpPr>
          <p:cNvPr id="38" name="Shape 36"/>
          <p:cNvSpPr/>
          <p:nvPr/>
        </p:nvSpPr>
        <p:spPr>
          <a:xfrm>
            <a:off x="457200" y="4434840"/>
            <a:ext cx="11247120" cy="1874520"/>
          </a:xfrm>
          <a:prstGeom prst="rect">
            <a:avLst/>
          </a:prstGeom>
          <a:solidFill>
            <a:srgbClr val="0B2545"/>
          </a:solidFill>
          <a:ln w="12700">
            <a:solidFill>
              <a:srgbClr val="0B2545"/>
            </a:solidFill>
            <a:prstDash val="solid"/>
          </a:ln>
        </p:spPr>
        <p:txBody>
          <a:bodyPr/>
          <a:lstStyle/>
          <a:p>
            <a:endParaRPr lang="en-US"/>
          </a:p>
        </p:txBody>
      </p:sp>
      <p:sp>
        <p:nvSpPr>
          <p:cNvPr id="39" name="Shape 37"/>
          <p:cNvSpPr/>
          <p:nvPr/>
        </p:nvSpPr>
        <p:spPr>
          <a:xfrm>
            <a:off x="457200" y="4434840"/>
            <a:ext cx="73152" cy="1874520"/>
          </a:xfrm>
          <a:prstGeom prst="rect">
            <a:avLst/>
          </a:prstGeom>
          <a:solidFill>
            <a:srgbClr val="EE964B"/>
          </a:solidFill>
          <a:ln w="12700">
            <a:solidFill>
              <a:srgbClr val="EE964B"/>
            </a:solidFill>
            <a:prstDash val="solid"/>
          </a:ln>
        </p:spPr>
        <p:txBody>
          <a:bodyPr/>
          <a:lstStyle/>
          <a:p>
            <a:endParaRPr lang="en-US"/>
          </a:p>
        </p:txBody>
      </p:sp>
      <p:sp>
        <p:nvSpPr>
          <p:cNvPr id="40" name="Text 38"/>
          <p:cNvSpPr/>
          <p:nvPr/>
        </p:nvSpPr>
        <p:spPr>
          <a:xfrm>
            <a:off x="777240" y="4526280"/>
            <a:ext cx="10972800" cy="365760"/>
          </a:xfrm>
          <a:prstGeom prst="rect">
            <a:avLst/>
          </a:prstGeom>
          <a:noFill/>
          <a:ln/>
        </p:spPr>
        <p:txBody>
          <a:bodyPr wrap="square" rtlCol="0" anchor="ctr"/>
          <a:lstStyle/>
          <a:p>
            <a:pPr marL="0" indent="0">
              <a:buNone/>
            </a:pPr>
            <a:r>
              <a:rPr lang="en-US" sz="1400" b="1" dirty="0">
                <a:solidFill>
                  <a:srgbClr val="EE964B"/>
                </a:solidFill>
                <a:latin typeface="Calibri" pitchFamily="34" charset="0"/>
                <a:ea typeface="Calibri" pitchFamily="34" charset="-122"/>
                <a:cs typeface="Calibri" pitchFamily="34" charset="-120"/>
              </a:rPr>
              <a:t>Family map</a:t>
            </a:r>
            <a:endParaRPr lang="en-US" sz="1400" dirty="0"/>
          </a:p>
        </p:txBody>
      </p:sp>
      <p:sp>
        <p:nvSpPr>
          <p:cNvPr id="41" name="Text 39"/>
          <p:cNvSpPr/>
          <p:nvPr/>
        </p:nvSpPr>
        <p:spPr>
          <a:xfrm>
            <a:off x="777240" y="4937760"/>
            <a:ext cx="10972800" cy="1325880"/>
          </a:xfrm>
          <a:prstGeom prst="rect">
            <a:avLst/>
          </a:prstGeom>
          <a:noFill/>
          <a:ln/>
        </p:spPr>
        <p:txBody>
          <a:bodyPr wrap="square" rtlCol="0" anchor="ctr"/>
          <a:lstStyle/>
          <a:p>
            <a:pPr marL="0" indent="0">
              <a:spcAft>
                <a:spcPts val="100"/>
              </a:spcAft>
              <a:buNone/>
            </a:pPr>
            <a:r>
              <a:rPr lang="en-US" sz="1200" b="1" dirty="0">
                <a:solidFill>
                  <a:srgbClr val="EE964B"/>
                </a:solidFill>
                <a:latin typeface="Calibri" pitchFamily="34" charset="0"/>
                <a:ea typeface="Calibri" pitchFamily="34" charset="-122"/>
                <a:cs typeface="Calibri" pitchFamily="34" charset="-120"/>
              </a:rPr>
              <a:t>First-order, deterministic: </a:t>
            </a:r>
            <a:r>
              <a:rPr lang="en-US" sz="1200" dirty="0">
                <a:solidFill>
                  <a:srgbClr val="FFFFFF"/>
                </a:solidFill>
                <a:latin typeface="Calibri" pitchFamily="34" charset="0"/>
                <a:ea typeface="Calibri" pitchFamily="34" charset="-122"/>
                <a:cs typeface="Calibri" pitchFamily="34" charset="-120"/>
              </a:rPr>
              <a:t>Full-batch GD</a:t>
            </a:r>
            <a:endParaRPr lang="en-US" sz="1200" dirty="0"/>
          </a:p>
          <a:p>
            <a:pPr marL="0" indent="0">
              <a:spcAft>
                <a:spcPts val="100"/>
              </a:spcAft>
              <a:buNone/>
            </a:pPr>
            <a:r>
              <a:rPr lang="en-US" sz="1200" b="1" dirty="0">
                <a:solidFill>
                  <a:srgbClr val="EE964B"/>
                </a:solidFill>
                <a:latin typeface="Calibri" pitchFamily="34" charset="0"/>
                <a:ea typeface="Calibri" pitchFamily="34" charset="-122"/>
                <a:cs typeface="Calibri" pitchFamily="34" charset="-120"/>
              </a:rPr>
              <a:t>First-order, stochastic: </a:t>
            </a:r>
            <a:r>
              <a:rPr lang="en-US" sz="1200" dirty="0">
                <a:solidFill>
                  <a:srgbClr val="FFFFFF"/>
                </a:solidFill>
                <a:latin typeface="Calibri" pitchFamily="34" charset="0"/>
                <a:ea typeface="Calibri" pitchFamily="34" charset="-122"/>
                <a:cs typeface="Calibri" pitchFamily="34" charset="-120"/>
              </a:rPr>
              <a:t>SGD · Mini-batch SGD · SGD+Momentum</a:t>
            </a:r>
            <a:endParaRPr lang="en-US" sz="1200" dirty="0"/>
          </a:p>
          <a:p>
            <a:pPr marL="0" indent="0">
              <a:spcAft>
                <a:spcPts val="100"/>
              </a:spcAft>
              <a:buNone/>
            </a:pPr>
            <a:r>
              <a:rPr lang="en-US" sz="1200" b="1" dirty="0">
                <a:solidFill>
                  <a:srgbClr val="EE964B"/>
                </a:solidFill>
                <a:latin typeface="Calibri" pitchFamily="34" charset="0"/>
                <a:ea typeface="Calibri" pitchFamily="34" charset="-122"/>
                <a:cs typeface="Calibri" pitchFamily="34" charset="-120"/>
              </a:rPr>
              <a:t>Adaptive first-order: </a:t>
            </a:r>
            <a:r>
              <a:rPr lang="en-US" sz="1200" dirty="0">
                <a:solidFill>
                  <a:srgbClr val="FFFFFF"/>
                </a:solidFill>
                <a:latin typeface="Calibri" pitchFamily="34" charset="0"/>
                <a:ea typeface="Calibri" pitchFamily="34" charset="-122"/>
                <a:cs typeface="Calibri" pitchFamily="34" charset="-120"/>
              </a:rPr>
              <a:t>Adam — per-parameter learning rates from gradient moments</a:t>
            </a:r>
            <a:endParaRPr lang="en-US" sz="1200" dirty="0"/>
          </a:p>
          <a:p>
            <a:pPr marL="0" indent="0">
              <a:spcAft>
                <a:spcPts val="100"/>
              </a:spcAft>
              <a:buNone/>
            </a:pPr>
            <a:r>
              <a:rPr lang="en-US" sz="1200" b="1" dirty="0">
                <a:solidFill>
                  <a:srgbClr val="EE964B"/>
                </a:solidFill>
                <a:latin typeface="Calibri" pitchFamily="34" charset="0"/>
                <a:ea typeface="Calibri" pitchFamily="34" charset="-122"/>
                <a:cs typeface="Calibri" pitchFamily="34" charset="-120"/>
              </a:rPr>
              <a:t>Quasi-Newton: </a:t>
            </a:r>
            <a:r>
              <a:rPr lang="en-US" sz="1200" dirty="0">
                <a:solidFill>
                  <a:srgbClr val="FFFFFF"/>
                </a:solidFill>
                <a:latin typeface="Calibri" pitchFamily="34" charset="0"/>
                <a:ea typeface="Calibri" pitchFamily="34" charset="-122"/>
                <a:cs typeface="Calibri" pitchFamily="34" charset="-120"/>
              </a:rPr>
              <a:t>L-BFGS — uses curvature; converges in fewer iterations but each step is expensive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The Four Learning-Rate Schedules</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How the step-size η changes during training.</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sp>
        <p:nvSpPr>
          <p:cNvPr id="8" name="Shape 6"/>
          <p:cNvSpPr/>
          <p:nvPr/>
        </p:nvSpPr>
        <p:spPr>
          <a:xfrm>
            <a:off x="457200" y="1188720"/>
            <a:ext cx="5486400" cy="2103120"/>
          </a:xfrm>
          <a:prstGeom prst="rect">
            <a:avLst/>
          </a:prstGeom>
          <a:solidFill>
            <a:srgbClr val="FFFFFF"/>
          </a:solidFill>
          <a:ln w="9525">
            <a:solidFill>
              <a:srgbClr val="DDE3EC"/>
            </a:solidFill>
            <a:prstDash val="solid"/>
          </a:ln>
        </p:spPr>
        <p:txBody>
          <a:bodyPr/>
          <a:lstStyle/>
          <a:p>
            <a:endParaRPr lang="en-US"/>
          </a:p>
        </p:txBody>
      </p:sp>
      <p:sp>
        <p:nvSpPr>
          <p:cNvPr id="9" name="Shape 7"/>
          <p:cNvSpPr/>
          <p:nvPr/>
        </p:nvSpPr>
        <p:spPr>
          <a:xfrm>
            <a:off x="457200" y="1188720"/>
            <a:ext cx="73152" cy="2103120"/>
          </a:xfrm>
          <a:prstGeom prst="rect">
            <a:avLst/>
          </a:prstGeom>
          <a:solidFill>
            <a:srgbClr val="0B2545"/>
          </a:solidFill>
          <a:ln w="12700">
            <a:solidFill>
              <a:srgbClr val="0B2545"/>
            </a:solidFill>
            <a:prstDash val="solid"/>
          </a:ln>
        </p:spPr>
        <p:txBody>
          <a:bodyPr/>
          <a:lstStyle/>
          <a:p>
            <a:endParaRPr lang="en-US"/>
          </a:p>
        </p:txBody>
      </p:sp>
      <p:sp>
        <p:nvSpPr>
          <p:cNvPr id="10" name="Text 8"/>
          <p:cNvSpPr/>
          <p:nvPr/>
        </p:nvSpPr>
        <p:spPr>
          <a:xfrm>
            <a:off x="685800" y="1298448"/>
            <a:ext cx="5029200" cy="365760"/>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Constant</a:t>
            </a:r>
            <a:endParaRPr lang="en-US" sz="1600" dirty="0"/>
          </a:p>
        </p:txBody>
      </p:sp>
      <p:sp>
        <p:nvSpPr>
          <p:cNvPr id="11" name="Shape 9"/>
          <p:cNvSpPr/>
          <p:nvPr/>
        </p:nvSpPr>
        <p:spPr>
          <a:xfrm>
            <a:off x="685800" y="1737360"/>
            <a:ext cx="5029200" cy="502920"/>
          </a:xfrm>
          <a:prstGeom prst="rect">
            <a:avLst/>
          </a:prstGeom>
          <a:solidFill>
            <a:srgbClr val="F4F1EC"/>
          </a:solidFill>
          <a:ln w="12700">
            <a:solidFill>
              <a:srgbClr val="F4F1EC"/>
            </a:solidFill>
            <a:prstDash val="solid"/>
          </a:ln>
        </p:spPr>
        <p:txBody>
          <a:bodyPr/>
          <a:lstStyle/>
          <a:p>
            <a:endParaRPr lang="en-US"/>
          </a:p>
        </p:txBody>
      </p:sp>
      <p:sp>
        <p:nvSpPr>
          <p:cNvPr id="12" name="Text 10"/>
          <p:cNvSpPr/>
          <p:nvPr/>
        </p:nvSpPr>
        <p:spPr>
          <a:xfrm>
            <a:off x="685800" y="1737360"/>
            <a:ext cx="5029200" cy="502920"/>
          </a:xfrm>
          <a:prstGeom prst="rect">
            <a:avLst/>
          </a:prstGeom>
          <a:noFill/>
          <a:ln/>
        </p:spPr>
        <p:txBody>
          <a:bodyPr wrap="square" lIns="0" tIns="0" rIns="0" bIns="0" rtlCol="0" anchor="ctr"/>
          <a:lstStyle/>
          <a:p>
            <a:pPr marL="0" indent="0" algn="ctr">
              <a:buNone/>
            </a:pPr>
            <a:r>
              <a:rPr lang="en-US" sz="1400" b="1" i="1" dirty="0">
                <a:solidFill>
                  <a:srgbClr val="0B2545"/>
                </a:solidFill>
                <a:latin typeface="Consolas" pitchFamily="34" charset="0"/>
                <a:ea typeface="Consolas" pitchFamily="34" charset="-122"/>
                <a:cs typeface="Consolas" pitchFamily="34" charset="-120"/>
              </a:rPr>
              <a:t>η_t = η₀</a:t>
            </a:r>
            <a:endParaRPr lang="en-US" sz="1400" dirty="0"/>
          </a:p>
        </p:txBody>
      </p:sp>
      <p:sp>
        <p:nvSpPr>
          <p:cNvPr id="13" name="Text 11"/>
          <p:cNvSpPr/>
          <p:nvPr/>
        </p:nvSpPr>
        <p:spPr>
          <a:xfrm>
            <a:off x="685800" y="2331720"/>
            <a:ext cx="5029200" cy="868680"/>
          </a:xfrm>
          <a:prstGeom prst="rect">
            <a:avLst/>
          </a:prstGeom>
          <a:noFill/>
          <a:ln/>
        </p:spPr>
        <p:txBody>
          <a:bodyPr wrap="square" lIns="0" tIns="0" rIns="0" bIns="0" rtlCol="0" anchor="ctr"/>
          <a:lstStyle/>
          <a:p>
            <a:pPr marL="0" indent="0">
              <a:buNone/>
            </a:pPr>
            <a:r>
              <a:rPr lang="en-US" sz="1200" dirty="0">
                <a:solidFill>
                  <a:srgbClr val="1A2238"/>
                </a:solidFill>
                <a:latin typeface="Calibri" pitchFamily="34" charset="0"/>
                <a:ea typeface="Calibri" pitchFamily="34" charset="-122"/>
                <a:cs typeface="Calibri" pitchFamily="34" charset="-120"/>
              </a:rPr>
              <a:t>Step size never changes. Simplest baseline; often surprisingly hard to beat on convex problems.</a:t>
            </a:r>
            <a:endParaRPr lang="en-US" sz="1200" dirty="0"/>
          </a:p>
        </p:txBody>
      </p:sp>
      <p:sp>
        <p:nvSpPr>
          <p:cNvPr id="14" name="Shape 12"/>
          <p:cNvSpPr/>
          <p:nvPr/>
        </p:nvSpPr>
        <p:spPr>
          <a:xfrm>
            <a:off x="6126480" y="1188720"/>
            <a:ext cx="5486400" cy="2103120"/>
          </a:xfrm>
          <a:prstGeom prst="rect">
            <a:avLst/>
          </a:prstGeom>
          <a:solidFill>
            <a:srgbClr val="FFFFFF"/>
          </a:solidFill>
          <a:ln w="9525">
            <a:solidFill>
              <a:srgbClr val="DDE3EC"/>
            </a:solidFill>
            <a:prstDash val="solid"/>
          </a:ln>
        </p:spPr>
        <p:txBody>
          <a:bodyPr/>
          <a:lstStyle/>
          <a:p>
            <a:endParaRPr lang="en-US"/>
          </a:p>
        </p:txBody>
      </p:sp>
      <p:sp>
        <p:nvSpPr>
          <p:cNvPr id="15" name="Shape 13"/>
          <p:cNvSpPr/>
          <p:nvPr/>
        </p:nvSpPr>
        <p:spPr>
          <a:xfrm>
            <a:off x="6126480" y="1188720"/>
            <a:ext cx="73152" cy="2103120"/>
          </a:xfrm>
          <a:prstGeom prst="rect">
            <a:avLst/>
          </a:prstGeom>
          <a:solidFill>
            <a:srgbClr val="1B7F8C"/>
          </a:solidFill>
          <a:ln w="12700">
            <a:solidFill>
              <a:srgbClr val="1B7F8C"/>
            </a:solidFill>
            <a:prstDash val="solid"/>
          </a:ln>
        </p:spPr>
        <p:txBody>
          <a:bodyPr/>
          <a:lstStyle/>
          <a:p>
            <a:endParaRPr lang="en-US"/>
          </a:p>
        </p:txBody>
      </p:sp>
      <p:sp>
        <p:nvSpPr>
          <p:cNvPr id="16" name="Text 14"/>
          <p:cNvSpPr/>
          <p:nvPr/>
        </p:nvSpPr>
        <p:spPr>
          <a:xfrm>
            <a:off x="6355080" y="1298448"/>
            <a:ext cx="5029200" cy="365760"/>
          </a:xfrm>
          <a:prstGeom prst="rect">
            <a:avLst/>
          </a:prstGeom>
          <a:noFill/>
          <a:ln/>
        </p:spPr>
        <p:txBody>
          <a:bodyPr wrap="square" lIns="0" tIns="0" rIns="0" bIns="0" rtlCol="0" anchor="ctr"/>
          <a:lstStyle/>
          <a:p>
            <a:pPr marL="0" indent="0">
              <a:buNone/>
            </a:pPr>
            <a:r>
              <a:rPr lang="en-US" sz="1600" b="1" dirty="0">
                <a:solidFill>
                  <a:srgbClr val="1B7F8C"/>
                </a:solidFill>
                <a:latin typeface="Calibri" pitchFamily="34" charset="0"/>
                <a:ea typeface="Calibri" pitchFamily="34" charset="-122"/>
                <a:cs typeface="Calibri" pitchFamily="34" charset="-120"/>
              </a:rPr>
              <a:t>Cosine Decay</a:t>
            </a:r>
            <a:endParaRPr lang="en-US" sz="1600" dirty="0"/>
          </a:p>
        </p:txBody>
      </p:sp>
      <p:sp>
        <p:nvSpPr>
          <p:cNvPr id="17" name="Shape 15"/>
          <p:cNvSpPr/>
          <p:nvPr/>
        </p:nvSpPr>
        <p:spPr>
          <a:xfrm>
            <a:off x="6355080" y="1737360"/>
            <a:ext cx="5029200" cy="502920"/>
          </a:xfrm>
          <a:prstGeom prst="rect">
            <a:avLst/>
          </a:prstGeom>
          <a:solidFill>
            <a:srgbClr val="F4F1EC"/>
          </a:solidFill>
          <a:ln w="12700">
            <a:solidFill>
              <a:srgbClr val="F4F1EC"/>
            </a:solidFill>
            <a:prstDash val="solid"/>
          </a:ln>
        </p:spPr>
        <p:txBody>
          <a:bodyPr/>
          <a:lstStyle/>
          <a:p>
            <a:endParaRPr lang="en-US"/>
          </a:p>
        </p:txBody>
      </p:sp>
      <p:sp>
        <p:nvSpPr>
          <p:cNvPr id="18" name="Text 16"/>
          <p:cNvSpPr/>
          <p:nvPr/>
        </p:nvSpPr>
        <p:spPr>
          <a:xfrm>
            <a:off x="6355080" y="1737360"/>
            <a:ext cx="5029200" cy="502920"/>
          </a:xfrm>
          <a:prstGeom prst="rect">
            <a:avLst/>
          </a:prstGeom>
          <a:noFill/>
          <a:ln/>
        </p:spPr>
        <p:txBody>
          <a:bodyPr wrap="square" lIns="0" tIns="0" rIns="0" bIns="0" rtlCol="0" anchor="ctr"/>
          <a:lstStyle/>
          <a:p>
            <a:pPr marL="0" indent="0" algn="ctr">
              <a:buNone/>
            </a:pPr>
            <a:r>
              <a:rPr lang="en-US" sz="1400" b="1" i="1" dirty="0">
                <a:solidFill>
                  <a:srgbClr val="0B2545"/>
                </a:solidFill>
                <a:latin typeface="Consolas" pitchFamily="34" charset="0"/>
                <a:ea typeface="Consolas" pitchFamily="34" charset="-122"/>
                <a:cs typeface="Consolas" pitchFamily="34" charset="-120"/>
              </a:rPr>
              <a:t>η_t = η₀ · ½(1 + cos(πt/T))</a:t>
            </a:r>
            <a:endParaRPr lang="en-US" sz="1400" dirty="0"/>
          </a:p>
        </p:txBody>
      </p:sp>
      <p:sp>
        <p:nvSpPr>
          <p:cNvPr id="19" name="Text 17"/>
          <p:cNvSpPr/>
          <p:nvPr/>
        </p:nvSpPr>
        <p:spPr>
          <a:xfrm>
            <a:off x="6355080" y="2331720"/>
            <a:ext cx="5029200" cy="868680"/>
          </a:xfrm>
          <a:prstGeom prst="rect">
            <a:avLst/>
          </a:prstGeom>
          <a:noFill/>
          <a:ln/>
        </p:spPr>
        <p:txBody>
          <a:bodyPr wrap="square" lIns="0" tIns="0" rIns="0" bIns="0" rtlCol="0" anchor="ctr"/>
          <a:lstStyle/>
          <a:p>
            <a:pPr marL="0" indent="0">
              <a:buNone/>
            </a:pPr>
            <a:r>
              <a:rPr lang="en-US" sz="1200" dirty="0">
                <a:solidFill>
                  <a:srgbClr val="1A2238"/>
                </a:solidFill>
                <a:latin typeface="Calibri" pitchFamily="34" charset="0"/>
                <a:ea typeface="Calibri" pitchFamily="34" charset="-122"/>
                <a:cs typeface="Calibri" pitchFamily="34" charset="-120"/>
              </a:rPr>
              <a:t>Smoothly decays from η₀ to 0 over T epochs. Very large at the start, very small at the end.</a:t>
            </a:r>
            <a:endParaRPr lang="en-US" sz="1200" dirty="0"/>
          </a:p>
        </p:txBody>
      </p:sp>
      <p:sp>
        <p:nvSpPr>
          <p:cNvPr id="20" name="Shape 18"/>
          <p:cNvSpPr/>
          <p:nvPr/>
        </p:nvSpPr>
        <p:spPr>
          <a:xfrm>
            <a:off x="457200" y="3474720"/>
            <a:ext cx="5486400" cy="2103120"/>
          </a:xfrm>
          <a:prstGeom prst="rect">
            <a:avLst/>
          </a:prstGeom>
          <a:solidFill>
            <a:srgbClr val="FFFFFF"/>
          </a:solidFill>
          <a:ln w="9525">
            <a:solidFill>
              <a:srgbClr val="DDE3EC"/>
            </a:solidFill>
            <a:prstDash val="solid"/>
          </a:ln>
        </p:spPr>
        <p:txBody>
          <a:bodyPr/>
          <a:lstStyle/>
          <a:p>
            <a:endParaRPr lang="en-US"/>
          </a:p>
        </p:txBody>
      </p:sp>
      <p:sp>
        <p:nvSpPr>
          <p:cNvPr id="21" name="Shape 19"/>
          <p:cNvSpPr/>
          <p:nvPr/>
        </p:nvSpPr>
        <p:spPr>
          <a:xfrm>
            <a:off x="457200" y="3474720"/>
            <a:ext cx="73152" cy="2103120"/>
          </a:xfrm>
          <a:prstGeom prst="rect">
            <a:avLst/>
          </a:prstGeom>
          <a:solidFill>
            <a:srgbClr val="EE964B"/>
          </a:solidFill>
          <a:ln w="12700">
            <a:solidFill>
              <a:srgbClr val="EE964B"/>
            </a:solidFill>
            <a:prstDash val="solid"/>
          </a:ln>
        </p:spPr>
        <p:txBody>
          <a:bodyPr/>
          <a:lstStyle/>
          <a:p>
            <a:endParaRPr lang="en-US"/>
          </a:p>
        </p:txBody>
      </p:sp>
      <p:sp>
        <p:nvSpPr>
          <p:cNvPr id="22" name="Text 20"/>
          <p:cNvSpPr/>
          <p:nvPr/>
        </p:nvSpPr>
        <p:spPr>
          <a:xfrm>
            <a:off x="685800" y="3584448"/>
            <a:ext cx="5029200" cy="365760"/>
          </a:xfrm>
          <a:prstGeom prst="rect">
            <a:avLst/>
          </a:prstGeom>
          <a:noFill/>
          <a:ln/>
        </p:spPr>
        <p:txBody>
          <a:bodyPr wrap="square" lIns="0" tIns="0" rIns="0" bIns="0" rtlCol="0" anchor="ctr"/>
          <a:lstStyle/>
          <a:p>
            <a:pPr marL="0" indent="0">
              <a:buNone/>
            </a:pPr>
            <a:r>
              <a:rPr lang="en-US" sz="1600" b="1" dirty="0">
                <a:solidFill>
                  <a:srgbClr val="EE964B"/>
                </a:solidFill>
                <a:latin typeface="Calibri" pitchFamily="34" charset="0"/>
                <a:ea typeface="Calibri" pitchFamily="34" charset="-122"/>
                <a:cs typeface="Calibri" pitchFamily="34" charset="-120"/>
              </a:rPr>
              <a:t>Exponential Decay</a:t>
            </a:r>
            <a:endParaRPr lang="en-US" sz="1600" dirty="0"/>
          </a:p>
        </p:txBody>
      </p:sp>
      <p:sp>
        <p:nvSpPr>
          <p:cNvPr id="23" name="Shape 21"/>
          <p:cNvSpPr/>
          <p:nvPr/>
        </p:nvSpPr>
        <p:spPr>
          <a:xfrm>
            <a:off x="685800" y="4023360"/>
            <a:ext cx="5029200" cy="502920"/>
          </a:xfrm>
          <a:prstGeom prst="rect">
            <a:avLst/>
          </a:prstGeom>
          <a:solidFill>
            <a:srgbClr val="F4F1EC"/>
          </a:solidFill>
          <a:ln w="12700">
            <a:solidFill>
              <a:srgbClr val="F4F1EC"/>
            </a:solidFill>
            <a:prstDash val="solid"/>
          </a:ln>
        </p:spPr>
        <p:txBody>
          <a:bodyPr/>
          <a:lstStyle/>
          <a:p>
            <a:endParaRPr lang="en-US"/>
          </a:p>
        </p:txBody>
      </p:sp>
      <p:sp>
        <p:nvSpPr>
          <p:cNvPr id="24" name="Text 22"/>
          <p:cNvSpPr/>
          <p:nvPr/>
        </p:nvSpPr>
        <p:spPr>
          <a:xfrm>
            <a:off x="685800" y="4023360"/>
            <a:ext cx="5029200" cy="502920"/>
          </a:xfrm>
          <a:prstGeom prst="rect">
            <a:avLst/>
          </a:prstGeom>
          <a:noFill/>
          <a:ln/>
        </p:spPr>
        <p:txBody>
          <a:bodyPr wrap="square" lIns="0" tIns="0" rIns="0" bIns="0" rtlCol="0" anchor="ctr"/>
          <a:lstStyle/>
          <a:p>
            <a:pPr marL="0" indent="0" algn="ctr">
              <a:buNone/>
            </a:pPr>
            <a:r>
              <a:rPr lang="en-US" sz="1400" b="1" i="1" dirty="0">
                <a:solidFill>
                  <a:srgbClr val="0B2545"/>
                </a:solidFill>
                <a:latin typeface="Consolas" pitchFamily="34" charset="0"/>
                <a:ea typeface="Consolas" pitchFamily="34" charset="-122"/>
                <a:cs typeface="Consolas" pitchFamily="34" charset="-120"/>
              </a:rPr>
              <a:t>η_t = η₀ · γ^t</a:t>
            </a:r>
            <a:endParaRPr lang="en-US" sz="1400" dirty="0"/>
          </a:p>
        </p:txBody>
      </p:sp>
      <p:sp>
        <p:nvSpPr>
          <p:cNvPr id="25" name="Text 23"/>
          <p:cNvSpPr/>
          <p:nvPr/>
        </p:nvSpPr>
        <p:spPr>
          <a:xfrm>
            <a:off x="685800" y="4617720"/>
            <a:ext cx="5029200" cy="868680"/>
          </a:xfrm>
          <a:prstGeom prst="rect">
            <a:avLst/>
          </a:prstGeom>
          <a:noFill/>
          <a:ln/>
        </p:spPr>
        <p:txBody>
          <a:bodyPr wrap="square" lIns="0" tIns="0" rIns="0" bIns="0" rtlCol="0" anchor="ctr"/>
          <a:lstStyle/>
          <a:p>
            <a:pPr marL="0" indent="0">
              <a:buNone/>
            </a:pPr>
            <a:r>
              <a:rPr lang="en-US" sz="1200" dirty="0">
                <a:solidFill>
                  <a:srgbClr val="1A2238"/>
                </a:solidFill>
                <a:latin typeface="Calibri" pitchFamily="34" charset="0"/>
                <a:ea typeface="Calibri" pitchFamily="34" charset="-122"/>
                <a:cs typeface="Calibri" pitchFamily="34" charset="-120"/>
              </a:rPr>
              <a:t>Geometric shrinkage with γ = 0.97 per epoch. After 100 epochs, η is about 5 % of η₀.</a:t>
            </a:r>
            <a:endParaRPr lang="en-US" sz="1200" dirty="0"/>
          </a:p>
        </p:txBody>
      </p:sp>
      <p:sp>
        <p:nvSpPr>
          <p:cNvPr id="26" name="Shape 24"/>
          <p:cNvSpPr/>
          <p:nvPr/>
        </p:nvSpPr>
        <p:spPr>
          <a:xfrm>
            <a:off x="6126480" y="3474720"/>
            <a:ext cx="5486400" cy="2103120"/>
          </a:xfrm>
          <a:prstGeom prst="rect">
            <a:avLst/>
          </a:prstGeom>
          <a:solidFill>
            <a:srgbClr val="FFFFFF"/>
          </a:solidFill>
          <a:ln w="9525">
            <a:solidFill>
              <a:srgbClr val="DDE3EC"/>
            </a:solidFill>
            <a:prstDash val="solid"/>
          </a:ln>
        </p:spPr>
        <p:txBody>
          <a:bodyPr/>
          <a:lstStyle/>
          <a:p>
            <a:endParaRPr lang="en-US"/>
          </a:p>
        </p:txBody>
      </p:sp>
      <p:sp>
        <p:nvSpPr>
          <p:cNvPr id="27" name="Shape 25"/>
          <p:cNvSpPr/>
          <p:nvPr/>
        </p:nvSpPr>
        <p:spPr>
          <a:xfrm>
            <a:off x="6126480" y="3474720"/>
            <a:ext cx="73152" cy="2103120"/>
          </a:xfrm>
          <a:prstGeom prst="rect">
            <a:avLst/>
          </a:prstGeom>
          <a:solidFill>
            <a:srgbClr val="C03221"/>
          </a:solidFill>
          <a:ln w="12700">
            <a:solidFill>
              <a:srgbClr val="C03221"/>
            </a:solidFill>
            <a:prstDash val="solid"/>
          </a:ln>
        </p:spPr>
        <p:txBody>
          <a:bodyPr/>
          <a:lstStyle/>
          <a:p>
            <a:endParaRPr lang="en-US"/>
          </a:p>
        </p:txBody>
      </p:sp>
      <p:sp>
        <p:nvSpPr>
          <p:cNvPr id="28" name="Text 26"/>
          <p:cNvSpPr/>
          <p:nvPr/>
        </p:nvSpPr>
        <p:spPr>
          <a:xfrm>
            <a:off x="6355080" y="3584448"/>
            <a:ext cx="5029200" cy="365760"/>
          </a:xfrm>
          <a:prstGeom prst="rect">
            <a:avLst/>
          </a:prstGeom>
          <a:noFill/>
          <a:ln/>
        </p:spPr>
        <p:txBody>
          <a:bodyPr wrap="square" lIns="0" tIns="0" rIns="0" bIns="0" rtlCol="0" anchor="ctr"/>
          <a:lstStyle/>
          <a:p>
            <a:pPr marL="0" indent="0">
              <a:buNone/>
            </a:pPr>
            <a:r>
              <a:rPr lang="en-US" sz="1600" b="1" dirty="0">
                <a:solidFill>
                  <a:srgbClr val="C03221"/>
                </a:solidFill>
                <a:latin typeface="Calibri" pitchFamily="34" charset="0"/>
                <a:ea typeface="Calibri" pitchFamily="34" charset="-122"/>
                <a:cs typeface="Calibri" pitchFamily="34" charset="-120"/>
              </a:rPr>
              <a:t>Warm Restarts</a:t>
            </a:r>
            <a:endParaRPr lang="en-US" sz="1600" dirty="0"/>
          </a:p>
        </p:txBody>
      </p:sp>
      <p:sp>
        <p:nvSpPr>
          <p:cNvPr id="29" name="Shape 27"/>
          <p:cNvSpPr/>
          <p:nvPr/>
        </p:nvSpPr>
        <p:spPr>
          <a:xfrm>
            <a:off x="6355080" y="4023360"/>
            <a:ext cx="5029200" cy="502920"/>
          </a:xfrm>
          <a:prstGeom prst="rect">
            <a:avLst/>
          </a:prstGeom>
          <a:solidFill>
            <a:srgbClr val="F4F1EC"/>
          </a:solidFill>
          <a:ln w="12700">
            <a:solidFill>
              <a:srgbClr val="F4F1EC"/>
            </a:solidFill>
            <a:prstDash val="solid"/>
          </a:ln>
        </p:spPr>
        <p:txBody>
          <a:bodyPr/>
          <a:lstStyle/>
          <a:p>
            <a:endParaRPr lang="en-US"/>
          </a:p>
        </p:txBody>
      </p:sp>
      <p:sp>
        <p:nvSpPr>
          <p:cNvPr id="30" name="Text 28"/>
          <p:cNvSpPr/>
          <p:nvPr/>
        </p:nvSpPr>
        <p:spPr>
          <a:xfrm>
            <a:off x="6355080" y="4023360"/>
            <a:ext cx="5029200" cy="502920"/>
          </a:xfrm>
          <a:prstGeom prst="rect">
            <a:avLst/>
          </a:prstGeom>
          <a:noFill/>
          <a:ln/>
        </p:spPr>
        <p:txBody>
          <a:bodyPr wrap="square" lIns="0" tIns="0" rIns="0" bIns="0" rtlCol="0" anchor="ctr"/>
          <a:lstStyle/>
          <a:p>
            <a:pPr marL="0" indent="0" algn="ctr">
              <a:buNone/>
            </a:pPr>
            <a:r>
              <a:rPr lang="en-US" sz="1400" b="1" i="1" dirty="0">
                <a:solidFill>
                  <a:srgbClr val="0B2545"/>
                </a:solidFill>
                <a:latin typeface="Consolas" pitchFamily="34" charset="0"/>
                <a:ea typeface="Consolas" pitchFamily="34" charset="-122"/>
                <a:cs typeface="Consolas" pitchFamily="34" charset="-120"/>
              </a:rPr>
              <a:t>Cosine restarts every T₀ = 25 epochs</a:t>
            </a:r>
            <a:endParaRPr lang="en-US" sz="1400" dirty="0"/>
          </a:p>
        </p:txBody>
      </p:sp>
      <p:sp>
        <p:nvSpPr>
          <p:cNvPr id="31" name="Text 29"/>
          <p:cNvSpPr/>
          <p:nvPr/>
        </p:nvSpPr>
        <p:spPr>
          <a:xfrm>
            <a:off x="6355080" y="4617720"/>
            <a:ext cx="5029200" cy="868680"/>
          </a:xfrm>
          <a:prstGeom prst="rect">
            <a:avLst/>
          </a:prstGeom>
          <a:noFill/>
          <a:ln/>
        </p:spPr>
        <p:txBody>
          <a:bodyPr wrap="square" lIns="0" tIns="0" rIns="0" bIns="0" rtlCol="0" anchor="ctr"/>
          <a:lstStyle/>
          <a:p>
            <a:pPr marL="0" indent="0">
              <a:buNone/>
            </a:pPr>
            <a:r>
              <a:rPr lang="en-US" sz="1200" dirty="0">
                <a:solidFill>
                  <a:srgbClr val="1A2238"/>
                </a:solidFill>
                <a:latin typeface="Calibri" pitchFamily="34" charset="0"/>
                <a:ea typeface="Calibri" pitchFamily="34" charset="-122"/>
                <a:cs typeface="Calibri" pitchFamily="34" charset="-120"/>
              </a:rPr>
              <a:t>Periodically resets η₀ to escape local minima. Loshchilov &amp; Hutter, 2017 (SGDR).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Choosing the Step Size — LR Sensitivity Test</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We swept SGD across six learning rates from 0.0001 to 0.5 to find the three regimes.</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pic>
        <p:nvPicPr>
          <p:cNvPr id="8" name="Image 0" descr="/home/claude/images/10_lr_sensitivity.png"/>
          <p:cNvPicPr>
            <a:picLocks noChangeAspect="1"/>
          </p:cNvPicPr>
          <p:nvPr/>
        </p:nvPicPr>
        <p:blipFill>
          <a:blip r:embed="rId3"/>
          <a:srcRect/>
          <a:stretch/>
        </p:blipFill>
        <p:spPr>
          <a:xfrm>
            <a:off x="457200" y="1097280"/>
            <a:ext cx="7772400" cy="3200400"/>
          </a:xfrm>
          <a:prstGeom prst="rect">
            <a:avLst/>
          </a:prstGeom>
        </p:spPr>
      </p:pic>
      <p:sp>
        <p:nvSpPr>
          <p:cNvPr id="9" name="Shape 6"/>
          <p:cNvSpPr/>
          <p:nvPr/>
        </p:nvSpPr>
        <p:spPr>
          <a:xfrm>
            <a:off x="8321040" y="1097280"/>
            <a:ext cx="3383280" cy="1005840"/>
          </a:xfrm>
          <a:prstGeom prst="rect">
            <a:avLst/>
          </a:prstGeom>
          <a:solidFill>
            <a:srgbClr val="FFFFFF"/>
          </a:solidFill>
          <a:ln w="9525">
            <a:solidFill>
              <a:srgbClr val="DDE3EC"/>
            </a:solidFill>
            <a:prstDash val="solid"/>
          </a:ln>
        </p:spPr>
        <p:txBody>
          <a:bodyPr/>
          <a:lstStyle/>
          <a:p>
            <a:endParaRPr lang="en-US"/>
          </a:p>
        </p:txBody>
      </p:sp>
      <p:sp>
        <p:nvSpPr>
          <p:cNvPr id="10" name="Shape 7"/>
          <p:cNvSpPr/>
          <p:nvPr/>
        </p:nvSpPr>
        <p:spPr>
          <a:xfrm>
            <a:off x="8321040" y="1097280"/>
            <a:ext cx="73152" cy="1005840"/>
          </a:xfrm>
          <a:prstGeom prst="rect">
            <a:avLst/>
          </a:prstGeom>
          <a:solidFill>
            <a:srgbClr val="5C6B82"/>
          </a:solidFill>
          <a:ln w="12700">
            <a:solidFill>
              <a:srgbClr val="5C6B82"/>
            </a:solidFill>
            <a:prstDash val="solid"/>
          </a:ln>
        </p:spPr>
        <p:txBody>
          <a:bodyPr/>
          <a:lstStyle/>
          <a:p>
            <a:endParaRPr lang="en-US"/>
          </a:p>
        </p:txBody>
      </p:sp>
      <p:sp>
        <p:nvSpPr>
          <p:cNvPr id="11" name="Text 8"/>
          <p:cNvSpPr/>
          <p:nvPr/>
        </p:nvSpPr>
        <p:spPr>
          <a:xfrm>
            <a:off x="8458200" y="1161288"/>
            <a:ext cx="3200400" cy="320040"/>
          </a:xfrm>
          <a:prstGeom prst="rect">
            <a:avLst/>
          </a:prstGeom>
          <a:noFill/>
          <a:ln/>
        </p:spPr>
        <p:txBody>
          <a:bodyPr wrap="square" lIns="0" tIns="0" rIns="0" bIns="0" rtlCol="0" anchor="ctr"/>
          <a:lstStyle/>
          <a:p>
            <a:pPr marL="0" indent="0">
              <a:buNone/>
            </a:pPr>
            <a:r>
              <a:rPr lang="en-US" sz="1300" b="1" dirty="0">
                <a:solidFill>
                  <a:srgbClr val="5C6B82"/>
                </a:solidFill>
                <a:latin typeface="Calibri" pitchFamily="34" charset="0"/>
                <a:ea typeface="Calibri" pitchFamily="34" charset="-122"/>
                <a:cs typeface="Calibri" pitchFamily="34" charset="-120"/>
              </a:rPr>
              <a:t>Too small</a:t>
            </a:r>
            <a:endParaRPr lang="en-US" sz="1300" dirty="0"/>
          </a:p>
        </p:txBody>
      </p:sp>
      <p:sp>
        <p:nvSpPr>
          <p:cNvPr id="12" name="Text 9"/>
          <p:cNvSpPr/>
          <p:nvPr/>
        </p:nvSpPr>
        <p:spPr>
          <a:xfrm>
            <a:off x="8458200" y="1463040"/>
            <a:ext cx="3200400" cy="292608"/>
          </a:xfrm>
          <a:prstGeom prst="rect">
            <a:avLst/>
          </a:prstGeom>
          <a:noFill/>
          <a:ln/>
        </p:spPr>
        <p:txBody>
          <a:bodyPr wrap="square" lIns="0" tIns="0" rIns="0" bIns="0" rtlCol="0" anchor="ctr"/>
          <a:lstStyle/>
          <a:p>
            <a:pPr marL="0" indent="0">
              <a:buNone/>
            </a:pPr>
            <a:r>
              <a:rPr lang="en-US" sz="1200" b="1" dirty="0">
                <a:solidFill>
                  <a:srgbClr val="0B2545"/>
                </a:solidFill>
                <a:latin typeface="Consolas" pitchFamily="34" charset="0"/>
                <a:ea typeface="Consolas" pitchFamily="34" charset="-122"/>
                <a:cs typeface="Consolas" pitchFamily="34" charset="-120"/>
              </a:rPr>
              <a:t>lr ≤ 0.001</a:t>
            </a:r>
            <a:endParaRPr lang="en-US" sz="1200" dirty="0"/>
          </a:p>
        </p:txBody>
      </p:sp>
      <p:sp>
        <p:nvSpPr>
          <p:cNvPr id="13" name="Text 10"/>
          <p:cNvSpPr/>
          <p:nvPr/>
        </p:nvSpPr>
        <p:spPr>
          <a:xfrm>
            <a:off x="8458200" y="1755648"/>
            <a:ext cx="3200400" cy="365760"/>
          </a:xfrm>
          <a:prstGeom prst="rect">
            <a:avLst/>
          </a:prstGeom>
          <a:noFill/>
          <a:ln/>
        </p:spPr>
        <p:txBody>
          <a:bodyPr wrap="square" lIns="0" tIns="0" rIns="0" bIns="0" rtlCol="0" anchor="ctr"/>
          <a:lstStyle/>
          <a:p>
            <a:pPr marL="0" indent="0">
              <a:buNone/>
            </a:pPr>
            <a:r>
              <a:rPr lang="en-US" sz="1100" i="1" dirty="0">
                <a:solidFill>
                  <a:srgbClr val="5C6B82"/>
                </a:solidFill>
                <a:latin typeface="Calibri" pitchFamily="34" charset="0"/>
                <a:ea typeface="Calibri" pitchFamily="34" charset="-122"/>
                <a:cs typeface="Calibri" pitchFamily="34" charset="-120"/>
              </a:rPr>
              <a:t>Loss barely moves in 100 epochs.</a:t>
            </a:r>
            <a:endParaRPr lang="en-US" sz="1100" dirty="0"/>
          </a:p>
        </p:txBody>
      </p:sp>
      <p:sp>
        <p:nvSpPr>
          <p:cNvPr id="14" name="Shape 11"/>
          <p:cNvSpPr/>
          <p:nvPr/>
        </p:nvSpPr>
        <p:spPr>
          <a:xfrm>
            <a:off x="8321040" y="2167128"/>
            <a:ext cx="3383280" cy="1005840"/>
          </a:xfrm>
          <a:prstGeom prst="rect">
            <a:avLst/>
          </a:prstGeom>
          <a:solidFill>
            <a:srgbClr val="FFFFFF"/>
          </a:solidFill>
          <a:ln w="9525">
            <a:solidFill>
              <a:srgbClr val="DDE3EC"/>
            </a:solidFill>
            <a:prstDash val="solid"/>
          </a:ln>
        </p:spPr>
        <p:txBody>
          <a:bodyPr/>
          <a:lstStyle/>
          <a:p>
            <a:endParaRPr lang="en-US"/>
          </a:p>
        </p:txBody>
      </p:sp>
      <p:sp>
        <p:nvSpPr>
          <p:cNvPr id="15" name="Shape 12"/>
          <p:cNvSpPr/>
          <p:nvPr/>
        </p:nvSpPr>
        <p:spPr>
          <a:xfrm>
            <a:off x="8321040" y="2167128"/>
            <a:ext cx="73152" cy="1005840"/>
          </a:xfrm>
          <a:prstGeom prst="rect">
            <a:avLst/>
          </a:prstGeom>
          <a:solidFill>
            <a:srgbClr val="EE964B"/>
          </a:solidFill>
          <a:ln w="12700">
            <a:solidFill>
              <a:srgbClr val="EE964B"/>
            </a:solidFill>
            <a:prstDash val="solid"/>
          </a:ln>
        </p:spPr>
        <p:txBody>
          <a:bodyPr/>
          <a:lstStyle/>
          <a:p>
            <a:endParaRPr lang="en-US"/>
          </a:p>
        </p:txBody>
      </p:sp>
      <p:sp>
        <p:nvSpPr>
          <p:cNvPr id="16" name="Text 13"/>
          <p:cNvSpPr/>
          <p:nvPr/>
        </p:nvSpPr>
        <p:spPr>
          <a:xfrm>
            <a:off x="8458200" y="2231136"/>
            <a:ext cx="3200400" cy="320040"/>
          </a:xfrm>
          <a:prstGeom prst="rect">
            <a:avLst/>
          </a:prstGeom>
          <a:noFill/>
          <a:ln/>
        </p:spPr>
        <p:txBody>
          <a:bodyPr wrap="square" lIns="0" tIns="0" rIns="0" bIns="0" rtlCol="0" anchor="ctr"/>
          <a:lstStyle/>
          <a:p>
            <a:pPr marL="0" indent="0">
              <a:buNone/>
            </a:pPr>
            <a:r>
              <a:rPr lang="en-US" sz="1300" b="1" dirty="0">
                <a:solidFill>
                  <a:srgbClr val="EE964B"/>
                </a:solidFill>
                <a:latin typeface="Calibri" pitchFamily="34" charset="0"/>
                <a:ea typeface="Calibri" pitchFamily="34" charset="-122"/>
                <a:cs typeface="Calibri" pitchFamily="34" charset="-120"/>
              </a:rPr>
              <a:t>Optimal</a:t>
            </a:r>
            <a:endParaRPr lang="en-US" sz="1300" dirty="0"/>
          </a:p>
        </p:txBody>
      </p:sp>
      <p:sp>
        <p:nvSpPr>
          <p:cNvPr id="17" name="Text 14"/>
          <p:cNvSpPr/>
          <p:nvPr/>
        </p:nvSpPr>
        <p:spPr>
          <a:xfrm>
            <a:off x="8458200" y="2532888"/>
            <a:ext cx="3200400" cy="292608"/>
          </a:xfrm>
          <a:prstGeom prst="rect">
            <a:avLst/>
          </a:prstGeom>
          <a:noFill/>
          <a:ln/>
        </p:spPr>
        <p:txBody>
          <a:bodyPr wrap="square" lIns="0" tIns="0" rIns="0" bIns="0" rtlCol="0" anchor="ctr"/>
          <a:lstStyle/>
          <a:p>
            <a:pPr marL="0" indent="0">
              <a:buNone/>
            </a:pPr>
            <a:r>
              <a:rPr lang="en-US" sz="1200" b="1" dirty="0">
                <a:solidFill>
                  <a:srgbClr val="0B2545"/>
                </a:solidFill>
                <a:latin typeface="Consolas" pitchFamily="34" charset="0"/>
                <a:ea typeface="Consolas" pitchFamily="34" charset="-122"/>
                <a:cs typeface="Consolas" pitchFamily="34" charset="-120"/>
              </a:rPr>
              <a:t>lr = 0.01 – 0.1</a:t>
            </a:r>
            <a:endParaRPr lang="en-US" sz="1200" dirty="0"/>
          </a:p>
        </p:txBody>
      </p:sp>
      <p:sp>
        <p:nvSpPr>
          <p:cNvPr id="18" name="Text 15"/>
          <p:cNvSpPr/>
          <p:nvPr/>
        </p:nvSpPr>
        <p:spPr>
          <a:xfrm>
            <a:off x="8458200" y="2825496"/>
            <a:ext cx="3200400" cy="365760"/>
          </a:xfrm>
          <a:prstGeom prst="rect">
            <a:avLst/>
          </a:prstGeom>
          <a:noFill/>
          <a:ln/>
        </p:spPr>
        <p:txBody>
          <a:bodyPr wrap="square" lIns="0" tIns="0" rIns="0" bIns="0" rtlCol="0" anchor="ctr"/>
          <a:lstStyle/>
          <a:p>
            <a:pPr marL="0" indent="0">
              <a:buNone/>
            </a:pPr>
            <a:r>
              <a:rPr lang="en-US" sz="1100" i="1" dirty="0">
                <a:solidFill>
                  <a:srgbClr val="5C6B82"/>
                </a:solidFill>
                <a:latin typeface="Calibri" pitchFamily="34" charset="0"/>
                <a:ea typeface="Calibri" pitchFamily="34" charset="-122"/>
                <a:cs typeface="Calibri" pitchFamily="34" charset="-120"/>
              </a:rPr>
              <a:t>Smooth fast convergence to ~0.</a:t>
            </a:r>
            <a:endParaRPr lang="en-US" sz="1100" dirty="0"/>
          </a:p>
        </p:txBody>
      </p:sp>
      <p:sp>
        <p:nvSpPr>
          <p:cNvPr id="19" name="Shape 16"/>
          <p:cNvSpPr/>
          <p:nvPr/>
        </p:nvSpPr>
        <p:spPr>
          <a:xfrm>
            <a:off x="8321040" y="3236976"/>
            <a:ext cx="3383280" cy="1005840"/>
          </a:xfrm>
          <a:prstGeom prst="rect">
            <a:avLst/>
          </a:prstGeom>
          <a:solidFill>
            <a:srgbClr val="FFFFFF"/>
          </a:solidFill>
          <a:ln w="9525">
            <a:solidFill>
              <a:srgbClr val="DDE3EC"/>
            </a:solidFill>
            <a:prstDash val="solid"/>
          </a:ln>
        </p:spPr>
        <p:txBody>
          <a:bodyPr/>
          <a:lstStyle/>
          <a:p>
            <a:endParaRPr lang="en-US"/>
          </a:p>
        </p:txBody>
      </p:sp>
      <p:sp>
        <p:nvSpPr>
          <p:cNvPr id="20" name="Shape 17"/>
          <p:cNvSpPr/>
          <p:nvPr/>
        </p:nvSpPr>
        <p:spPr>
          <a:xfrm>
            <a:off x="8321040" y="3236976"/>
            <a:ext cx="73152" cy="1005840"/>
          </a:xfrm>
          <a:prstGeom prst="rect">
            <a:avLst/>
          </a:prstGeom>
          <a:solidFill>
            <a:srgbClr val="C03221"/>
          </a:solidFill>
          <a:ln w="12700">
            <a:solidFill>
              <a:srgbClr val="C03221"/>
            </a:solidFill>
            <a:prstDash val="solid"/>
          </a:ln>
        </p:spPr>
        <p:txBody>
          <a:bodyPr/>
          <a:lstStyle/>
          <a:p>
            <a:endParaRPr lang="en-US"/>
          </a:p>
        </p:txBody>
      </p:sp>
      <p:sp>
        <p:nvSpPr>
          <p:cNvPr id="21" name="Text 18"/>
          <p:cNvSpPr/>
          <p:nvPr/>
        </p:nvSpPr>
        <p:spPr>
          <a:xfrm>
            <a:off x="8458200" y="3300984"/>
            <a:ext cx="3200400" cy="320040"/>
          </a:xfrm>
          <a:prstGeom prst="rect">
            <a:avLst/>
          </a:prstGeom>
          <a:noFill/>
          <a:ln/>
        </p:spPr>
        <p:txBody>
          <a:bodyPr wrap="square" lIns="0" tIns="0" rIns="0" bIns="0" rtlCol="0" anchor="ctr"/>
          <a:lstStyle/>
          <a:p>
            <a:pPr marL="0" indent="0">
              <a:buNone/>
            </a:pPr>
            <a:r>
              <a:rPr lang="en-US" sz="1300" b="1" dirty="0">
                <a:solidFill>
                  <a:srgbClr val="C03221"/>
                </a:solidFill>
                <a:latin typeface="Calibri" pitchFamily="34" charset="0"/>
                <a:ea typeface="Calibri" pitchFamily="34" charset="-122"/>
                <a:cs typeface="Calibri" pitchFamily="34" charset="-120"/>
              </a:rPr>
              <a:t>Diverging</a:t>
            </a:r>
            <a:endParaRPr lang="en-US" sz="1300" dirty="0"/>
          </a:p>
        </p:txBody>
      </p:sp>
      <p:sp>
        <p:nvSpPr>
          <p:cNvPr id="22" name="Text 19"/>
          <p:cNvSpPr/>
          <p:nvPr/>
        </p:nvSpPr>
        <p:spPr>
          <a:xfrm>
            <a:off x="8458200" y="3602736"/>
            <a:ext cx="3200400" cy="292608"/>
          </a:xfrm>
          <a:prstGeom prst="rect">
            <a:avLst/>
          </a:prstGeom>
          <a:noFill/>
          <a:ln/>
        </p:spPr>
        <p:txBody>
          <a:bodyPr wrap="square" lIns="0" tIns="0" rIns="0" bIns="0" rtlCol="0" anchor="ctr"/>
          <a:lstStyle/>
          <a:p>
            <a:pPr marL="0" indent="0">
              <a:buNone/>
            </a:pPr>
            <a:r>
              <a:rPr lang="en-US" sz="1200" b="1" dirty="0">
                <a:solidFill>
                  <a:srgbClr val="0B2545"/>
                </a:solidFill>
                <a:latin typeface="Consolas" pitchFamily="34" charset="0"/>
                <a:ea typeface="Consolas" pitchFamily="34" charset="-122"/>
                <a:cs typeface="Consolas" pitchFamily="34" charset="-120"/>
              </a:rPr>
              <a:t>lr = 0.5</a:t>
            </a:r>
            <a:endParaRPr lang="en-US" sz="1200" dirty="0"/>
          </a:p>
        </p:txBody>
      </p:sp>
      <p:sp>
        <p:nvSpPr>
          <p:cNvPr id="23" name="Text 20"/>
          <p:cNvSpPr/>
          <p:nvPr/>
        </p:nvSpPr>
        <p:spPr>
          <a:xfrm>
            <a:off x="8458200" y="3895344"/>
            <a:ext cx="3200400" cy="365760"/>
          </a:xfrm>
          <a:prstGeom prst="rect">
            <a:avLst/>
          </a:prstGeom>
          <a:noFill/>
          <a:ln/>
        </p:spPr>
        <p:txBody>
          <a:bodyPr wrap="square" lIns="0" tIns="0" rIns="0" bIns="0" rtlCol="0" anchor="ctr"/>
          <a:lstStyle/>
          <a:p>
            <a:pPr marL="0" indent="0">
              <a:buNone/>
            </a:pPr>
            <a:r>
              <a:rPr lang="en-US" sz="1100" i="1" dirty="0">
                <a:solidFill>
                  <a:srgbClr val="5C6B82"/>
                </a:solidFill>
                <a:latin typeface="Calibri" pitchFamily="34" charset="0"/>
                <a:ea typeface="Calibri" pitchFamily="34" charset="-122"/>
                <a:cs typeface="Calibri" pitchFamily="34" charset="-120"/>
              </a:rPr>
              <a:t>Loss jumps &amp; oscillates; unstable.</a:t>
            </a:r>
            <a:endParaRPr lang="en-US" sz="1100" dirty="0"/>
          </a:p>
        </p:txBody>
      </p:sp>
      <p:sp>
        <p:nvSpPr>
          <p:cNvPr id="24" name="Shape 21"/>
          <p:cNvSpPr/>
          <p:nvPr/>
        </p:nvSpPr>
        <p:spPr>
          <a:xfrm>
            <a:off x="457200" y="4446415"/>
            <a:ext cx="11247120" cy="1874520"/>
          </a:xfrm>
          <a:prstGeom prst="rect">
            <a:avLst/>
          </a:prstGeom>
          <a:solidFill>
            <a:srgbClr val="0B2545"/>
          </a:solidFill>
          <a:ln w="12700">
            <a:solidFill>
              <a:srgbClr val="0B2545"/>
            </a:solidFill>
            <a:prstDash val="solid"/>
          </a:ln>
        </p:spPr>
        <p:txBody>
          <a:bodyPr/>
          <a:lstStyle/>
          <a:p>
            <a:endParaRPr lang="en-US"/>
          </a:p>
        </p:txBody>
      </p:sp>
      <p:sp>
        <p:nvSpPr>
          <p:cNvPr id="25" name="Shape 22"/>
          <p:cNvSpPr/>
          <p:nvPr/>
        </p:nvSpPr>
        <p:spPr>
          <a:xfrm>
            <a:off x="457200" y="4434840"/>
            <a:ext cx="73152" cy="1874520"/>
          </a:xfrm>
          <a:prstGeom prst="rect">
            <a:avLst/>
          </a:prstGeom>
          <a:solidFill>
            <a:srgbClr val="EE964B"/>
          </a:solidFill>
          <a:ln w="12700">
            <a:solidFill>
              <a:srgbClr val="EE964B"/>
            </a:solidFill>
            <a:prstDash val="solid"/>
          </a:ln>
        </p:spPr>
        <p:txBody>
          <a:bodyPr/>
          <a:lstStyle/>
          <a:p>
            <a:endParaRPr lang="en-US"/>
          </a:p>
        </p:txBody>
      </p:sp>
      <p:sp>
        <p:nvSpPr>
          <p:cNvPr id="26" name="Text 23"/>
          <p:cNvSpPr/>
          <p:nvPr/>
        </p:nvSpPr>
        <p:spPr>
          <a:xfrm>
            <a:off x="777240" y="4526280"/>
            <a:ext cx="10972800" cy="365760"/>
          </a:xfrm>
          <a:prstGeom prst="rect">
            <a:avLst/>
          </a:prstGeom>
          <a:noFill/>
          <a:ln/>
        </p:spPr>
        <p:txBody>
          <a:bodyPr wrap="square" rtlCol="0" anchor="ctr"/>
          <a:lstStyle/>
          <a:p>
            <a:pPr marL="0" indent="0">
              <a:buNone/>
            </a:pPr>
            <a:r>
              <a:rPr lang="en-US" sz="1400" b="1" dirty="0">
                <a:solidFill>
                  <a:srgbClr val="EE964B"/>
                </a:solidFill>
                <a:latin typeface="Calibri" pitchFamily="34" charset="0"/>
                <a:ea typeface="Calibri" pitchFamily="34" charset="-122"/>
                <a:cs typeface="Calibri" pitchFamily="34" charset="-120"/>
              </a:rPr>
              <a:t>How we used this to pick η₀</a:t>
            </a:r>
            <a:endParaRPr lang="en-US" sz="1400" dirty="0"/>
          </a:p>
        </p:txBody>
      </p:sp>
      <p:sp>
        <p:nvSpPr>
          <p:cNvPr id="27" name="Text 24"/>
          <p:cNvSpPr/>
          <p:nvPr/>
        </p:nvSpPr>
        <p:spPr>
          <a:xfrm>
            <a:off x="777240" y="4937760"/>
            <a:ext cx="10972800" cy="1325880"/>
          </a:xfrm>
          <a:prstGeom prst="rect">
            <a:avLst/>
          </a:prstGeom>
          <a:noFill/>
          <a:ln/>
        </p:spPr>
        <p:txBody>
          <a:bodyPr wrap="square" rtlCol="0" anchor="ctr"/>
          <a:lstStyle/>
          <a:p>
            <a:pPr marL="0" indent="0">
              <a:spcAft>
                <a:spcPts val="200"/>
              </a:spcAft>
              <a:buNone/>
            </a:pPr>
            <a:r>
              <a:rPr lang="en-US" sz="1200" b="1" dirty="0">
                <a:solidFill>
                  <a:srgbClr val="EE964B"/>
                </a:solidFill>
                <a:latin typeface="Calibri" pitchFamily="34" charset="0"/>
                <a:ea typeface="Calibri" pitchFamily="34" charset="-122"/>
                <a:cs typeface="Calibri" pitchFamily="34" charset="-120"/>
              </a:rPr>
              <a:t>1. Logarithmic sweep </a:t>
            </a:r>
            <a:r>
              <a:rPr lang="en-US" sz="1200" dirty="0">
                <a:solidFill>
                  <a:srgbClr val="FFFFFF"/>
                </a:solidFill>
                <a:latin typeface="Calibri" pitchFamily="34" charset="0"/>
                <a:ea typeface="Calibri" pitchFamily="34" charset="-122"/>
                <a:cs typeface="Calibri" pitchFamily="34" charset="-120"/>
              </a:rPr>
              <a:t>lr ∈ {1e-4, 1e-3, 1e-2, 5e-2, 1e-1, 5e-1} on plain SGD with constant schedule.</a:t>
            </a:r>
            <a:endParaRPr lang="en-US" sz="1200" dirty="0"/>
          </a:p>
          <a:p>
            <a:pPr marL="0" indent="0">
              <a:spcAft>
                <a:spcPts val="200"/>
              </a:spcAft>
              <a:buNone/>
            </a:pPr>
            <a:r>
              <a:rPr lang="en-US" sz="1200" b="1" dirty="0">
                <a:solidFill>
                  <a:srgbClr val="EE964B"/>
                </a:solidFill>
                <a:latin typeface="Calibri" pitchFamily="34" charset="0"/>
                <a:ea typeface="Calibri" pitchFamily="34" charset="-122"/>
                <a:cs typeface="Calibri" pitchFamily="34" charset="-120"/>
              </a:rPr>
              <a:t>2. Diagnose </a:t>
            </a:r>
            <a:r>
              <a:rPr lang="en-US" sz="1200" dirty="0">
                <a:solidFill>
                  <a:srgbClr val="FFFFFF"/>
                </a:solidFill>
                <a:latin typeface="Calibri" pitchFamily="34" charset="0"/>
                <a:ea typeface="Calibri" pitchFamily="34" charset="-122"/>
                <a:cs typeface="Calibri" pitchFamily="34" charset="-120"/>
              </a:rPr>
              <a:t>regimes by loss curve shape: flat (too small), monotone falling (good), oscillating/diverging (too large).</a:t>
            </a:r>
            <a:endParaRPr lang="en-US" sz="1200" dirty="0"/>
          </a:p>
          <a:p>
            <a:pPr marL="0" indent="0">
              <a:spcAft>
                <a:spcPts val="200"/>
              </a:spcAft>
              <a:buNone/>
            </a:pPr>
            <a:r>
              <a:rPr lang="en-US" sz="1200" b="1" dirty="0">
                <a:solidFill>
                  <a:srgbClr val="EE964B"/>
                </a:solidFill>
                <a:latin typeface="Calibri" pitchFamily="34" charset="0"/>
                <a:ea typeface="Calibri" pitchFamily="34" charset="-122"/>
                <a:cs typeface="Calibri" pitchFamily="34" charset="-120"/>
              </a:rPr>
              <a:t>3. Lock in η₀ = 0.01 </a:t>
            </a:r>
            <a:r>
              <a:rPr lang="en-US" sz="1200" dirty="0">
                <a:solidFill>
                  <a:srgbClr val="FFFFFF"/>
                </a:solidFill>
                <a:latin typeface="Calibri" pitchFamily="34" charset="0"/>
                <a:ea typeface="Calibri" pitchFamily="34" charset="-122"/>
                <a:cs typeface="Calibri" pitchFamily="34" charset="-120"/>
              </a:rPr>
              <a:t>as the base for every optimizer × schedule combination so comparisons stay fair.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Convergence Curves Linear and Log Scale</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L-BFGS converges in 2 epochs. SGD-family is fastest among first-order methods.</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pic>
        <p:nvPicPr>
          <p:cNvPr id="8" name="Image 0" descr="/home/claude/images/06_convergence.png"/>
          <p:cNvPicPr>
            <a:picLocks noChangeAspect="1"/>
          </p:cNvPicPr>
          <p:nvPr/>
        </p:nvPicPr>
        <p:blipFill>
          <a:blip r:embed="rId3"/>
          <a:srcRect/>
          <a:stretch/>
        </p:blipFill>
        <p:spPr>
          <a:xfrm>
            <a:off x="457200" y="1097280"/>
            <a:ext cx="8229600" cy="3291840"/>
          </a:xfrm>
          <a:prstGeom prst="rect">
            <a:avLst/>
          </a:prstGeom>
        </p:spPr>
      </p:pic>
      <p:sp>
        <p:nvSpPr>
          <p:cNvPr id="9" name="Shape 6"/>
          <p:cNvSpPr/>
          <p:nvPr/>
        </p:nvSpPr>
        <p:spPr>
          <a:xfrm>
            <a:off x="8869680" y="1097280"/>
            <a:ext cx="2834640" cy="3291840"/>
          </a:xfrm>
          <a:prstGeom prst="rect">
            <a:avLst/>
          </a:prstGeom>
          <a:solidFill>
            <a:srgbClr val="0B2545"/>
          </a:solidFill>
          <a:ln w="12700">
            <a:solidFill>
              <a:srgbClr val="0B2545"/>
            </a:solidFill>
            <a:prstDash val="solid"/>
          </a:ln>
        </p:spPr>
        <p:txBody>
          <a:bodyPr/>
          <a:lstStyle/>
          <a:p>
            <a:endParaRPr lang="en-US"/>
          </a:p>
        </p:txBody>
      </p:sp>
      <p:sp>
        <p:nvSpPr>
          <p:cNvPr id="10" name="Shape 7"/>
          <p:cNvSpPr/>
          <p:nvPr/>
        </p:nvSpPr>
        <p:spPr>
          <a:xfrm>
            <a:off x="8869680" y="1097280"/>
            <a:ext cx="73152" cy="3291840"/>
          </a:xfrm>
          <a:prstGeom prst="rect">
            <a:avLst/>
          </a:prstGeom>
          <a:solidFill>
            <a:srgbClr val="EE964B"/>
          </a:solidFill>
          <a:ln w="12700">
            <a:solidFill>
              <a:srgbClr val="EE964B"/>
            </a:solidFill>
            <a:prstDash val="solid"/>
          </a:ln>
        </p:spPr>
        <p:txBody>
          <a:bodyPr/>
          <a:lstStyle/>
          <a:p>
            <a:endParaRPr lang="en-US"/>
          </a:p>
        </p:txBody>
      </p:sp>
      <p:sp>
        <p:nvSpPr>
          <p:cNvPr id="11" name="Text 8"/>
          <p:cNvSpPr/>
          <p:nvPr/>
        </p:nvSpPr>
        <p:spPr>
          <a:xfrm>
            <a:off x="9006840" y="1188720"/>
            <a:ext cx="2743200" cy="365760"/>
          </a:xfrm>
          <a:prstGeom prst="rect">
            <a:avLst/>
          </a:prstGeom>
          <a:noFill/>
          <a:ln/>
        </p:spPr>
        <p:txBody>
          <a:bodyPr wrap="square" rtlCol="0" anchor="ctr"/>
          <a:lstStyle/>
          <a:p>
            <a:pPr marL="0" indent="0">
              <a:buNone/>
            </a:pPr>
            <a:r>
              <a:rPr lang="en-US" sz="1300" b="1" dirty="0">
                <a:solidFill>
                  <a:srgbClr val="EE964B"/>
                </a:solidFill>
                <a:latin typeface="Calibri" pitchFamily="34" charset="0"/>
                <a:ea typeface="Calibri" pitchFamily="34" charset="-122"/>
                <a:cs typeface="Calibri" pitchFamily="34" charset="-120"/>
              </a:rPr>
              <a:t>Reading the curves</a:t>
            </a:r>
            <a:endParaRPr lang="en-US" sz="1300" dirty="0"/>
          </a:p>
        </p:txBody>
      </p:sp>
      <p:sp>
        <p:nvSpPr>
          <p:cNvPr id="12" name="Text 9"/>
          <p:cNvSpPr/>
          <p:nvPr/>
        </p:nvSpPr>
        <p:spPr>
          <a:xfrm>
            <a:off x="9006840" y="1554480"/>
            <a:ext cx="2743200" cy="2743200"/>
          </a:xfrm>
          <a:prstGeom prst="rect">
            <a:avLst/>
          </a:prstGeom>
          <a:noFill/>
          <a:ln/>
        </p:spPr>
        <p:txBody>
          <a:bodyPr wrap="square" rtlCol="0" anchor="ctr"/>
          <a:lstStyle/>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L-BFGS hits 10⁻⁶ in 2 epochs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SGD (b=1) is fastest first-order, despite noise</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SGD+Momentum tracks Adam closely</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Mini-batch SGD trails because batch=32 means fewer updates per epoch</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Full-batch GD is the slowest</a:t>
            </a:r>
            <a:endParaRPr lang="en-US" sz="1100" dirty="0"/>
          </a:p>
        </p:txBody>
      </p:sp>
      <p:sp>
        <p:nvSpPr>
          <p:cNvPr id="13" name="Shape 10"/>
          <p:cNvSpPr/>
          <p:nvPr/>
        </p:nvSpPr>
        <p:spPr>
          <a:xfrm>
            <a:off x="457200" y="4526280"/>
            <a:ext cx="11247120" cy="1783080"/>
          </a:xfrm>
          <a:prstGeom prst="rect">
            <a:avLst/>
          </a:prstGeom>
          <a:solidFill>
            <a:srgbClr val="FFFFFF"/>
          </a:solidFill>
          <a:ln w="9525">
            <a:solidFill>
              <a:srgbClr val="DDE3EC"/>
            </a:solidFill>
            <a:prstDash val="solid"/>
          </a:ln>
        </p:spPr>
        <p:txBody>
          <a:bodyPr/>
          <a:lstStyle/>
          <a:p>
            <a:endParaRPr lang="en-US"/>
          </a:p>
        </p:txBody>
      </p:sp>
      <p:sp>
        <p:nvSpPr>
          <p:cNvPr id="14" name="Shape 11"/>
          <p:cNvSpPr/>
          <p:nvPr/>
        </p:nvSpPr>
        <p:spPr>
          <a:xfrm>
            <a:off x="457200" y="4526280"/>
            <a:ext cx="73152" cy="1783080"/>
          </a:xfrm>
          <a:prstGeom prst="rect">
            <a:avLst/>
          </a:prstGeom>
          <a:solidFill>
            <a:srgbClr val="1B7F8C"/>
          </a:solidFill>
          <a:ln w="12700">
            <a:solidFill>
              <a:srgbClr val="1B7F8C"/>
            </a:solidFill>
            <a:prstDash val="solid"/>
          </a:ln>
        </p:spPr>
        <p:txBody>
          <a:bodyPr/>
          <a:lstStyle/>
          <a:p>
            <a:endParaRPr lang="en-US"/>
          </a:p>
        </p:txBody>
      </p:sp>
      <p:sp>
        <p:nvSpPr>
          <p:cNvPr id="15" name="Text 12"/>
          <p:cNvSpPr/>
          <p:nvPr/>
        </p:nvSpPr>
        <p:spPr>
          <a:xfrm>
            <a:off x="777240" y="4617720"/>
            <a:ext cx="10972800" cy="36576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Epochs to convergence  (loss within 1 % of final)</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77240" y="4983480"/>
          <a:ext cx="9692640" cy="1097280"/>
        </p:xfrm>
        <a:graphic>
          <a:graphicData uri="http://schemas.openxmlformats.org/drawingml/2006/table">
            <a:tbl>
              <a:tblPr/>
              <a:tblGrid>
                <a:gridCol w="16459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Optimizer</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L-BFGS</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Full-GD</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SGD</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Mini-SGD</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SGD+Mom</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Adam</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65760">
                <a:tc>
                  <a:txBody>
                    <a:bodyPr/>
                    <a:lstStyle/>
                    <a:p>
                      <a:pPr marL="0" indent="0">
                        <a:buNone/>
                      </a:pPr>
                      <a:r>
                        <a:rPr lang="en-US" sz="1100" b="1" dirty="0">
                          <a:solidFill>
                            <a:srgbClr val="1A2238"/>
                          </a:solidFill>
                          <a:latin typeface="Calibri" pitchFamily="34" charset="0"/>
                          <a:ea typeface="Calibri" pitchFamily="34" charset="-122"/>
                          <a:cs typeface="Calibri" pitchFamily="34" charset="-120"/>
                        </a:rPr>
                        <a:t>Conv. epoch</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b="1" dirty="0">
                          <a:solidFill>
                            <a:srgbClr val="EE964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89</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90</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90</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90</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94</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b="1" dirty="0">
                          <a:solidFill>
                            <a:srgbClr val="1A2238"/>
                          </a:solidFill>
                          <a:latin typeface="Calibri" pitchFamily="34" charset="0"/>
                          <a:ea typeface="Calibri" pitchFamily="34" charset="-122"/>
                          <a:cs typeface="Calibri" pitchFamily="34" charset="-120"/>
                        </a:rPr>
                        <a:t>Final loss</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b="1" dirty="0">
                          <a:solidFill>
                            <a:srgbClr val="EE964B"/>
                          </a:solidFill>
                          <a:latin typeface="Calibri" pitchFamily="34" charset="0"/>
                          <a:ea typeface="Calibri" pitchFamily="34" charset="-122"/>
                          <a:cs typeface="Calibri" pitchFamily="34" charset="-120"/>
                        </a:rPr>
                        <a:t>0.0000</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0.2938</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0.0099</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0.1719</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0.0154</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100" dirty="0">
                          <a:solidFill>
                            <a:srgbClr val="1A2238"/>
                          </a:solidFill>
                          <a:latin typeface="Calibri" pitchFamily="34" charset="0"/>
                          <a:ea typeface="Calibri" pitchFamily="34" charset="-122"/>
                          <a:cs typeface="Calibri" pitchFamily="34" charset="-120"/>
                        </a:rPr>
                        <a:t>0.0208</a:t>
                      </a:r>
                      <a:endParaRPr lang="en-US" sz="11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Validation Accuracy During Training</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Adam and SGD+Momentum reach the ceiling within ~10 epochs; full-batch GD takes 80+.</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pic>
        <p:nvPicPr>
          <p:cNvPr id="8" name="Image 0" descr="/home/claude/images/07_val_accuracy.png"/>
          <p:cNvPicPr>
            <a:picLocks noChangeAspect="1"/>
          </p:cNvPicPr>
          <p:nvPr/>
        </p:nvPicPr>
        <p:blipFill>
          <a:blip r:embed="rId3"/>
          <a:srcRect/>
          <a:stretch/>
        </p:blipFill>
        <p:spPr>
          <a:xfrm>
            <a:off x="457200" y="1143000"/>
            <a:ext cx="7772400" cy="4114800"/>
          </a:xfrm>
          <a:prstGeom prst="rect">
            <a:avLst/>
          </a:prstGeom>
        </p:spPr>
      </p:pic>
      <p:sp>
        <p:nvSpPr>
          <p:cNvPr id="9" name="Shape 6"/>
          <p:cNvSpPr/>
          <p:nvPr/>
        </p:nvSpPr>
        <p:spPr>
          <a:xfrm>
            <a:off x="8412480" y="1143000"/>
            <a:ext cx="3291840" cy="4114800"/>
          </a:xfrm>
          <a:prstGeom prst="rect">
            <a:avLst/>
          </a:prstGeom>
          <a:solidFill>
            <a:srgbClr val="FFFFFF"/>
          </a:solidFill>
          <a:ln w="9525">
            <a:solidFill>
              <a:srgbClr val="DDE3EC"/>
            </a:solidFill>
            <a:prstDash val="solid"/>
          </a:ln>
        </p:spPr>
        <p:txBody>
          <a:bodyPr/>
          <a:lstStyle/>
          <a:p>
            <a:endParaRPr lang="en-US"/>
          </a:p>
        </p:txBody>
      </p:sp>
      <p:sp>
        <p:nvSpPr>
          <p:cNvPr id="10" name="Shape 7"/>
          <p:cNvSpPr/>
          <p:nvPr/>
        </p:nvSpPr>
        <p:spPr>
          <a:xfrm>
            <a:off x="8412480" y="1143000"/>
            <a:ext cx="73152" cy="4114800"/>
          </a:xfrm>
          <a:prstGeom prst="rect">
            <a:avLst/>
          </a:prstGeom>
          <a:solidFill>
            <a:srgbClr val="EE964B"/>
          </a:solidFill>
          <a:ln w="12700">
            <a:solidFill>
              <a:srgbClr val="EE964B"/>
            </a:solidFill>
            <a:prstDash val="solid"/>
          </a:ln>
        </p:spPr>
        <p:txBody>
          <a:bodyPr/>
          <a:lstStyle/>
          <a:p>
            <a:endParaRPr lang="en-US"/>
          </a:p>
        </p:txBody>
      </p:sp>
      <p:sp>
        <p:nvSpPr>
          <p:cNvPr id="11" name="Text 8"/>
          <p:cNvSpPr/>
          <p:nvPr/>
        </p:nvSpPr>
        <p:spPr>
          <a:xfrm>
            <a:off x="8595360" y="1234440"/>
            <a:ext cx="310896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What the curves tell us</a:t>
            </a:r>
            <a:endParaRPr lang="en-US" sz="1400" dirty="0"/>
          </a:p>
        </p:txBody>
      </p:sp>
      <p:sp>
        <p:nvSpPr>
          <p:cNvPr id="12" name="Text 9"/>
          <p:cNvSpPr/>
          <p:nvPr/>
        </p:nvSpPr>
        <p:spPr>
          <a:xfrm>
            <a:off x="8595360" y="1600200"/>
            <a:ext cx="3108960" cy="3611880"/>
          </a:xfrm>
          <a:prstGeom prst="rect">
            <a:avLst/>
          </a:prstGeom>
          <a:noFill/>
          <a:ln/>
        </p:spPr>
        <p:txBody>
          <a:bodyPr wrap="square" rtlCol="0" anchor="ctr"/>
          <a:lstStyle/>
          <a:p>
            <a:pPr marL="342900" indent="-342900">
              <a:spcAft>
                <a:spcPts val="600"/>
              </a:spcAft>
              <a:buSzPct val="100000"/>
              <a:buChar char="•"/>
            </a:pPr>
            <a:r>
              <a:rPr lang="en-US" sz="1100" dirty="0">
                <a:solidFill>
                  <a:srgbClr val="1A2238"/>
                </a:solidFill>
                <a:latin typeface="Calibri" pitchFamily="34" charset="0"/>
                <a:ea typeface="Calibri" pitchFamily="34" charset="-122"/>
                <a:cs typeface="Calibri" pitchFamily="34" charset="-120"/>
              </a:rPr>
              <a:t>L-BFGS jumps to 81 % at epoch 0 — second-order curvature pays off immediately</a:t>
            </a:r>
            <a:endParaRPr lang="en-US" sz="1100" dirty="0"/>
          </a:p>
          <a:p>
            <a:pPr marL="342900" indent="-342900">
              <a:spcAft>
                <a:spcPts val="600"/>
              </a:spcAft>
              <a:buSzPct val="100000"/>
              <a:buChar char="•"/>
            </a:pPr>
            <a:r>
              <a:rPr lang="en-US" sz="1100" dirty="0">
                <a:solidFill>
                  <a:srgbClr val="1A2238"/>
                </a:solidFill>
                <a:latin typeface="Calibri" pitchFamily="34" charset="0"/>
                <a:ea typeface="Calibri" pitchFamily="34" charset="-122"/>
                <a:cs typeface="Calibri" pitchFamily="34" charset="-120"/>
              </a:rPr>
              <a:t>Adam &amp; SGD+Momentum converge to ~87 % within 5–10 epochs</a:t>
            </a:r>
            <a:endParaRPr lang="en-US" sz="1100" dirty="0"/>
          </a:p>
          <a:p>
            <a:pPr marL="342900" indent="-342900">
              <a:spcAft>
                <a:spcPts val="600"/>
              </a:spcAft>
              <a:buSzPct val="100000"/>
              <a:buChar char="•"/>
            </a:pPr>
            <a:r>
              <a:rPr lang="en-US" sz="1100" dirty="0">
                <a:solidFill>
                  <a:srgbClr val="1A2238"/>
                </a:solidFill>
                <a:latin typeface="Calibri" pitchFamily="34" charset="0"/>
                <a:ea typeface="Calibri" pitchFamily="34" charset="-122"/>
                <a:cs typeface="Calibri" pitchFamily="34" charset="-120"/>
              </a:rPr>
              <a:t>SGD (b=1) tracks Adam closely — pure noise is enough on this problem</a:t>
            </a:r>
            <a:endParaRPr lang="en-US" sz="1100" dirty="0"/>
          </a:p>
          <a:p>
            <a:pPr marL="342900" indent="-342900">
              <a:spcAft>
                <a:spcPts val="600"/>
              </a:spcAft>
              <a:buSzPct val="100000"/>
              <a:buChar char="•"/>
            </a:pPr>
            <a:r>
              <a:rPr lang="en-US" sz="1100" dirty="0">
                <a:solidFill>
                  <a:srgbClr val="1A2238"/>
                </a:solidFill>
                <a:latin typeface="Calibri" pitchFamily="34" charset="0"/>
                <a:ea typeface="Calibri" pitchFamily="34" charset="-122"/>
                <a:cs typeface="Calibri" pitchFamily="34" charset="-120"/>
              </a:rPr>
              <a:t>Mini-batch SGD plateaus near 80 % — batch=32 cuts the update count too aggressively</a:t>
            </a:r>
            <a:endParaRPr lang="en-US" sz="1100" dirty="0"/>
          </a:p>
          <a:p>
            <a:pPr marL="342900" indent="-342900">
              <a:spcAft>
                <a:spcPts val="600"/>
              </a:spcAft>
              <a:buSzPct val="100000"/>
              <a:buChar char="•"/>
            </a:pPr>
            <a:r>
              <a:rPr lang="en-US" sz="1100" dirty="0">
                <a:solidFill>
                  <a:srgbClr val="1A2238"/>
                </a:solidFill>
                <a:latin typeface="Calibri" pitchFamily="34" charset="0"/>
                <a:ea typeface="Calibri" pitchFamily="34" charset="-122"/>
                <a:cs typeface="Calibri" pitchFamily="34" charset="-120"/>
              </a:rPr>
              <a:t>Full-batch GD eventually catches up to ~80 % only after 80+ epochs</a:t>
            </a:r>
            <a:endParaRPr lang="en-US" sz="1100" dirty="0"/>
          </a:p>
        </p:txBody>
      </p:sp>
      <p:sp>
        <p:nvSpPr>
          <p:cNvPr id="13" name="Shape 10"/>
          <p:cNvSpPr/>
          <p:nvPr/>
        </p:nvSpPr>
        <p:spPr>
          <a:xfrm>
            <a:off x="457200" y="5440680"/>
            <a:ext cx="11247120" cy="868680"/>
          </a:xfrm>
          <a:prstGeom prst="rect">
            <a:avLst/>
          </a:prstGeom>
          <a:solidFill>
            <a:srgbClr val="0B2545"/>
          </a:solidFill>
          <a:ln w="12700">
            <a:solidFill>
              <a:srgbClr val="0B2545"/>
            </a:solidFill>
            <a:prstDash val="solid"/>
          </a:ln>
        </p:spPr>
        <p:txBody>
          <a:bodyPr/>
          <a:lstStyle/>
          <a:p>
            <a:endParaRPr lang="en-US"/>
          </a:p>
        </p:txBody>
      </p:sp>
      <p:sp>
        <p:nvSpPr>
          <p:cNvPr id="14" name="Shape 11"/>
          <p:cNvSpPr/>
          <p:nvPr/>
        </p:nvSpPr>
        <p:spPr>
          <a:xfrm>
            <a:off x="457200" y="5440680"/>
            <a:ext cx="73152" cy="868680"/>
          </a:xfrm>
          <a:prstGeom prst="rect">
            <a:avLst/>
          </a:prstGeom>
          <a:solidFill>
            <a:srgbClr val="EE964B"/>
          </a:solidFill>
          <a:ln w="12700">
            <a:solidFill>
              <a:srgbClr val="EE964B"/>
            </a:solidFill>
            <a:prstDash val="solid"/>
          </a:ln>
        </p:spPr>
        <p:txBody>
          <a:bodyPr/>
          <a:lstStyle/>
          <a:p>
            <a:endParaRPr lang="en-US"/>
          </a:p>
        </p:txBody>
      </p:sp>
      <p:sp>
        <p:nvSpPr>
          <p:cNvPr id="15" name="Text 12"/>
          <p:cNvSpPr/>
          <p:nvPr/>
        </p:nvSpPr>
        <p:spPr>
          <a:xfrm>
            <a:off x="777240" y="5532120"/>
            <a:ext cx="10972800" cy="731520"/>
          </a:xfrm>
          <a:prstGeom prst="rect">
            <a:avLst/>
          </a:prstGeom>
          <a:noFill/>
          <a:ln/>
        </p:spPr>
        <p:txBody>
          <a:bodyPr wrap="square" rtlCol="0" anchor="ctr"/>
          <a:lstStyle/>
          <a:p>
            <a:pPr marL="0" indent="0">
              <a:buNone/>
            </a:pPr>
            <a:r>
              <a:rPr lang="en-US" sz="1300" b="1" i="1" dirty="0">
                <a:solidFill>
                  <a:srgbClr val="EE964B"/>
                </a:solidFill>
                <a:latin typeface="Calibri" pitchFamily="34" charset="0"/>
                <a:ea typeface="Calibri" pitchFamily="34" charset="-122"/>
                <a:cs typeface="Calibri" pitchFamily="34" charset="-120"/>
              </a:rPr>
              <a:t>Take-away </a:t>
            </a:r>
            <a:r>
              <a:rPr lang="en-US" sz="1200" i="1" dirty="0">
                <a:solidFill>
                  <a:srgbClr val="FFFFFF"/>
                </a:solidFill>
                <a:latin typeface="Calibri" pitchFamily="34" charset="0"/>
                <a:ea typeface="Calibri" pitchFamily="34" charset="-122"/>
                <a:cs typeface="Calibri" pitchFamily="34" charset="-120"/>
              </a:rPr>
              <a:t>→ low training loss does not equal high validation accuracy. SGD (b=1) reaches the lowest training loss but Adam and SGD+Momentum tie for highest test accuracy at 0.862. Generalization, not just optimization, is what matters.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Test Accuracy · Macro-F1 · Wall-Clock Time</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The 'best' optimizer depends on which axis you're optimizing.</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pic>
        <p:nvPicPr>
          <p:cNvPr id="8" name="Image 0" descr="/home/claude/images/08_bars.png"/>
          <p:cNvPicPr>
            <a:picLocks noChangeAspect="1"/>
          </p:cNvPicPr>
          <p:nvPr/>
        </p:nvPicPr>
        <p:blipFill>
          <a:blip r:embed="rId3"/>
          <a:srcRect/>
          <a:stretch/>
        </p:blipFill>
        <p:spPr>
          <a:xfrm>
            <a:off x="457200" y="1097280"/>
            <a:ext cx="11247120" cy="3657600"/>
          </a:xfrm>
          <a:prstGeom prst="rect">
            <a:avLst/>
          </a:prstGeom>
        </p:spPr>
      </p:pic>
      <p:sp>
        <p:nvSpPr>
          <p:cNvPr id="9" name="Shape 6"/>
          <p:cNvSpPr/>
          <p:nvPr/>
        </p:nvSpPr>
        <p:spPr>
          <a:xfrm>
            <a:off x="457200" y="4892040"/>
            <a:ext cx="3657600" cy="1371600"/>
          </a:xfrm>
          <a:prstGeom prst="rect">
            <a:avLst/>
          </a:prstGeom>
          <a:solidFill>
            <a:srgbClr val="FFFFFF"/>
          </a:solidFill>
          <a:ln w="9525">
            <a:solidFill>
              <a:srgbClr val="DDE3EC"/>
            </a:solidFill>
            <a:prstDash val="solid"/>
          </a:ln>
        </p:spPr>
        <p:txBody>
          <a:bodyPr/>
          <a:lstStyle/>
          <a:p>
            <a:endParaRPr lang="en-US"/>
          </a:p>
        </p:txBody>
      </p:sp>
      <p:sp>
        <p:nvSpPr>
          <p:cNvPr id="10" name="Shape 7"/>
          <p:cNvSpPr/>
          <p:nvPr/>
        </p:nvSpPr>
        <p:spPr>
          <a:xfrm>
            <a:off x="457200" y="4892040"/>
            <a:ext cx="73152" cy="1371600"/>
          </a:xfrm>
          <a:prstGeom prst="rect">
            <a:avLst/>
          </a:prstGeom>
          <a:solidFill>
            <a:srgbClr val="EE964B"/>
          </a:solidFill>
          <a:ln w="12700">
            <a:solidFill>
              <a:srgbClr val="EE964B"/>
            </a:solidFill>
            <a:prstDash val="solid"/>
          </a:ln>
        </p:spPr>
        <p:txBody>
          <a:bodyPr/>
          <a:lstStyle/>
          <a:p>
            <a:endParaRPr lang="en-US"/>
          </a:p>
        </p:txBody>
      </p:sp>
      <p:sp>
        <p:nvSpPr>
          <p:cNvPr id="11" name="Text 8"/>
          <p:cNvSpPr/>
          <p:nvPr/>
        </p:nvSpPr>
        <p:spPr>
          <a:xfrm>
            <a:off x="640080" y="4983480"/>
            <a:ext cx="3383280" cy="320040"/>
          </a:xfrm>
          <a:prstGeom prst="rect">
            <a:avLst/>
          </a:prstGeom>
          <a:noFill/>
          <a:ln/>
        </p:spPr>
        <p:txBody>
          <a:bodyPr wrap="square" lIns="0" tIns="0" rIns="0" bIns="0" rtlCol="0" anchor="ctr"/>
          <a:lstStyle/>
          <a:p>
            <a:pPr marL="0" indent="0">
              <a:buNone/>
            </a:pPr>
            <a:r>
              <a:rPr lang="en-US" sz="1200" b="1" kern="0" spc="200" dirty="0">
                <a:solidFill>
                  <a:srgbClr val="5C6B82"/>
                </a:solidFill>
                <a:latin typeface="Calibri" pitchFamily="34" charset="0"/>
                <a:ea typeface="Calibri" pitchFamily="34" charset="-122"/>
                <a:cs typeface="Calibri" pitchFamily="34" charset="-120"/>
              </a:rPr>
              <a:t>Best Test Accuracy</a:t>
            </a:r>
            <a:endParaRPr lang="en-US" sz="1200" dirty="0"/>
          </a:p>
        </p:txBody>
      </p:sp>
      <p:sp>
        <p:nvSpPr>
          <p:cNvPr id="12" name="Text 9"/>
          <p:cNvSpPr/>
          <p:nvPr/>
        </p:nvSpPr>
        <p:spPr>
          <a:xfrm>
            <a:off x="640080" y="5303520"/>
            <a:ext cx="3383280" cy="548640"/>
          </a:xfrm>
          <a:prstGeom prst="rect">
            <a:avLst/>
          </a:prstGeom>
          <a:noFill/>
          <a:ln/>
        </p:spPr>
        <p:txBody>
          <a:bodyPr wrap="square" lIns="0" tIns="0" rIns="0" bIns="0" rtlCol="0" anchor="ctr"/>
          <a:lstStyle/>
          <a:p>
            <a:pPr marL="0" indent="0">
              <a:buNone/>
            </a:pPr>
            <a:r>
              <a:rPr lang="en-US" sz="3200" b="1" dirty="0">
                <a:solidFill>
                  <a:srgbClr val="EE964B"/>
                </a:solidFill>
                <a:latin typeface="Calibri" pitchFamily="34" charset="0"/>
                <a:ea typeface="Calibri" pitchFamily="34" charset="-122"/>
                <a:cs typeface="Calibri" pitchFamily="34" charset="-120"/>
              </a:rPr>
              <a:t>0.862</a:t>
            </a:r>
            <a:endParaRPr lang="en-US" sz="3200" dirty="0"/>
          </a:p>
        </p:txBody>
      </p:sp>
      <p:sp>
        <p:nvSpPr>
          <p:cNvPr id="13" name="Text 10"/>
          <p:cNvSpPr/>
          <p:nvPr/>
        </p:nvSpPr>
        <p:spPr>
          <a:xfrm>
            <a:off x="640080" y="5852160"/>
            <a:ext cx="3383280" cy="365760"/>
          </a:xfrm>
          <a:prstGeom prst="rect">
            <a:avLst/>
          </a:prstGeom>
          <a:noFill/>
          <a:ln/>
        </p:spPr>
        <p:txBody>
          <a:bodyPr wrap="square" lIns="0" tIns="0" rIns="0" bIns="0" rtlCol="0" anchor="ctr"/>
          <a:lstStyle/>
          <a:p>
            <a:pPr marL="0" indent="0">
              <a:buNone/>
            </a:pPr>
            <a:r>
              <a:rPr lang="en-US" sz="1100" i="1" dirty="0">
                <a:solidFill>
                  <a:srgbClr val="0B2545"/>
                </a:solidFill>
                <a:latin typeface="Calibri" pitchFamily="34" charset="0"/>
                <a:ea typeface="Calibri" pitchFamily="34" charset="-122"/>
                <a:cs typeface="Calibri" pitchFamily="34" charset="-120"/>
              </a:rPr>
              <a:t>Adam · SGD+Momentum (tie)</a:t>
            </a:r>
            <a:endParaRPr lang="en-US" sz="1100" dirty="0"/>
          </a:p>
        </p:txBody>
      </p:sp>
      <p:sp>
        <p:nvSpPr>
          <p:cNvPr id="14" name="Shape 11"/>
          <p:cNvSpPr/>
          <p:nvPr/>
        </p:nvSpPr>
        <p:spPr>
          <a:xfrm>
            <a:off x="4251960" y="4892040"/>
            <a:ext cx="3657600" cy="1371600"/>
          </a:xfrm>
          <a:prstGeom prst="rect">
            <a:avLst/>
          </a:prstGeom>
          <a:solidFill>
            <a:srgbClr val="FFFFFF"/>
          </a:solidFill>
          <a:ln w="9525">
            <a:solidFill>
              <a:srgbClr val="DDE3EC"/>
            </a:solidFill>
            <a:prstDash val="solid"/>
          </a:ln>
        </p:spPr>
        <p:txBody>
          <a:bodyPr/>
          <a:lstStyle/>
          <a:p>
            <a:endParaRPr lang="en-US"/>
          </a:p>
        </p:txBody>
      </p:sp>
      <p:sp>
        <p:nvSpPr>
          <p:cNvPr id="15" name="Shape 12"/>
          <p:cNvSpPr/>
          <p:nvPr/>
        </p:nvSpPr>
        <p:spPr>
          <a:xfrm>
            <a:off x="4251960" y="4892040"/>
            <a:ext cx="73152" cy="1371600"/>
          </a:xfrm>
          <a:prstGeom prst="rect">
            <a:avLst/>
          </a:prstGeom>
          <a:solidFill>
            <a:srgbClr val="1B7F8C"/>
          </a:solidFill>
          <a:ln w="12700">
            <a:solidFill>
              <a:srgbClr val="1B7F8C"/>
            </a:solidFill>
            <a:prstDash val="solid"/>
          </a:ln>
        </p:spPr>
        <p:txBody>
          <a:bodyPr/>
          <a:lstStyle/>
          <a:p>
            <a:endParaRPr lang="en-US"/>
          </a:p>
        </p:txBody>
      </p:sp>
      <p:sp>
        <p:nvSpPr>
          <p:cNvPr id="16" name="Text 13"/>
          <p:cNvSpPr/>
          <p:nvPr/>
        </p:nvSpPr>
        <p:spPr>
          <a:xfrm>
            <a:off x="4434840" y="4983480"/>
            <a:ext cx="3383280" cy="320040"/>
          </a:xfrm>
          <a:prstGeom prst="rect">
            <a:avLst/>
          </a:prstGeom>
          <a:noFill/>
          <a:ln/>
        </p:spPr>
        <p:txBody>
          <a:bodyPr wrap="square" lIns="0" tIns="0" rIns="0" bIns="0" rtlCol="0" anchor="ctr"/>
          <a:lstStyle/>
          <a:p>
            <a:pPr marL="0" indent="0">
              <a:buNone/>
            </a:pPr>
            <a:r>
              <a:rPr lang="en-US" sz="1200" b="1" kern="0" spc="200" dirty="0">
                <a:solidFill>
                  <a:srgbClr val="5C6B82"/>
                </a:solidFill>
                <a:latin typeface="Calibri" pitchFamily="34" charset="0"/>
                <a:ea typeface="Calibri" pitchFamily="34" charset="-122"/>
                <a:cs typeface="Calibri" pitchFamily="34" charset="-120"/>
              </a:rPr>
              <a:t>Best Macro-F1</a:t>
            </a:r>
            <a:endParaRPr lang="en-US" sz="1200" dirty="0"/>
          </a:p>
        </p:txBody>
      </p:sp>
      <p:sp>
        <p:nvSpPr>
          <p:cNvPr id="17" name="Text 14"/>
          <p:cNvSpPr/>
          <p:nvPr/>
        </p:nvSpPr>
        <p:spPr>
          <a:xfrm>
            <a:off x="4434840" y="5303520"/>
            <a:ext cx="3383280" cy="548640"/>
          </a:xfrm>
          <a:prstGeom prst="rect">
            <a:avLst/>
          </a:prstGeom>
          <a:noFill/>
          <a:ln/>
        </p:spPr>
        <p:txBody>
          <a:bodyPr wrap="square" lIns="0" tIns="0" rIns="0" bIns="0" rtlCol="0" anchor="ctr"/>
          <a:lstStyle/>
          <a:p>
            <a:pPr marL="0" indent="0">
              <a:buNone/>
            </a:pPr>
            <a:r>
              <a:rPr lang="en-US" sz="3200" b="1" dirty="0">
                <a:solidFill>
                  <a:srgbClr val="1B7F8C"/>
                </a:solidFill>
                <a:latin typeface="Calibri" pitchFamily="34" charset="0"/>
                <a:ea typeface="Calibri" pitchFamily="34" charset="-122"/>
                <a:cs typeface="Calibri" pitchFamily="34" charset="-120"/>
              </a:rPr>
              <a:t>0.862</a:t>
            </a:r>
            <a:endParaRPr lang="en-US" sz="3200" dirty="0"/>
          </a:p>
        </p:txBody>
      </p:sp>
      <p:sp>
        <p:nvSpPr>
          <p:cNvPr id="18" name="Text 15"/>
          <p:cNvSpPr/>
          <p:nvPr/>
        </p:nvSpPr>
        <p:spPr>
          <a:xfrm>
            <a:off x="4434840" y="5852160"/>
            <a:ext cx="3383280" cy="365760"/>
          </a:xfrm>
          <a:prstGeom prst="rect">
            <a:avLst/>
          </a:prstGeom>
          <a:noFill/>
          <a:ln/>
        </p:spPr>
        <p:txBody>
          <a:bodyPr wrap="square" lIns="0" tIns="0" rIns="0" bIns="0" rtlCol="0" anchor="ctr"/>
          <a:lstStyle/>
          <a:p>
            <a:pPr marL="0" indent="0">
              <a:buNone/>
            </a:pPr>
            <a:r>
              <a:rPr lang="en-US" sz="1100" i="1" dirty="0">
                <a:solidFill>
                  <a:srgbClr val="0B2545"/>
                </a:solidFill>
                <a:latin typeface="Calibri" pitchFamily="34" charset="0"/>
                <a:ea typeface="Calibri" pitchFamily="34" charset="-122"/>
                <a:cs typeface="Calibri" pitchFamily="34" charset="-120"/>
              </a:rPr>
              <a:t>Adam · SGD+Momentum (tie)</a:t>
            </a:r>
            <a:endParaRPr lang="en-US" sz="1100" dirty="0"/>
          </a:p>
        </p:txBody>
      </p:sp>
      <p:sp>
        <p:nvSpPr>
          <p:cNvPr id="19" name="Shape 16"/>
          <p:cNvSpPr/>
          <p:nvPr/>
        </p:nvSpPr>
        <p:spPr>
          <a:xfrm>
            <a:off x="8046720" y="4892040"/>
            <a:ext cx="3657600" cy="1371600"/>
          </a:xfrm>
          <a:prstGeom prst="rect">
            <a:avLst/>
          </a:prstGeom>
          <a:solidFill>
            <a:srgbClr val="FFFFFF"/>
          </a:solidFill>
          <a:ln w="9525">
            <a:solidFill>
              <a:srgbClr val="DDE3EC"/>
            </a:solidFill>
            <a:prstDash val="solid"/>
          </a:ln>
        </p:spPr>
        <p:txBody>
          <a:bodyPr/>
          <a:lstStyle/>
          <a:p>
            <a:endParaRPr lang="en-US"/>
          </a:p>
        </p:txBody>
      </p:sp>
      <p:sp>
        <p:nvSpPr>
          <p:cNvPr id="20" name="Shape 17"/>
          <p:cNvSpPr/>
          <p:nvPr/>
        </p:nvSpPr>
        <p:spPr>
          <a:xfrm>
            <a:off x="8046720" y="4892040"/>
            <a:ext cx="73152" cy="1371600"/>
          </a:xfrm>
          <a:prstGeom prst="rect">
            <a:avLst/>
          </a:prstGeom>
          <a:solidFill>
            <a:srgbClr val="C03221"/>
          </a:solidFill>
          <a:ln w="12700">
            <a:solidFill>
              <a:srgbClr val="C03221"/>
            </a:solidFill>
            <a:prstDash val="solid"/>
          </a:ln>
        </p:spPr>
        <p:txBody>
          <a:bodyPr/>
          <a:lstStyle/>
          <a:p>
            <a:endParaRPr lang="en-US"/>
          </a:p>
        </p:txBody>
      </p:sp>
      <p:sp>
        <p:nvSpPr>
          <p:cNvPr id="21" name="Text 18"/>
          <p:cNvSpPr/>
          <p:nvPr/>
        </p:nvSpPr>
        <p:spPr>
          <a:xfrm>
            <a:off x="8229600" y="4983480"/>
            <a:ext cx="3383280" cy="320040"/>
          </a:xfrm>
          <a:prstGeom prst="rect">
            <a:avLst/>
          </a:prstGeom>
          <a:noFill/>
          <a:ln/>
        </p:spPr>
        <p:txBody>
          <a:bodyPr wrap="square" lIns="0" tIns="0" rIns="0" bIns="0" rtlCol="0" anchor="ctr"/>
          <a:lstStyle/>
          <a:p>
            <a:pPr marL="0" indent="0">
              <a:buNone/>
            </a:pPr>
            <a:r>
              <a:rPr lang="en-US" sz="1200" b="1" kern="0" spc="200" dirty="0">
                <a:solidFill>
                  <a:srgbClr val="5C6B82"/>
                </a:solidFill>
                <a:latin typeface="Calibri" pitchFamily="34" charset="0"/>
                <a:ea typeface="Calibri" pitchFamily="34" charset="-122"/>
                <a:cs typeface="Calibri" pitchFamily="34" charset="-120"/>
              </a:rPr>
              <a:t>Fastest</a:t>
            </a:r>
            <a:endParaRPr lang="en-US" sz="1200" dirty="0"/>
          </a:p>
        </p:txBody>
      </p:sp>
      <p:sp>
        <p:nvSpPr>
          <p:cNvPr id="22" name="Text 19"/>
          <p:cNvSpPr/>
          <p:nvPr/>
        </p:nvSpPr>
        <p:spPr>
          <a:xfrm>
            <a:off x="8229600" y="5303520"/>
            <a:ext cx="3383280" cy="548640"/>
          </a:xfrm>
          <a:prstGeom prst="rect">
            <a:avLst/>
          </a:prstGeom>
          <a:noFill/>
          <a:ln/>
        </p:spPr>
        <p:txBody>
          <a:bodyPr wrap="square" lIns="0" tIns="0" rIns="0" bIns="0" rtlCol="0" anchor="ctr"/>
          <a:lstStyle/>
          <a:p>
            <a:pPr marL="0" indent="0">
              <a:buNone/>
            </a:pPr>
            <a:r>
              <a:rPr lang="en-US" sz="3200" b="1" dirty="0">
                <a:solidFill>
                  <a:srgbClr val="C03221"/>
                </a:solidFill>
                <a:latin typeface="Calibri" pitchFamily="34" charset="0"/>
                <a:ea typeface="Calibri" pitchFamily="34" charset="-122"/>
                <a:cs typeface="Calibri" pitchFamily="34" charset="-120"/>
              </a:rPr>
              <a:t>0.6 s</a:t>
            </a:r>
            <a:endParaRPr lang="en-US" sz="3200" dirty="0"/>
          </a:p>
        </p:txBody>
      </p:sp>
      <p:sp>
        <p:nvSpPr>
          <p:cNvPr id="23" name="Text 20"/>
          <p:cNvSpPr/>
          <p:nvPr/>
        </p:nvSpPr>
        <p:spPr>
          <a:xfrm>
            <a:off x="8229600" y="5852160"/>
            <a:ext cx="3383280" cy="365760"/>
          </a:xfrm>
          <a:prstGeom prst="rect">
            <a:avLst/>
          </a:prstGeom>
          <a:noFill/>
          <a:ln/>
        </p:spPr>
        <p:txBody>
          <a:bodyPr wrap="square" lIns="0" tIns="0" rIns="0" bIns="0" rtlCol="0" anchor="ctr"/>
          <a:lstStyle/>
          <a:p>
            <a:pPr marL="0" indent="0">
              <a:buNone/>
            </a:pPr>
            <a:r>
              <a:rPr lang="en-US" sz="1100" i="1" dirty="0">
                <a:solidFill>
                  <a:srgbClr val="0B2545"/>
                </a:solidFill>
                <a:latin typeface="Calibri" pitchFamily="34" charset="0"/>
                <a:ea typeface="Calibri" pitchFamily="34" charset="-122"/>
                <a:cs typeface="Calibri" pitchFamily="34" charset="-120"/>
              </a:rPr>
              <a:t>L-BFGS — 28× faster than SGD(b=1)</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Confusion Matrix — SGD+Momentum (Best Model)</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Across 87 test samples × 29 classes, only ~13 misclassifications occur.</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pic>
        <p:nvPicPr>
          <p:cNvPr id="8" name="Image 0" descr="/home/claude/images/09_confusion.png"/>
          <p:cNvPicPr>
            <a:picLocks noChangeAspect="1"/>
          </p:cNvPicPr>
          <p:nvPr/>
        </p:nvPicPr>
        <p:blipFill>
          <a:blip r:embed="rId3"/>
          <a:srcRect/>
          <a:stretch/>
        </p:blipFill>
        <p:spPr>
          <a:xfrm>
            <a:off x="457200" y="1097280"/>
            <a:ext cx="7772400" cy="5212080"/>
          </a:xfrm>
          <a:prstGeom prst="rect">
            <a:avLst/>
          </a:prstGeom>
        </p:spPr>
      </p:pic>
      <p:sp>
        <p:nvSpPr>
          <p:cNvPr id="9" name="Shape 6"/>
          <p:cNvSpPr/>
          <p:nvPr/>
        </p:nvSpPr>
        <p:spPr>
          <a:xfrm>
            <a:off x="8412480" y="1143000"/>
            <a:ext cx="3291840" cy="5120640"/>
          </a:xfrm>
          <a:prstGeom prst="rect">
            <a:avLst/>
          </a:prstGeom>
          <a:solidFill>
            <a:srgbClr val="FFFFFF"/>
          </a:solidFill>
          <a:ln w="9525">
            <a:solidFill>
              <a:srgbClr val="DDE3EC"/>
            </a:solidFill>
            <a:prstDash val="solid"/>
          </a:ln>
        </p:spPr>
        <p:txBody>
          <a:bodyPr/>
          <a:lstStyle/>
          <a:p>
            <a:endParaRPr lang="en-US"/>
          </a:p>
        </p:txBody>
      </p:sp>
      <p:sp>
        <p:nvSpPr>
          <p:cNvPr id="10" name="Shape 7"/>
          <p:cNvSpPr/>
          <p:nvPr/>
        </p:nvSpPr>
        <p:spPr>
          <a:xfrm>
            <a:off x="8412480" y="1143000"/>
            <a:ext cx="73152" cy="5120640"/>
          </a:xfrm>
          <a:prstGeom prst="rect">
            <a:avLst/>
          </a:prstGeom>
          <a:solidFill>
            <a:srgbClr val="EE964B"/>
          </a:solidFill>
          <a:ln w="12700">
            <a:solidFill>
              <a:srgbClr val="EE964B"/>
            </a:solidFill>
            <a:prstDash val="solid"/>
          </a:ln>
        </p:spPr>
        <p:txBody>
          <a:bodyPr/>
          <a:lstStyle/>
          <a:p>
            <a:endParaRPr lang="en-US"/>
          </a:p>
        </p:txBody>
      </p:sp>
      <p:sp>
        <p:nvSpPr>
          <p:cNvPr id="11" name="Text 8"/>
          <p:cNvSpPr/>
          <p:nvPr/>
        </p:nvSpPr>
        <p:spPr>
          <a:xfrm>
            <a:off x="8595360" y="1234440"/>
            <a:ext cx="310896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Where mistakes happen</a:t>
            </a:r>
            <a:endParaRPr lang="en-US" sz="1400" dirty="0"/>
          </a:p>
        </p:txBody>
      </p:sp>
      <p:sp>
        <p:nvSpPr>
          <p:cNvPr id="12" name="Text 9"/>
          <p:cNvSpPr/>
          <p:nvPr/>
        </p:nvSpPr>
        <p:spPr>
          <a:xfrm>
            <a:off x="8595360" y="1691640"/>
            <a:ext cx="3108960" cy="4526280"/>
          </a:xfrm>
          <a:prstGeom prst="rect">
            <a:avLst/>
          </a:prstGeom>
          <a:noFill/>
          <a:ln/>
        </p:spPr>
        <p:txBody>
          <a:bodyPr wrap="square" rtlCol="0" anchor="ctr"/>
          <a:lstStyle/>
          <a:p>
            <a:pPr marL="0" indent="0">
              <a:spcAft>
                <a:spcPts val="400"/>
              </a:spcAft>
              <a:buNone/>
            </a:pPr>
            <a:r>
              <a:rPr lang="en-US" sz="1200" b="1" dirty="0">
                <a:solidFill>
                  <a:srgbClr val="0B2545"/>
                </a:solidFill>
                <a:latin typeface="Calibri" pitchFamily="34" charset="0"/>
                <a:ea typeface="Calibri" pitchFamily="34" charset="-122"/>
                <a:cs typeface="Calibri" pitchFamily="34" charset="-120"/>
              </a:rPr>
              <a:t>Lung-SCC ↔ Lung-AD</a:t>
            </a:r>
            <a:endParaRPr lang="en-US" sz="1200" dirty="0"/>
          </a:p>
          <a:p>
            <a:pPr marL="0" indent="0">
              <a:spcAft>
                <a:spcPts val="400"/>
              </a:spcAft>
              <a:buNone/>
            </a:pPr>
            <a:r>
              <a:rPr lang="en-US" sz="1100" i="1" dirty="0">
                <a:solidFill>
                  <a:srgbClr val="5C6B82"/>
                </a:solidFill>
                <a:latin typeface="Calibri" pitchFamily="34" charset="0"/>
                <a:ea typeface="Calibri" pitchFamily="34" charset="-122"/>
                <a:cs typeface="Calibri" pitchFamily="34" charset="-120"/>
              </a:rPr>
              <a:t>Two adenocarcinoma vs squamous samples swapped — same organ, similar expression.</a:t>
            </a:r>
            <a:endParaRPr lang="en-US" sz="1200" dirty="0"/>
          </a:p>
          <a:p>
            <a:pPr marL="0" indent="0">
              <a:spcAft>
                <a:spcPts val="400"/>
              </a:spcAft>
              <a:buNone/>
            </a:pPr>
            <a:endParaRPr lang="en-US" sz="1200" dirty="0"/>
          </a:p>
          <a:p>
            <a:pPr marL="0" indent="0">
              <a:spcAft>
                <a:spcPts val="400"/>
              </a:spcAft>
              <a:buNone/>
            </a:pPr>
            <a:r>
              <a:rPr lang="en-US" sz="1200" b="1" dirty="0">
                <a:solidFill>
                  <a:srgbClr val="0B2545"/>
                </a:solidFill>
                <a:latin typeface="Calibri" pitchFamily="34" charset="0"/>
                <a:ea typeface="Calibri" pitchFamily="34" charset="-122"/>
                <a:cs typeface="Calibri" pitchFamily="34" charset="-120"/>
              </a:rPr>
              <a:t>Glioblastoma → Brain LGG</a:t>
            </a:r>
            <a:endParaRPr lang="en-US" sz="1200" dirty="0"/>
          </a:p>
          <a:p>
            <a:pPr marL="0" indent="0">
              <a:spcAft>
                <a:spcPts val="400"/>
              </a:spcAft>
              <a:buNone/>
            </a:pPr>
            <a:r>
              <a:rPr lang="en-US" sz="1100" i="1" dirty="0">
                <a:solidFill>
                  <a:srgbClr val="5C6B82"/>
                </a:solidFill>
                <a:latin typeface="Calibri" pitchFamily="34" charset="0"/>
                <a:ea typeface="Calibri" pitchFamily="34" charset="-122"/>
                <a:cs typeface="Calibri" pitchFamily="34" charset="-120"/>
              </a:rPr>
              <a:t>GBM and lower-grade glioma share neural lineage — biologically expected.</a:t>
            </a:r>
            <a:endParaRPr lang="en-US" sz="1200" dirty="0"/>
          </a:p>
          <a:p>
            <a:pPr marL="0" indent="0">
              <a:spcAft>
                <a:spcPts val="400"/>
              </a:spcAft>
              <a:buNone/>
            </a:pPr>
            <a:endParaRPr lang="en-US" sz="1200" dirty="0"/>
          </a:p>
          <a:p>
            <a:pPr marL="0" indent="0">
              <a:spcAft>
                <a:spcPts val="400"/>
              </a:spcAft>
              <a:buNone/>
            </a:pPr>
            <a:r>
              <a:rPr lang="en-US" sz="1200" b="1" dirty="0">
                <a:solidFill>
                  <a:srgbClr val="0B2545"/>
                </a:solidFill>
                <a:latin typeface="Calibri" pitchFamily="34" charset="0"/>
                <a:ea typeface="Calibri" pitchFamily="34" charset="-122"/>
                <a:cs typeface="Calibri" pitchFamily="34" charset="-120"/>
              </a:rPr>
              <a:t>Cholangio → Diffuse-LBCL</a:t>
            </a:r>
            <a:endParaRPr lang="en-US" sz="1200" dirty="0"/>
          </a:p>
          <a:p>
            <a:pPr marL="0" indent="0">
              <a:spcAft>
                <a:spcPts val="400"/>
              </a:spcAft>
              <a:buNone/>
            </a:pPr>
            <a:r>
              <a:rPr lang="en-US" sz="1100" i="1" dirty="0">
                <a:solidFill>
                  <a:srgbClr val="5C6B82"/>
                </a:solidFill>
                <a:latin typeface="Calibri" pitchFamily="34" charset="0"/>
                <a:ea typeface="Calibri" pitchFamily="34" charset="-122"/>
                <a:cs typeface="Calibri" pitchFamily="34" charset="-120"/>
              </a:rPr>
              <a:t>Tiny class with only 3 test samples; 1 misclassification = 33 % error.</a:t>
            </a:r>
            <a:endParaRPr lang="en-US" sz="1200" dirty="0"/>
          </a:p>
          <a:p>
            <a:pPr marL="0" indent="0">
              <a:spcAft>
                <a:spcPts val="400"/>
              </a:spcAft>
              <a:buNone/>
            </a:pPr>
            <a:endParaRPr lang="en-US" sz="1200" dirty="0"/>
          </a:p>
          <a:p>
            <a:pPr marL="0" indent="0">
              <a:spcAft>
                <a:spcPts val="400"/>
              </a:spcAft>
              <a:buNone/>
            </a:pPr>
            <a:r>
              <a:rPr lang="en-US" sz="1200" b="1" dirty="0">
                <a:solidFill>
                  <a:srgbClr val="0B2545"/>
                </a:solidFill>
                <a:latin typeface="Calibri" pitchFamily="34" charset="0"/>
                <a:ea typeface="Calibri" pitchFamily="34" charset="-122"/>
                <a:cs typeface="Calibri" pitchFamily="34" charset="-120"/>
              </a:rPr>
              <a:t>Stomach → Esophageal</a:t>
            </a:r>
            <a:endParaRPr lang="en-US" sz="1200" dirty="0"/>
          </a:p>
          <a:p>
            <a:pPr marL="0" indent="0">
              <a:spcAft>
                <a:spcPts val="400"/>
              </a:spcAft>
              <a:buNone/>
            </a:pPr>
            <a:r>
              <a:rPr lang="en-US" sz="1100" i="1" dirty="0">
                <a:solidFill>
                  <a:srgbClr val="5C6B82"/>
                </a:solidFill>
                <a:latin typeface="Calibri" pitchFamily="34" charset="0"/>
                <a:ea typeface="Calibri" pitchFamily="34" charset="-122"/>
                <a:cs typeface="Calibri" pitchFamily="34" charset="-120"/>
              </a:rPr>
              <a:t>Adjacent GI sites — known histological overlap.</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Optimizer × LR-Schedule Interaction</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Schedule choice matters more for some optimizers than others.</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pic>
        <p:nvPicPr>
          <p:cNvPr id="8" name="Image 0" descr="/home/claude/images/11_schedule_heatmap.png"/>
          <p:cNvPicPr>
            <a:picLocks noChangeAspect="1"/>
          </p:cNvPicPr>
          <p:nvPr/>
        </p:nvPicPr>
        <p:blipFill>
          <a:blip r:embed="rId3"/>
          <a:srcRect/>
          <a:stretch/>
        </p:blipFill>
        <p:spPr>
          <a:xfrm>
            <a:off x="457200" y="1143000"/>
            <a:ext cx="6858000" cy="3657600"/>
          </a:xfrm>
          <a:prstGeom prst="rect">
            <a:avLst/>
          </a:prstGeom>
        </p:spPr>
      </p:pic>
      <p:sp>
        <p:nvSpPr>
          <p:cNvPr id="9" name="Shape 6"/>
          <p:cNvSpPr/>
          <p:nvPr/>
        </p:nvSpPr>
        <p:spPr>
          <a:xfrm>
            <a:off x="7498080" y="1143000"/>
            <a:ext cx="4114800" cy="1005840"/>
          </a:xfrm>
          <a:prstGeom prst="rect">
            <a:avLst/>
          </a:prstGeom>
          <a:solidFill>
            <a:srgbClr val="FFFFFF"/>
          </a:solidFill>
          <a:ln w="9525">
            <a:solidFill>
              <a:srgbClr val="DDE3EC"/>
            </a:solidFill>
            <a:prstDash val="solid"/>
          </a:ln>
        </p:spPr>
        <p:txBody>
          <a:bodyPr/>
          <a:lstStyle/>
          <a:p>
            <a:endParaRPr lang="en-US"/>
          </a:p>
        </p:txBody>
      </p:sp>
      <p:sp>
        <p:nvSpPr>
          <p:cNvPr id="10" name="Shape 7"/>
          <p:cNvSpPr/>
          <p:nvPr/>
        </p:nvSpPr>
        <p:spPr>
          <a:xfrm>
            <a:off x="7498080" y="1143000"/>
            <a:ext cx="73152" cy="1005840"/>
          </a:xfrm>
          <a:prstGeom prst="rect">
            <a:avLst/>
          </a:prstGeom>
          <a:solidFill>
            <a:srgbClr val="1B7F8C"/>
          </a:solidFill>
          <a:ln w="12700">
            <a:solidFill>
              <a:srgbClr val="1B7F8C"/>
            </a:solidFill>
            <a:prstDash val="solid"/>
          </a:ln>
        </p:spPr>
        <p:txBody>
          <a:bodyPr/>
          <a:lstStyle/>
          <a:p>
            <a:endParaRPr lang="en-US"/>
          </a:p>
        </p:txBody>
      </p:sp>
      <p:sp>
        <p:nvSpPr>
          <p:cNvPr id="11" name="Text 8"/>
          <p:cNvSpPr/>
          <p:nvPr/>
        </p:nvSpPr>
        <p:spPr>
          <a:xfrm>
            <a:off x="7680960" y="1207008"/>
            <a:ext cx="3886200" cy="32004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SGD+Momentum is most schedule-robust</a:t>
            </a:r>
            <a:endParaRPr lang="en-US" sz="1200" dirty="0"/>
          </a:p>
        </p:txBody>
      </p:sp>
      <p:sp>
        <p:nvSpPr>
          <p:cNvPr id="12" name="Text 9"/>
          <p:cNvSpPr/>
          <p:nvPr/>
        </p:nvSpPr>
        <p:spPr>
          <a:xfrm>
            <a:off x="7680960" y="1527048"/>
            <a:ext cx="3886200" cy="594360"/>
          </a:xfrm>
          <a:prstGeom prst="rect">
            <a:avLst/>
          </a:prstGeom>
          <a:noFill/>
          <a:ln/>
        </p:spPr>
        <p:txBody>
          <a:bodyPr wrap="square" lIns="0" tIns="0" rIns="0" bIns="0"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Range 0.851 – 0.862 across all four schedules — tiny swing.</a:t>
            </a:r>
            <a:endParaRPr lang="en-US" sz="1100" dirty="0"/>
          </a:p>
        </p:txBody>
      </p:sp>
      <p:sp>
        <p:nvSpPr>
          <p:cNvPr id="13" name="Shape 10"/>
          <p:cNvSpPr/>
          <p:nvPr/>
        </p:nvSpPr>
        <p:spPr>
          <a:xfrm>
            <a:off x="7498080" y="2212848"/>
            <a:ext cx="4114800" cy="1005840"/>
          </a:xfrm>
          <a:prstGeom prst="rect">
            <a:avLst/>
          </a:prstGeom>
          <a:solidFill>
            <a:srgbClr val="FFFFFF"/>
          </a:solidFill>
          <a:ln w="9525">
            <a:solidFill>
              <a:srgbClr val="DDE3EC"/>
            </a:solidFill>
            <a:prstDash val="solid"/>
          </a:ln>
        </p:spPr>
        <p:txBody>
          <a:bodyPr/>
          <a:lstStyle/>
          <a:p>
            <a:endParaRPr lang="en-US"/>
          </a:p>
        </p:txBody>
      </p:sp>
      <p:sp>
        <p:nvSpPr>
          <p:cNvPr id="14" name="Shape 11"/>
          <p:cNvSpPr/>
          <p:nvPr/>
        </p:nvSpPr>
        <p:spPr>
          <a:xfrm>
            <a:off x="7498080" y="2212848"/>
            <a:ext cx="73152" cy="1005840"/>
          </a:xfrm>
          <a:prstGeom prst="rect">
            <a:avLst/>
          </a:prstGeom>
          <a:solidFill>
            <a:srgbClr val="EE964B"/>
          </a:solidFill>
          <a:ln w="12700">
            <a:solidFill>
              <a:srgbClr val="EE964B"/>
            </a:solidFill>
            <a:prstDash val="solid"/>
          </a:ln>
        </p:spPr>
        <p:txBody>
          <a:bodyPr/>
          <a:lstStyle/>
          <a:p>
            <a:endParaRPr lang="en-US"/>
          </a:p>
        </p:txBody>
      </p:sp>
      <p:sp>
        <p:nvSpPr>
          <p:cNvPr id="15" name="Text 12"/>
          <p:cNvSpPr/>
          <p:nvPr/>
        </p:nvSpPr>
        <p:spPr>
          <a:xfrm>
            <a:off x="7680960" y="2276856"/>
            <a:ext cx="3886200" cy="32004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Adam is schedule-sensitive</a:t>
            </a:r>
            <a:endParaRPr lang="en-US" sz="1200" dirty="0"/>
          </a:p>
        </p:txBody>
      </p:sp>
      <p:sp>
        <p:nvSpPr>
          <p:cNvPr id="16" name="Text 13"/>
          <p:cNvSpPr/>
          <p:nvPr/>
        </p:nvSpPr>
        <p:spPr>
          <a:xfrm>
            <a:off x="7680960" y="2596896"/>
            <a:ext cx="3886200" cy="594360"/>
          </a:xfrm>
          <a:prstGeom prst="rect">
            <a:avLst/>
          </a:prstGeom>
          <a:noFill/>
          <a:ln/>
        </p:spPr>
        <p:txBody>
          <a:bodyPr wrap="square" lIns="0" tIns="0" rIns="0" bIns="0"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Range 0.816 – 0.862 — exponential decay drops it 4.6 percentage points.</a:t>
            </a:r>
            <a:endParaRPr lang="en-US" sz="1100" dirty="0"/>
          </a:p>
        </p:txBody>
      </p:sp>
      <p:sp>
        <p:nvSpPr>
          <p:cNvPr id="17" name="Shape 14"/>
          <p:cNvSpPr/>
          <p:nvPr/>
        </p:nvSpPr>
        <p:spPr>
          <a:xfrm>
            <a:off x="7498080" y="3282696"/>
            <a:ext cx="4114800" cy="1005840"/>
          </a:xfrm>
          <a:prstGeom prst="rect">
            <a:avLst/>
          </a:prstGeom>
          <a:solidFill>
            <a:srgbClr val="FFFFFF"/>
          </a:solidFill>
          <a:ln w="9525">
            <a:solidFill>
              <a:srgbClr val="DDE3EC"/>
            </a:solidFill>
            <a:prstDash val="solid"/>
          </a:ln>
        </p:spPr>
        <p:txBody>
          <a:bodyPr/>
          <a:lstStyle/>
          <a:p>
            <a:endParaRPr lang="en-US"/>
          </a:p>
        </p:txBody>
      </p:sp>
      <p:sp>
        <p:nvSpPr>
          <p:cNvPr id="18" name="Shape 15"/>
          <p:cNvSpPr/>
          <p:nvPr/>
        </p:nvSpPr>
        <p:spPr>
          <a:xfrm>
            <a:off x="7498080" y="3282696"/>
            <a:ext cx="73152" cy="1005840"/>
          </a:xfrm>
          <a:prstGeom prst="rect">
            <a:avLst/>
          </a:prstGeom>
          <a:solidFill>
            <a:srgbClr val="C03221"/>
          </a:solidFill>
          <a:ln w="12700">
            <a:solidFill>
              <a:srgbClr val="C03221"/>
            </a:solidFill>
            <a:prstDash val="solid"/>
          </a:ln>
        </p:spPr>
        <p:txBody>
          <a:bodyPr/>
          <a:lstStyle/>
          <a:p>
            <a:endParaRPr lang="en-US"/>
          </a:p>
        </p:txBody>
      </p:sp>
      <p:sp>
        <p:nvSpPr>
          <p:cNvPr id="19" name="Text 16"/>
          <p:cNvSpPr/>
          <p:nvPr/>
        </p:nvSpPr>
        <p:spPr>
          <a:xfrm>
            <a:off x="7680960" y="3346704"/>
            <a:ext cx="3886200" cy="32004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Constant beats fancy schedules here</a:t>
            </a:r>
            <a:endParaRPr lang="en-US" sz="1200" dirty="0"/>
          </a:p>
        </p:txBody>
      </p:sp>
      <p:sp>
        <p:nvSpPr>
          <p:cNvPr id="20" name="Text 17"/>
          <p:cNvSpPr/>
          <p:nvPr/>
        </p:nvSpPr>
        <p:spPr>
          <a:xfrm>
            <a:off x="7680960" y="3666744"/>
            <a:ext cx="3886200" cy="594360"/>
          </a:xfrm>
          <a:prstGeom prst="rect">
            <a:avLst/>
          </a:prstGeom>
          <a:noFill/>
          <a:ln/>
        </p:spPr>
        <p:txBody>
          <a:bodyPr wrap="square" lIns="0" tIns="0" rIns="0" bIns="0"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The constant LR wins for every optimizer in this 100-epoch budget.</a:t>
            </a:r>
            <a:endParaRPr lang="en-US" sz="1100" dirty="0"/>
          </a:p>
        </p:txBody>
      </p:sp>
      <p:sp>
        <p:nvSpPr>
          <p:cNvPr id="21" name="Shape 18"/>
          <p:cNvSpPr/>
          <p:nvPr/>
        </p:nvSpPr>
        <p:spPr>
          <a:xfrm>
            <a:off x="7498080" y="4352544"/>
            <a:ext cx="4114800" cy="1005840"/>
          </a:xfrm>
          <a:prstGeom prst="rect">
            <a:avLst/>
          </a:prstGeom>
          <a:solidFill>
            <a:srgbClr val="FFFFFF"/>
          </a:solidFill>
          <a:ln w="9525">
            <a:solidFill>
              <a:srgbClr val="DDE3EC"/>
            </a:solidFill>
            <a:prstDash val="solid"/>
          </a:ln>
        </p:spPr>
        <p:txBody>
          <a:bodyPr/>
          <a:lstStyle/>
          <a:p>
            <a:endParaRPr lang="en-US"/>
          </a:p>
        </p:txBody>
      </p:sp>
      <p:sp>
        <p:nvSpPr>
          <p:cNvPr id="22" name="Shape 19"/>
          <p:cNvSpPr/>
          <p:nvPr/>
        </p:nvSpPr>
        <p:spPr>
          <a:xfrm>
            <a:off x="7498080" y="4352544"/>
            <a:ext cx="73152" cy="1005840"/>
          </a:xfrm>
          <a:prstGeom prst="rect">
            <a:avLst/>
          </a:prstGeom>
          <a:solidFill>
            <a:srgbClr val="0B2545"/>
          </a:solidFill>
          <a:ln w="12700">
            <a:solidFill>
              <a:srgbClr val="0B2545"/>
            </a:solidFill>
            <a:prstDash val="solid"/>
          </a:ln>
        </p:spPr>
        <p:txBody>
          <a:bodyPr/>
          <a:lstStyle/>
          <a:p>
            <a:endParaRPr lang="en-US"/>
          </a:p>
        </p:txBody>
      </p:sp>
      <p:sp>
        <p:nvSpPr>
          <p:cNvPr id="23" name="Text 20"/>
          <p:cNvSpPr/>
          <p:nvPr/>
        </p:nvSpPr>
        <p:spPr>
          <a:xfrm>
            <a:off x="7680960" y="4416552"/>
            <a:ext cx="3886200" cy="320040"/>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Mini-batch SGD is most volatile</a:t>
            </a:r>
            <a:endParaRPr lang="en-US" sz="1200" dirty="0"/>
          </a:p>
        </p:txBody>
      </p:sp>
      <p:sp>
        <p:nvSpPr>
          <p:cNvPr id="24" name="Text 21"/>
          <p:cNvSpPr/>
          <p:nvPr/>
        </p:nvSpPr>
        <p:spPr>
          <a:xfrm>
            <a:off x="7680960" y="4736592"/>
            <a:ext cx="3886200" cy="594360"/>
          </a:xfrm>
          <a:prstGeom prst="rect">
            <a:avLst/>
          </a:prstGeom>
          <a:noFill/>
          <a:ln/>
        </p:spPr>
        <p:txBody>
          <a:bodyPr wrap="square" lIns="0" tIns="0" rIns="0" bIns="0"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Drops to 0.770 with exponential decay — schedule cuts it off too fast.</a:t>
            </a:r>
            <a:endParaRPr lang="en-US" sz="1100" dirty="0"/>
          </a:p>
        </p:txBody>
      </p:sp>
      <p:sp>
        <p:nvSpPr>
          <p:cNvPr id="25" name="Shape 22"/>
          <p:cNvSpPr/>
          <p:nvPr/>
        </p:nvSpPr>
        <p:spPr>
          <a:xfrm>
            <a:off x="457200" y="5440680"/>
            <a:ext cx="11247120" cy="868680"/>
          </a:xfrm>
          <a:prstGeom prst="rect">
            <a:avLst/>
          </a:prstGeom>
          <a:solidFill>
            <a:srgbClr val="0B2545"/>
          </a:solidFill>
          <a:ln w="12700">
            <a:solidFill>
              <a:srgbClr val="0B2545"/>
            </a:solidFill>
            <a:prstDash val="solid"/>
          </a:ln>
        </p:spPr>
        <p:txBody>
          <a:bodyPr/>
          <a:lstStyle/>
          <a:p>
            <a:endParaRPr lang="en-US"/>
          </a:p>
        </p:txBody>
      </p:sp>
      <p:sp>
        <p:nvSpPr>
          <p:cNvPr id="26" name="Shape 23"/>
          <p:cNvSpPr/>
          <p:nvPr/>
        </p:nvSpPr>
        <p:spPr>
          <a:xfrm>
            <a:off x="457200" y="5440680"/>
            <a:ext cx="73152" cy="868680"/>
          </a:xfrm>
          <a:prstGeom prst="rect">
            <a:avLst/>
          </a:prstGeom>
          <a:solidFill>
            <a:srgbClr val="EE964B"/>
          </a:solidFill>
          <a:ln w="12700">
            <a:solidFill>
              <a:srgbClr val="EE964B"/>
            </a:solidFill>
            <a:prstDash val="solid"/>
          </a:ln>
        </p:spPr>
        <p:txBody>
          <a:bodyPr/>
          <a:lstStyle/>
          <a:p>
            <a:endParaRPr lang="en-US"/>
          </a:p>
        </p:txBody>
      </p:sp>
      <p:sp>
        <p:nvSpPr>
          <p:cNvPr id="27" name="Text 24"/>
          <p:cNvSpPr/>
          <p:nvPr/>
        </p:nvSpPr>
        <p:spPr>
          <a:xfrm>
            <a:off x="777240" y="5577840"/>
            <a:ext cx="10972800" cy="640080"/>
          </a:xfrm>
          <a:prstGeom prst="rect">
            <a:avLst/>
          </a:prstGeom>
          <a:noFill/>
          <a:ln/>
        </p:spPr>
        <p:txBody>
          <a:bodyPr wrap="square" rtlCol="0" anchor="ctr"/>
          <a:lstStyle/>
          <a:p>
            <a:pPr marL="0" indent="0">
              <a:buNone/>
            </a:pPr>
            <a:r>
              <a:rPr lang="en-US" sz="1300" b="1" dirty="0">
                <a:solidFill>
                  <a:srgbClr val="EE964B"/>
                </a:solidFill>
                <a:latin typeface="Calibri" pitchFamily="34" charset="0"/>
                <a:ea typeface="Calibri" pitchFamily="34" charset="-122"/>
                <a:cs typeface="Calibri" pitchFamily="34" charset="-120"/>
              </a:rPr>
              <a:t>Answer to Q2: </a:t>
            </a:r>
            <a:r>
              <a:rPr lang="en-US" sz="1200" i="1" dirty="0">
                <a:solidFill>
                  <a:srgbClr val="FFFFFF"/>
                </a:solidFill>
                <a:latin typeface="Calibri" pitchFamily="34" charset="0"/>
                <a:ea typeface="Calibri" pitchFamily="34" charset="-122"/>
                <a:cs typeface="Calibri" pitchFamily="34" charset="-120"/>
              </a:rPr>
              <a:t>On 20K-dim genomic logistic regression, schedule choice causes up to 5 % swings in test accuracy and the magnitude depends strongly on the optimizer — confirming the interaction effect we hypothesized.</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Final Results — Six Optimizers, One Table</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Test accuracy, F1, final loss, training time, convergence epoch — all on the same held-out test set.</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3291840"/>
        </p:xfrm>
        <a:graphic>
          <a:graphicData uri="http://schemas.openxmlformats.org/drawingml/2006/table">
            <a:tbl>
              <a:tblPr/>
              <a:tblGrid>
                <a:gridCol w="2743200">
                  <a:extLst>
                    <a:ext uri="{9D8B030D-6E8A-4147-A177-3AD203B41FA5}">
                      <a16:colId xmlns:a16="http://schemas.microsoft.com/office/drawing/2014/main" val="20000"/>
                    </a:ext>
                  </a:extLst>
                </a:gridCol>
                <a:gridCol w="1700784">
                  <a:extLst>
                    <a:ext uri="{9D8B030D-6E8A-4147-A177-3AD203B41FA5}">
                      <a16:colId xmlns:a16="http://schemas.microsoft.com/office/drawing/2014/main" val="20001"/>
                    </a:ext>
                  </a:extLst>
                </a:gridCol>
                <a:gridCol w="1700784">
                  <a:extLst>
                    <a:ext uri="{9D8B030D-6E8A-4147-A177-3AD203B41FA5}">
                      <a16:colId xmlns:a16="http://schemas.microsoft.com/office/drawing/2014/main" val="20002"/>
                    </a:ext>
                  </a:extLst>
                </a:gridCol>
                <a:gridCol w="1700784">
                  <a:extLst>
                    <a:ext uri="{9D8B030D-6E8A-4147-A177-3AD203B41FA5}">
                      <a16:colId xmlns:a16="http://schemas.microsoft.com/office/drawing/2014/main" val="20003"/>
                    </a:ext>
                  </a:extLst>
                </a:gridCol>
                <a:gridCol w="1700784">
                  <a:extLst>
                    <a:ext uri="{9D8B030D-6E8A-4147-A177-3AD203B41FA5}">
                      <a16:colId xmlns:a16="http://schemas.microsoft.com/office/drawing/2014/main" val="20004"/>
                    </a:ext>
                  </a:extLst>
                </a:gridCol>
                <a:gridCol w="1700784">
                  <a:extLst>
                    <a:ext uri="{9D8B030D-6E8A-4147-A177-3AD203B41FA5}">
                      <a16:colId xmlns:a16="http://schemas.microsoft.com/office/drawing/2014/main" val="20005"/>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Optimizer</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Test Acc</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Macro F1</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Final Loss</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Time (s)</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Conv. Epoch</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11480">
                <a:tc>
                  <a:txBody>
                    <a:bodyPr/>
                    <a:lstStyle/>
                    <a:p>
                      <a:pPr marL="0" indent="0">
                        <a:buNone/>
                      </a:pPr>
                      <a:r>
                        <a:rPr lang="en-US" sz="1200" b="1" dirty="0">
                          <a:solidFill>
                            <a:srgbClr val="1A2238"/>
                          </a:solidFill>
                          <a:latin typeface="Calibri" pitchFamily="34" charset="0"/>
                          <a:ea typeface="Calibri" pitchFamily="34" charset="-122"/>
                          <a:cs typeface="Calibri" pitchFamily="34" charset="-120"/>
                        </a:rPr>
                        <a:t>Full-batch GD</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0.7931</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0.7887</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0.2938</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0.8</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89</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200" b="1" dirty="0">
                          <a:solidFill>
                            <a:srgbClr val="1A2238"/>
                          </a:solidFill>
                          <a:latin typeface="Calibri" pitchFamily="34" charset="0"/>
                          <a:ea typeface="Calibri" pitchFamily="34" charset="-122"/>
                          <a:cs typeface="Calibri" pitchFamily="34" charset="-120"/>
                        </a:rPr>
                        <a:t>SGD (batch=1)</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0.8506</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0.8489</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b="1" dirty="0">
                          <a:solidFill>
                            <a:srgbClr val="1B7F8C"/>
                          </a:solidFill>
                          <a:latin typeface="Calibri" pitchFamily="34" charset="0"/>
                          <a:ea typeface="Calibri" pitchFamily="34" charset="-122"/>
                          <a:cs typeface="Calibri" pitchFamily="34" charset="-120"/>
                        </a:rPr>
                        <a:t>0.0099</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b="1" dirty="0">
                          <a:solidFill>
                            <a:srgbClr val="C03221"/>
                          </a:solidFill>
                          <a:latin typeface="Calibri" pitchFamily="34" charset="0"/>
                          <a:ea typeface="Calibri" pitchFamily="34" charset="-122"/>
                          <a:cs typeface="Calibri" pitchFamily="34" charset="-120"/>
                        </a:rPr>
                        <a:t>16.7</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90</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200" b="1" dirty="0">
                          <a:solidFill>
                            <a:srgbClr val="1A2238"/>
                          </a:solidFill>
                          <a:latin typeface="Calibri" pitchFamily="34" charset="0"/>
                          <a:ea typeface="Calibri" pitchFamily="34" charset="-122"/>
                          <a:cs typeface="Calibri" pitchFamily="34" charset="-120"/>
                        </a:rPr>
                        <a:t>Mini-batch SGD</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0.8046</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0.8011</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0.1719</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90</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200" b="1" dirty="0">
                          <a:solidFill>
                            <a:srgbClr val="1A2238"/>
                          </a:solidFill>
                          <a:latin typeface="Calibri" pitchFamily="34" charset="0"/>
                          <a:ea typeface="Calibri" pitchFamily="34" charset="-122"/>
                          <a:cs typeface="Calibri" pitchFamily="34" charset="-120"/>
                        </a:rPr>
                        <a:t>SGD + Momentum</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200" b="1" dirty="0">
                          <a:solidFill>
                            <a:srgbClr val="EE964B"/>
                          </a:solidFill>
                          <a:latin typeface="Calibri" pitchFamily="34" charset="0"/>
                          <a:ea typeface="Calibri" pitchFamily="34" charset="-122"/>
                          <a:cs typeface="Calibri" pitchFamily="34" charset="-120"/>
                        </a:rPr>
                        <a:t>0.8621</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200" b="1" dirty="0">
                          <a:solidFill>
                            <a:srgbClr val="EE964B"/>
                          </a:solidFill>
                          <a:latin typeface="Calibri" pitchFamily="34" charset="0"/>
                          <a:ea typeface="Calibri" pitchFamily="34" charset="-122"/>
                          <a:cs typeface="Calibri" pitchFamily="34" charset="-120"/>
                        </a:rPr>
                        <a:t>0.8617</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0.0154</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90</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extLst>
                  <a:ext uri="{0D108BD9-81ED-4DB2-BD59-A6C34878D82A}">
                    <a16:rowId xmlns:a16="http://schemas.microsoft.com/office/drawing/2014/main" val="10004"/>
                  </a:ext>
                </a:extLst>
              </a:tr>
              <a:tr h="411480">
                <a:tc>
                  <a:txBody>
                    <a:bodyPr/>
                    <a:lstStyle/>
                    <a:p>
                      <a:pPr marL="0" indent="0">
                        <a:buNone/>
                      </a:pPr>
                      <a:r>
                        <a:rPr lang="en-US" sz="1200" b="1" dirty="0">
                          <a:solidFill>
                            <a:srgbClr val="1A2238"/>
                          </a:solidFill>
                          <a:latin typeface="Calibri" pitchFamily="34" charset="0"/>
                          <a:ea typeface="Calibri" pitchFamily="34" charset="-122"/>
                          <a:cs typeface="Calibri" pitchFamily="34" charset="-120"/>
                        </a:rPr>
                        <a:t>Adam</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200" b="1" dirty="0">
                          <a:solidFill>
                            <a:srgbClr val="EE964B"/>
                          </a:solidFill>
                          <a:latin typeface="Calibri" pitchFamily="34" charset="0"/>
                          <a:ea typeface="Calibri" pitchFamily="34" charset="-122"/>
                          <a:cs typeface="Calibri" pitchFamily="34" charset="-120"/>
                        </a:rPr>
                        <a:t>0.8621</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200" b="1" dirty="0">
                          <a:solidFill>
                            <a:srgbClr val="EE964B"/>
                          </a:solidFill>
                          <a:latin typeface="Calibri" pitchFamily="34" charset="0"/>
                          <a:ea typeface="Calibri" pitchFamily="34" charset="-122"/>
                          <a:cs typeface="Calibri" pitchFamily="34" charset="-120"/>
                        </a:rPr>
                        <a:t>0.8621</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0.0208</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94</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4E6"/>
                    </a:solidFill>
                  </a:tcPr>
                </a:tc>
                <a:extLst>
                  <a:ext uri="{0D108BD9-81ED-4DB2-BD59-A6C34878D82A}">
                    <a16:rowId xmlns:a16="http://schemas.microsoft.com/office/drawing/2014/main" val="10005"/>
                  </a:ext>
                </a:extLst>
              </a:tr>
              <a:tr h="411480">
                <a:tc>
                  <a:txBody>
                    <a:bodyPr/>
                    <a:lstStyle/>
                    <a:p>
                      <a:pPr marL="0" indent="0">
                        <a:buNone/>
                      </a:pPr>
                      <a:r>
                        <a:rPr lang="en-US" sz="1200" b="1" dirty="0">
                          <a:solidFill>
                            <a:srgbClr val="1A2238"/>
                          </a:solidFill>
                          <a:latin typeface="Calibri" pitchFamily="34" charset="0"/>
                          <a:ea typeface="Calibri" pitchFamily="34" charset="-122"/>
                          <a:cs typeface="Calibri" pitchFamily="34" charset="-120"/>
                        </a:rPr>
                        <a:t>L-BFGS</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0.8276</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1A2238"/>
                          </a:solidFill>
                          <a:latin typeface="Calibri" pitchFamily="34" charset="0"/>
                          <a:ea typeface="Calibri" pitchFamily="34" charset="-122"/>
                          <a:cs typeface="Calibri" pitchFamily="34" charset="-120"/>
                        </a:rPr>
                        <a:t>0.8106</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b="1" dirty="0">
                          <a:solidFill>
                            <a:srgbClr val="1B7F8C"/>
                          </a:solidFill>
                          <a:latin typeface="Calibri" pitchFamily="34" charset="0"/>
                          <a:ea typeface="Calibri" pitchFamily="34" charset="-122"/>
                          <a:cs typeface="Calibri" pitchFamily="34" charset="-120"/>
                        </a:rPr>
                        <a:t>0.0000</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b="1" dirty="0">
                          <a:solidFill>
                            <a:srgbClr val="1B7F8C"/>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b="1" dirty="0">
                          <a:solidFill>
                            <a:srgbClr val="1B7F8C"/>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6"/>
                  </a:ext>
                </a:extLst>
              </a:tr>
              <a:tr h="411480">
                <a:tc>
                  <a:txBody>
                    <a:bodyPr/>
                    <a:lstStyle/>
                    <a:p>
                      <a:pPr marL="0" indent="0">
                        <a:buNone/>
                      </a:pPr>
                      <a:r>
                        <a:rPr lang="en-US" sz="1200" i="1" dirty="0">
                          <a:solidFill>
                            <a:srgbClr val="5C6B82"/>
                          </a:solidFill>
                          <a:latin typeface="Calibri" pitchFamily="34" charset="0"/>
                          <a:ea typeface="Calibri" pitchFamily="34" charset="-122"/>
                          <a:cs typeface="Calibri" pitchFamily="34" charset="-120"/>
                        </a:rPr>
                        <a:t>sklearn-LBFGS (baseline)</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i="1" dirty="0">
                          <a:solidFill>
                            <a:srgbClr val="5C6B82"/>
                          </a:solidFill>
                          <a:latin typeface="Calibri" pitchFamily="34" charset="0"/>
                          <a:ea typeface="Calibri" pitchFamily="34" charset="-122"/>
                          <a:cs typeface="Calibri" pitchFamily="34" charset="-120"/>
                        </a:rPr>
                        <a:t>0.8621</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i="1" dirty="0">
                          <a:solidFill>
                            <a:srgbClr val="5C6B82"/>
                          </a:solidFill>
                          <a:latin typeface="Calibri" pitchFamily="34" charset="0"/>
                          <a:ea typeface="Calibri" pitchFamily="34" charset="-122"/>
                          <a:cs typeface="Calibri" pitchFamily="34" charset="-120"/>
                        </a:rPr>
                        <a:t>0.8598</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5C6B8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i="1" dirty="0">
                          <a:solidFill>
                            <a:srgbClr val="5C6B82"/>
                          </a:solidFill>
                          <a:latin typeface="Calibri" pitchFamily="34" charset="0"/>
                          <a:ea typeface="Calibri" pitchFamily="34" charset="-122"/>
                          <a:cs typeface="Calibri" pitchFamily="34" charset="-120"/>
                        </a:rPr>
                        <a:t>9.03</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marL="0" indent="0" algn="ctr">
                        <a:buNone/>
                      </a:pPr>
                      <a:r>
                        <a:rPr lang="en-US" sz="1200" dirty="0">
                          <a:solidFill>
                            <a:srgbClr val="5C6B8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 name="Shape 6"/>
          <p:cNvSpPr/>
          <p:nvPr/>
        </p:nvSpPr>
        <p:spPr>
          <a:xfrm>
            <a:off x="457200" y="5074920"/>
            <a:ext cx="11247120" cy="1234440"/>
          </a:xfrm>
          <a:prstGeom prst="rect">
            <a:avLst/>
          </a:prstGeom>
          <a:solidFill>
            <a:srgbClr val="0B2545"/>
          </a:solidFill>
          <a:ln w="12700">
            <a:solidFill>
              <a:srgbClr val="0B2545"/>
            </a:solidFill>
            <a:prstDash val="solid"/>
          </a:ln>
        </p:spPr>
        <p:txBody>
          <a:bodyPr/>
          <a:lstStyle/>
          <a:p>
            <a:endParaRPr lang="en-US"/>
          </a:p>
        </p:txBody>
      </p:sp>
      <p:sp>
        <p:nvSpPr>
          <p:cNvPr id="10" name="Shape 7"/>
          <p:cNvSpPr/>
          <p:nvPr/>
        </p:nvSpPr>
        <p:spPr>
          <a:xfrm>
            <a:off x="457200" y="5074920"/>
            <a:ext cx="73152" cy="1234440"/>
          </a:xfrm>
          <a:prstGeom prst="rect">
            <a:avLst/>
          </a:prstGeom>
          <a:solidFill>
            <a:srgbClr val="EE964B"/>
          </a:solidFill>
          <a:ln w="12700">
            <a:solidFill>
              <a:srgbClr val="EE964B"/>
            </a:solidFill>
            <a:prstDash val="solid"/>
          </a:ln>
        </p:spPr>
        <p:txBody>
          <a:bodyPr/>
          <a:lstStyle/>
          <a:p>
            <a:endParaRPr lang="en-US"/>
          </a:p>
        </p:txBody>
      </p:sp>
      <p:sp>
        <p:nvSpPr>
          <p:cNvPr id="11" name="Text 8"/>
          <p:cNvSpPr/>
          <p:nvPr/>
        </p:nvSpPr>
        <p:spPr>
          <a:xfrm>
            <a:off x="777240" y="5166360"/>
            <a:ext cx="10972800" cy="1097280"/>
          </a:xfrm>
          <a:prstGeom prst="rect">
            <a:avLst/>
          </a:prstGeom>
          <a:noFill/>
          <a:ln/>
        </p:spPr>
        <p:txBody>
          <a:bodyPr wrap="square" rtlCol="0" anchor="ctr"/>
          <a:lstStyle/>
          <a:p>
            <a:pPr marL="0" indent="0">
              <a:spcAft>
                <a:spcPts val="100"/>
              </a:spcAft>
              <a:buNone/>
            </a:pPr>
            <a:r>
              <a:rPr lang="en-US" sz="1200" b="1" dirty="0">
                <a:solidFill>
                  <a:srgbClr val="EE964B"/>
                </a:solidFill>
                <a:latin typeface="Calibri" pitchFamily="34" charset="0"/>
                <a:ea typeface="Calibri" pitchFamily="34" charset="-122"/>
                <a:cs typeface="Calibri" pitchFamily="34" charset="-120"/>
              </a:rPr>
              <a:t>Highlighted in amber: </a:t>
            </a:r>
            <a:r>
              <a:rPr lang="en-US" sz="1200" dirty="0">
                <a:solidFill>
                  <a:srgbClr val="FFFFFF"/>
                </a:solidFill>
                <a:latin typeface="Calibri" pitchFamily="34" charset="0"/>
                <a:ea typeface="Calibri" pitchFamily="34" charset="-122"/>
                <a:cs typeface="Calibri" pitchFamily="34" charset="-120"/>
              </a:rPr>
              <a:t>tied winners on test accuracy (Adam · SGD+Momentum at 0.862).</a:t>
            </a:r>
            <a:endParaRPr lang="en-US" sz="1200" dirty="0"/>
          </a:p>
          <a:p>
            <a:pPr marL="0" indent="0">
              <a:spcAft>
                <a:spcPts val="100"/>
              </a:spcAft>
              <a:buNone/>
            </a:pPr>
            <a:r>
              <a:rPr lang="en-US" sz="1200" b="1" dirty="0">
                <a:solidFill>
                  <a:srgbClr val="1B7F8C"/>
                </a:solidFill>
                <a:latin typeface="Calibri" pitchFamily="34" charset="0"/>
                <a:ea typeface="Calibri" pitchFamily="34" charset="-122"/>
                <a:cs typeface="Calibri" pitchFamily="34" charset="-120"/>
              </a:rPr>
              <a:t>Highlighted in teal: </a:t>
            </a:r>
            <a:r>
              <a:rPr lang="en-US" sz="1200" dirty="0">
                <a:solidFill>
                  <a:srgbClr val="FFFFFF"/>
                </a:solidFill>
                <a:latin typeface="Calibri" pitchFamily="34" charset="0"/>
                <a:ea typeface="Calibri" pitchFamily="34" charset="-122"/>
                <a:cs typeface="Calibri" pitchFamily="34" charset="-120"/>
              </a:rPr>
              <a:t>individual best on final loss (L-BFGS) and best wall-clock time (L-BFGS at 0.6 s — converges in 2 epochs).</a:t>
            </a:r>
            <a:endParaRPr lang="en-US" sz="1200" dirty="0"/>
          </a:p>
          <a:p>
            <a:pPr marL="0" indent="0">
              <a:spcAft>
                <a:spcPts val="100"/>
              </a:spcAft>
              <a:buNone/>
            </a:pPr>
            <a:r>
              <a:rPr lang="en-US" sz="1200" b="1" dirty="0">
                <a:solidFill>
                  <a:srgbClr val="C03221"/>
                </a:solidFill>
                <a:latin typeface="Calibri" pitchFamily="34" charset="0"/>
                <a:ea typeface="Calibri" pitchFamily="34" charset="-122"/>
                <a:cs typeface="Calibri" pitchFamily="34" charset="-120"/>
              </a:rPr>
              <a:t>Highlighted in red: </a:t>
            </a:r>
            <a:r>
              <a:rPr lang="en-US" sz="1200" dirty="0">
                <a:solidFill>
                  <a:srgbClr val="FFFFFF"/>
                </a:solidFill>
                <a:latin typeface="Calibri" pitchFamily="34" charset="0"/>
                <a:ea typeface="Calibri" pitchFamily="34" charset="-122"/>
                <a:cs typeface="Calibri" pitchFamily="34" charset="-120"/>
              </a:rPr>
              <a:t>SGD (batch=1) strong accuracy but 28× slower than L-BFGS due to one update per sample.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LP Extension Gene-Budget Selection</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Clinical panels measure tens of genes — we formulate the choice as a linear program.</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sp>
        <p:nvSpPr>
          <p:cNvPr id="8" name="Shape 6"/>
          <p:cNvSpPr/>
          <p:nvPr/>
        </p:nvSpPr>
        <p:spPr>
          <a:xfrm>
            <a:off x="457200" y="1143000"/>
            <a:ext cx="5669280" cy="2743200"/>
          </a:xfrm>
          <a:prstGeom prst="rect">
            <a:avLst/>
          </a:prstGeom>
          <a:solidFill>
            <a:srgbClr val="0B2545"/>
          </a:solidFill>
          <a:ln w="12700">
            <a:solidFill>
              <a:srgbClr val="0B2545"/>
            </a:solidFill>
            <a:prstDash val="solid"/>
          </a:ln>
        </p:spPr>
        <p:txBody>
          <a:bodyPr/>
          <a:lstStyle/>
          <a:p>
            <a:endParaRPr lang="en-US"/>
          </a:p>
        </p:txBody>
      </p:sp>
      <p:sp>
        <p:nvSpPr>
          <p:cNvPr id="9" name="Shape 7"/>
          <p:cNvSpPr/>
          <p:nvPr/>
        </p:nvSpPr>
        <p:spPr>
          <a:xfrm>
            <a:off x="457200" y="1143000"/>
            <a:ext cx="73152" cy="2743200"/>
          </a:xfrm>
          <a:prstGeom prst="rect">
            <a:avLst/>
          </a:prstGeom>
          <a:solidFill>
            <a:srgbClr val="EE964B"/>
          </a:solidFill>
          <a:ln w="12700">
            <a:solidFill>
              <a:srgbClr val="EE964B"/>
            </a:solidFill>
            <a:prstDash val="solid"/>
          </a:ln>
        </p:spPr>
        <p:txBody>
          <a:bodyPr/>
          <a:lstStyle/>
          <a:p>
            <a:endParaRPr lang="en-US"/>
          </a:p>
        </p:txBody>
      </p:sp>
      <p:sp>
        <p:nvSpPr>
          <p:cNvPr id="10" name="Text 8"/>
          <p:cNvSpPr/>
          <p:nvPr/>
        </p:nvSpPr>
        <p:spPr>
          <a:xfrm>
            <a:off x="777240" y="1234440"/>
            <a:ext cx="5303520" cy="365760"/>
          </a:xfrm>
          <a:prstGeom prst="rect">
            <a:avLst/>
          </a:prstGeom>
          <a:noFill/>
          <a:ln/>
        </p:spPr>
        <p:txBody>
          <a:bodyPr wrap="square" rtlCol="0" anchor="ctr"/>
          <a:lstStyle/>
          <a:p>
            <a:pPr marL="0" indent="0">
              <a:buNone/>
            </a:pPr>
            <a:r>
              <a:rPr lang="en-US" sz="1400" b="1" dirty="0">
                <a:solidFill>
                  <a:srgbClr val="EE964B"/>
                </a:solidFill>
                <a:latin typeface="Calibri" pitchFamily="34" charset="0"/>
                <a:ea typeface="Calibri" pitchFamily="34" charset="-122"/>
                <a:cs typeface="Calibri" pitchFamily="34" charset="-120"/>
              </a:rPr>
              <a:t>Linear-program formulation</a:t>
            </a:r>
            <a:endParaRPr lang="en-US" sz="1400" dirty="0"/>
          </a:p>
        </p:txBody>
      </p:sp>
      <p:sp>
        <p:nvSpPr>
          <p:cNvPr id="11" name="Text 9"/>
          <p:cNvSpPr/>
          <p:nvPr/>
        </p:nvSpPr>
        <p:spPr>
          <a:xfrm>
            <a:off x="777240" y="1645920"/>
            <a:ext cx="5303520" cy="2194560"/>
          </a:xfrm>
          <a:prstGeom prst="rect">
            <a:avLst/>
          </a:prstGeom>
          <a:noFill/>
          <a:ln/>
        </p:spPr>
        <p:txBody>
          <a:bodyPr wrap="square"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maximize    Σⱼ  Fⱼ · xⱼ</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subject to    Σⱼ  xⱼ  ≤  k</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                       0 ≤ xⱼ ≤ 1</a:t>
            </a:r>
            <a:endParaRPr lang="en-US" sz="1400" dirty="0"/>
          </a:p>
          <a:p>
            <a:pPr marL="0" indent="0">
              <a:buNone/>
            </a:pPr>
            <a:endParaRPr lang="en-US" sz="1400" dirty="0"/>
          </a:p>
          <a:p>
            <a:pPr marL="0" indent="0">
              <a:buNone/>
            </a:pPr>
            <a:r>
              <a:rPr lang="en-US" sz="1100" i="1" dirty="0">
                <a:solidFill>
                  <a:srgbClr val="B8C5D9"/>
                </a:solidFill>
                <a:latin typeface="Consolas" pitchFamily="34" charset="0"/>
                <a:ea typeface="Consolas" pitchFamily="34" charset="-122"/>
                <a:cs typeface="Consolas" pitchFamily="34" charset="-120"/>
              </a:rPr>
              <a:t>Fⱼ  = Fisher discriminability of gene j</a:t>
            </a:r>
            <a:endParaRPr lang="en-US" sz="1400" dirty="0"/>
          </a:p>
          <a:p>
            <a:pPr marL="0" indent="0">
              <a:buNone/>
            </a:pPr>
            <a:r>
              <a:rPr lang="en-US" sz="1100" i="1" dirty="0">
                <a:solidFill>
                  <a:srgbClr val="B8C5D9"/>
                </a:solidFill>
                <a:latin typeface="Consolas" pitchFamily="34" charset="0"/>
                <a:ea typeface="Consolas" pitchFamily="34" charset="-122"/>
                <a:cs typeface="Consolas" pitchFamily="34" charset="-120"/>
              </a:rPr>
              <a:t>k   = clinical budget (10, 25, 50, 100, 200)</a:t>
            </a:r>
            <a:endParaRPr lang="en-US" sz="1400" dirty="0"/>
          </a:p>
          <a:p>
            <a:pPr marL="0" indent="0">
              <a:buNone/>
            </a:pPr>
            <a:r>
              <a:rPr lang="en-US" sz="1100" i="1" dirty="0">
                <a:solidFill>
                  <a:srgbClr val="EE964B"/>
                </a:solidFill>
                <a:latin typeface="Consolas" pitchFamily="34" charset="0"/>
                <a:ea typeface="Consolas" pitchFamily="34" charset="-122"/>
                <a:cs typeface="Consolas" pitchFamily="34" charset="-120"/>
              </a:rPr>
              <a:t>Solver: scipy.optimize.linprog (HiGHS)</a:t>
            </a:r>
            <a:endParaRPr lang="en-US" sz="1400" dirty="0"/>
          </a:p>
        </p:txBody>
      </p:sp>
      <p:pic>
        <p:nvPicPr>
          <p:cNvPr id="12" name="Image 0" descr="/home/claude/images/12_lp_comparison.png"/>
          <p:cNvPicPr>
            <a:picLocks noChangeAspect="1"/>
          </p:cNvPicPr>
          <p:nvPr/>
        </p:nvPicPr>
        <p:blipFill>
          <a:blip r:embed="rId3"/>
          <a:srcRect/>
          <a:stretch/>
        </p:blipFill>
        <p:spPr>
          <a:xfrm>
            <a:off x="6400800" y="1143000"/>
            <a:ext cx="5303520" cy="3200400"/>
          </a:xfrm>
          <a:prstGeom prst="rect">
            <a:avLst/>
          </a:prstGeom>
        </p:spPr>
      </p:pic>
      <p:sp>
        <p:nvSpPr>
          <p:cNvPr id="13" name="Shape 10"/>
          <p:cNvSpPr/>
          <p:nvPr/>
        </p:nvSpPr>
        <p:spPr>
          <a:xfrm>
            <a:off x="457200" y="4526280"/>
            <a:ext cx="5669280" cy="1783080"/>
          </a:xfrm>
          <a:prstGeom prst="rect">
            <a:avLst/>
          </a:prstGeom>
          <a:solidFill>
            <a:srgbClr val="FFFFFF"/>
          </a:solidFill>
          <a:ln w="9525">
            <a:solidFill>
              <a:srgbClr val="DDE3EC"/>
            </a:solidFill>
            <a:prstDash val="solid"/>
          </a:ln>
        </p:spPr>
        <p:txBody>
          <a:bodyPr/>
          <a:lstStyle/>
          <a:p>
            <a:endParaRPr lang="en-US"/>
          </a:p>
        </p:txBody>
      </p:sp>
      <p:sp>
        <p:nvSpPr>
          <p:cNvPr id="14" name="Shape 11"/>
          <p:cNvSpPr/>
          <p:nvPr/>
        </p:nvSpPr>
        <p:spPr>
          <a:xfrm>
            <a:off x="457200" y="4526280"/>
            <a:ext cx="73152" cy="1783080"/>
          </a:xfrm>
          <a:prstGeom prst="rect">
            <a:avLst/>
          </a:prstGeom>
          <a:solidFill>
            <a:srgbClr val="1B7F8C"/>
          </a:solidFill>
          <a:ln w="12700">
            <a:solidFill>
              <a:srgbClr val="1B7F8C"/>
            </a:solidFill>
            <a:prstDash val="solid"/>
          </a:ln>
        </p:spPr>
        <p:txBody>
          <a:bodyPr/>
          <a:lstStyle/>
          <a:p>
            <a:endParaRPr lang="en-US"/>
          </a:p>
        </p:txBody>
      </p:sp>
      <p:sp>
        <p:nvSpPr>
          <p:cNvPr id="15" name="Text 12"/>
          <p:cNvSpPr/>
          <p:nvPr/>
        </p:nvSpPr>
        <p:spPr>
          <a:xfrm>
            <a:off x="777240" y="4617720"/>
            <a:ext cx="5486400" cy="36576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How LP differs from Lasso</a:t>
            </a:r>
            <a:endParaRPr lang="en-US" sz="1300" dirty="0"/>
          </a:p>
        </p:txBody>
      </p:sp>
      <p:sp>
        <p:nvSpPr>
          <p:cNvPr id="16" name="Text 13"/>
          <p:cNvSpPr/>
          <p:nvPr/>
        </p:nvSpPr>
        <p:spPr>
          <a:xfrm>
            <a:off x="777240" y="4983480"/>
            <a:ext cx="5486400" cy="1280160"/>
          </a:xfrm>
          <a:prstGeom prst="rect">
            <a:avLst/>
          </a:prstGeom>
          <a:noFill/>
          <a:ln/>
        </p:spPr>
        <p:txBody>
          <a:bodyPr wrap="square" rtlCol="0" anchor="ctr"/>
          <a:lstStyle/>
          <a:p>
            <a:pPr marL="0" indent="0">
              <a:spcAft>
                <a:spcPts val="200"/>
              </a:spcAft>
              <a:buNone/>
            </a:pPr>
            <a:r>
              <a:rPr lang="en-US" sz="1100" b="1" dirty="0">
                <a:solidFill>
                  <a:srgbClr val="0B2545"/>
                </a:solidFill>
                <a:latin typeface="Calibri" pitchFamily="34" charset="0"/>
                <a:ea typeface="Calibri" pitchFamily="34" charset="-122"/>
                <a:cs typeface="Calibri" pitchFamily="34" charset="-120"/>
              </a:rPr>
              <a:t>Lasso </a:t>
            </a:r>
            <a:r>
              <a:rPr lang="en-US" sz="1100" dirty="0">
                <a:solidFill>
                  <a:srgbClr val="1A2238"/>
                </a:solidFill>
                <a:latin typeface="Calibri" pitchFamily="34" charset="0"/>
                <a:ea typeface="Calibri" pitchFamily="34" charset="-122"/>
                <a:cs typeface="Calibri" pitchFamily="34" charset="-120"/>
              </a:rPr>
              <a:t>selects one representative per correlated gene block.</a:t>
            </a:r>
            <a:endParaRPr lang="en-US" sz="1100" dirty="0"/>
          </a:p>
          <a:p>
            <a:pPr marL="0" indent="0">
              <a:spcAft>
                <a:spcPts val="200"/>
              </a:spcAft>
              <a:buNone/>
            </a:pPr>
            <a:r>
              <a:rPr lang="en-US" sz="1100" b="1" dirty="0">
                <a:solidFill>
                  <a:srgbClr val="0B2545"/>
                </a:solidFill>
                <a:latin typeface="Calibri" pitchFamily="34" charset="0"/>
                <a:ea typeface="Calibri" pitchFamily="34" charset="-122"/>
                <a:cs typeface="Calibri" pitchFamily="34" charset="-120"/>
              </a:rPr>
              <a:t>LP </a:t>
            </a:r>
            <a:r>
              <a:rPr lang="en-US" sz="1100" dirty="0">
                <a:solidFill>
                  <a:srgbClr val="1A2238"/>
                </a:solidFill>
                <a:latin typeface="Calibri" pitchFamily="34" charset="0"/>
                <a:ea typeface="Calibri" pitchFamily="34" charset="-122"/>
                <a:cs typeface="Calibri" pitchFamily="34" charset="-120"/>
              </a:rPr>
              <a:t>ignores correlations and picks all top-F genes including redundant ones.</a:t>
            </a:r>
            <a:endParaRPr lang="en-US" sz="1100" dirty="0"/>
          </a:p>
          <a:p>
            <a:pPr marL="0" indent="0">
              <a:spcAft>
                <a:spcPts val="200"/>
              </a:spcAft>
              <a:buNone/>
            </a:pPr>
            <a:r>
              <a:rPr lang="en-US" sz="1100" b="1" dirty="0">
                <a:solidFill>
                  <a:srgbClr val="EE964B"/>
                </a:solidFill>
                <a:latin typeface="Calibri" pitchFamily="34" charset="0"/>
                <a:ea typeface="Calibri" pitchFamily="34" charset="-122"/>
                <a:cs typeface="Calibri" pitchFamily="34" charset="-120"/>
              </a:rPr>
              <a:t>Result: </a:t>
            </a:r>
            <a:r>
              <a:rPr lang="en-US" sz="1100" dirty="0">
                <a:solidFill>
                  <a:srgbClr val="1A2238"/>
                </a:solidFill>
                <a:latin typeface="Calibri" pitchFamily="34" charset="0"/>
                <a:ea typeface="Calibri" pitchFamily="34" charset="-122"/>
                <a:cs typeface="Calibri" pitchFamily="34" charset="-120"/>
              </a:rPr>
              <a:t>the LP panel can be smaller, but Lasso's panel generalizes better at low k.</a:t>
            </a:r>
            <a:endParaRPr lang="en-US" sz="1100" dirty="0"/>
          </a:p>
        </p:txBody>
      </p:sp>
      <p:sp>
        <p:nvSpPr>
          <p:cNvPr id="17" name="Shape 14"/>
          <p:cNvSpPr/>
          <p:nvPr/>
        </p:nvSpPr>
        <p:spPr>
          <a:xfrm>
            <a:off x="6400800" y="4526280"/>
            <a:ext cx="5303520" cy="1783080"/>
          </a:xfrm>
          <a:prstGeom prst="rect">
            <a:avLst/>
          </a:prstGeom>
          <a:solidFill>
            <a:srgbClr val="FFFFFF"/>
          </a:solidFill>
          <a:ln w="9525">
            <a:solidFill>
              <a:srgbClr val="DDE3EC"/>
            </a:solidFill>
            <a:prstDash val="solid"/>
          </a:ln>
        </p:spPr>
        <p:txBody>
          <a:bodyPr/>
          <a:lstStyle/>
          <a:p>
            <a:endParaRPr lang="en-US"/>
          </a:p>
        </p:txBody>
      </p:sp>
      <p:sp>
        <p:nvSpPr>
          <p:cNvPr id="18" name="Shape 15"/>
          <p:cNvSpPr/>
          <p:nvPr/>
        </p:nvSpPr>
        <p:spPr>
          <a:xfrm>
            <a:off x="6400800" y="4526280"/>
            <a:ext cx="73152" cy="1783080"/>
          </a:xfrm>
          <a:prstGeom prst="rect">
            <a:avLst/>
          </a:prstGeom>
          <a:solidFill>
            <a:srgbClr val="EE964B"/>
          </a:solidFill>
          <a:ln w="12700">
            <a:solidFill>
              <a:srgbClr val="EE964B"/>
            </a:solidFill>
            <a:prstDash val="solid"/>
          </a:ln>
        </p:spPr>
        <p:txBody>
          <a:bodyPr/>
          <a:lstStyle/>
          <a:p>
            <a:endParaRPr lang="en-US"/>
          </a:p>
        </p:txBody>
      </p:sp>
      <p:sp>
        <p:nvSpPr>
          <p:cNvPr id="19" name="Text 16"/>
          <p:cNvSpPr/>
          <p:nvPr/>
        </p:nvSpPr>
        <p:spPr>
          <a:xfrm>
            <a:off x="6675120" y="4617720"/>
            <a:ext cx="5029200" cy="36576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Test accuracy at k = 50</a:t>
            </a:r>
            <a:endParaRPr lang="en-US" sz="1300" dirty="0"/>
          </a:p>
        </p:txBody>
      </p:sp>
      <p:sp>
        <p:nvSpPr>
          <p:cNvPr id="20" name="Text 17"/>
          <p:cNvSpPr/>
          <p:nvPr/>
        </p:nvSpPr>
        <p:spPr>
          <a:xfrm>
            <a:off x="6675120" y="5029200"/>
            <a:ext cx="1371600" cy="274320"/>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All 300</a:t>
            </a:r>
            <a:endParaRPr lang="en-US" sz="1100" dirty="0"/>
          </a:p>
        </p:txBody>
      </p:sp>
      <p:sp>
        <p:nvSpPr>
          <p:cNvPr id="21" name="Shape 18"/>
          <p:cNvSpPr/>
          <p:nvPr/>
        </p:nvSpPr>
        <p:spPr>
          <a:xfrm>
            <a:off x="8092440" y="5074920"/>
            <a:ext cx="2206996" cy="182880"/>
          </a:xfrm>
          <a:prstGeom prst="rect">
            <a:avLst/>
          </a:prstGeom>
          <a:solidFill>
            <a:srgbClr val="EE964B"/>
          </a:solidFill>
          <a:ln w="12700">
            <a:solidFill>
              <a:srgbClr val="EE964B"/>
            </a:solidFill>
            <a:prstDash val="solid"/>
          </a:ln>
        </p:spPr>
        <p:txBody>
          <a:bodyPr/>
          <a:lstStyle/>
          <a:p>
            <a:endParaRPr lang="en-US"/>
          </a:p>
        </p:txBody>
      </p:sp>
      <p:sp>
        <p:nvSpPr>
          <p:cNvPr id="22" name="Text 19"/>
          <p:cNvSpPr/>
          <p:nvPr/>
        </p:nvSpPr>
        <p:spPr>
          <a:xfrm>
            <a:off x="10698480" y="5029200"/>
            <a:ext cx="914400" cy="274320"/>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0.862</a:t>
            </a:r>
            <a:endParaRPr lang="en-US" sz="1100" dirty="0"/>
          </a:p>
        </p:txBody>
      </p:sp>
      <p:sp>
        <p:nvSpPr>
          <p:cNvPr id="23" name="Text 20"/>
          <p:cNvSpPr/>
          <p:nvPr/>
        </p:nvSpPr>
        <p:spPr>
          <a:xfrm>
            <a:off x="6675120" y="5340096"/>
            <a:ext cx="1371600" cy="274320"/>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LP (50)</a:t>
            </a:r>
            <a:endParaRPr lang="en-US" sz="1100" dirty="0"/>
          </a:p>
        </p:txBody>
      </p:sp>
      <p:sp>
        <p:nvSpPr>
          <p:cNvPr id="24" name="Shape 21"/>
          <p:cNvSpPr/>
          <p:nvPr/>
        </p:nvSpPr>
        <p:spPr>
          <a:xfrm>
            <a:off x="8092440" y="5385816"/>
            <a:ext cx="2030334" cy="182880"/>
          </a:xfrm>
          <a:prstGeom prst="rect">
            <a:avLst/>
          </a:prstGeom>
          <a:solidFill>
            <a:srgbClr val="1B7F8C"/>
          </a:solidFill>
          <a:ln w="12700">
            <a:solidFill>
              <a:srgbClr val="1B7F8C"/>
            </a:solidFill>
            <a:prstDash val="solid"/>
          </a:ln>
        </p:spPr>
        <p:txBody>
          <a:bodyPr/>
          <a:lstStyle/>
          <a:p>
            <a:endParaRPr lang="en-US"/>
          </a:p>
        </p:txBody>
      </p:sp>
      <p:sp>
        <p:nvSpPr>
          <p:cNvPr id="25" name="Text 22"/>
          <p:cNvSpPr/>
          <p:nvPr/>
        </p:nvSpPr>
        <p:spPr>
          <a:xfrm>
            <a:off x="10698480" y="5340096"/>
            <a:ext cx="914400" cy="274320"/>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0.793</a:t>
            </a:r>
            <a:endParaRPr lang="en-US" sz="1100" dirty="0"/>
          </a:p>
        </p:txBody>
      </p:sp>
      <p:sp>
        <p:nvSpPr>
          <p:cNvPr id="26" name="Text 23"/>
          <p:cNvSpPr/>
          <p:nvPr/>
        </p:nvSpPr>
        <p:spPr>
          <a:xfrm>
            <a:off x="6675120" y="5650992"/>
            <a:ext cx="1371600" cy="274320"/>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Lasso top-50</a:t>
            </a:r>
            <a:endParaRPr lang="en-US" sz="1100" dirty="0"/>
          </a:p>
        </p:txBody>
      </p:sp>
      <p:sp>
        <p:nvSpPr>
          <p:cNvPr id="27" name="Shape 24"/>
          <p:cNvSpPr/>
          <p:nvPr/>
        </p:nvSpPr>
        <p:spPr>
          <a:xfrm>
            <a:off x="8092440" y="5696712"/>
            <a:ext cx="1589959" cy="182880"/>
          </a:xfrm>
          <a:prstGeom prst="rect">
            <a:avLst/>
          </a:prstGeom>
          <a:solidFill>
            <a:srgbClr val="C03221"/>
          </a:solidFill>
          <a:ln w="12700">
            <a:solidFill>
              <a:srgbClr val="C03221"/>
            </a:solidFill>
            <a:prstDash val="solid"/>
          </a:ln>
        </p:spPr>
        <p:txBody>
          <a:bodyPr/>
          <a:lstStyle/>
          <a:p>
            <a:endParaRPr lang="en-US"/>
          </a:p>
        </p:txBody>
      </p:sp>
      <p:sp>
        <p:nvSpPr>
          <p:cNvPr id="28" name="Text 25"/>
          <p:cNvSpPr/>
          <p:nvPr/>
        </p:nvSpPr>
        <p:spPr>
          <a:xfrm>
            <a:off x="10698480" y="5650992"/>
            <a:ext cx="914400" cy="274320"/>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0.621</a:t>
            </a:r>
            <a:endParaRPr lang="en-US" sz="1100" dirty="0"/>
          </a:p>
        </p:txBody>
      </p:sp>
      <p:sp>
        <p:nvSpPr>
          <p:cNvPr id="29" name="Text 26"/>
          <p:cNvSpPr/>
          <p:nvPr/>
        </p:nvSpPr>
        <p:spPr>
          <a:xfrm>
            <a:off x="6675120" y="5961888"/>
            <a:ext cx="1371600" cy="274320"/>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Variance (50)</a:t>
            </a:r>
            <a:endParaRPr lang="en-US" sz="1100" dirty="0"/>
          </a:p>
        </p:txBody>
      </p:sp>
      <p:sp>
        <p:nvSpPr>
          <p:cNvPr id="30" name="Shape 27"/>
          <p:cNvSpPr/>
          <p:nvPr/>
        </p:nvSpPr>
        <p:spPr>
          <a:xfrm>
            <a:off x="8092440" y="6007608"/>
            <a:ext cx="2002170" cy="182880"/>
          </a:xfrm>
          <a:prstGeom prst="rect">
            <a:avLst/>
          </a:prstGeom>
          <a:solidFill>
            <a:srgbClr val="0B2545"/>
          </a:solidFill>
          <a:ln w="12700">
            <a:solidFill>
              <a:srgbClr val="0B2545"/>
            </a:solidFill>
            <a:prstDash val="solid"/>
          </a:ln>
        </p:spPr>
        <p:txBody>
          <a:bodyPr/>
          <a:lstStyle/>
          <a:p>
            <a:endParaRPr lang="en-US"/>
          </a:p>
        </p:txBody>
      </p:sp>
      <p:sp>
        <p:nvSpPr>
          <p:cNvPr id="31" name="Text 28"/>
          <p:cNvSpPr/>
          <p:nvPr/>
        </p:nvSpPr>
        <p:spPr>
          <a:xfrm>
            <a:off x="10698480" y="5961888"/>
            <a:ext cx="914400" cy="274320"/>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0.782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4F1E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B2545"/>
          </a:solidFill>
          <a:ln w="12700">
            <a:solidFill>
              <a:srgbClr val="0B2545"/>
            </a:solidFill>
            <a:prstDash val="solid"/>
          </a:ln>
        </p:spPr>
        <p:txBody>
          <a:bodyPr/>
          <a:lstStyle/>
          <a:p>
            <a:endParaRPr lang="en-US"/>
          </a:p>
        </p:txBody>
      </p:sp>
      <p:sp>
        <p:nvSpPr>
          <p:cNvPr id="3" name="Shape 1"/>
          <p:cNvSpPr/>
          <p:nvPr/>
        </p:nvSpPr>
        <p:spPr>
          <a:xfrm>
            <a:off x="457200" y="292608"/>
            <a:ext cx="164592" cy="292608"/>
          </a:xfrm>
          <a:prstGeom prst="rect">
            <a:avLst/>
          </a:prstGeom>
          <a:solidFill>
            <a:srgbClr val="EE964B"/>
          </a:solidFill>
          <a:ln w="12700">
            <a:solidFill>
              <a:srgbClr val="EE964B"/>
            </a:solidFill>
            <a:prstDash val="solid"/>
          </a:ln>
        </p:spPr>
        <p:txBody>
          <a:bodyPr/>
          <a:lstStyle/>
          <a:p>
            <a:endParaRPr lang="en-US"/>
          </a:p>
        </p:txBody>
      </p:sp>
      <p:sp>
        <p:nvSpPr>
          <p:cNvPr id="4" name="Text 2"/>
          <p:cNvSpPr/>
          <p:nvPr/>
        </p:nvSpPr>
        <p:spPr>
          <a:xfrm>
            <a:off x="777240" y="164592"/>
            <a:ext cx="1005840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Conclusions</a:t>
            </a:r>
            <a:endParaRPr lang="en-US" sz="2600" dirty="0"/>
          </a:p>
        </p:txBody>
      </p:sp>
      <p:sp>
        <p:nvSpPr>
          <p:cNvPr id="5" name="Text 3"/>
          <p:cNvSpPr/>
          <p:nvPr/>
        </p:nvSpPr>
        <p:spPr>
          <a:xfrm>
            <a:off x="777240" y="594360"/>
            <a:ext cx="10058400" cy="274320"/>
          </a:xfrm>
          <a:prstGeom prst="rect">
            <a:avLst/>
          </a:prstGeom>
          <a:noFill/>
          <a:ln/>
        </p:spPr>
        <p:txBody>
          <a:bodyPr wrap="square" lIns="0" tIns="0" rIns="0" bIns="0" rtlCol="0" anchor="ctr"/>
          <a:lstStyle/>
          <a:p>
            <a:pPr marL="0" indent="0">
              <a:buNone/>
            </a:pPr>
            <a:r>
              <a:rPr lang="en-US" sz="1200" i="1" dirty="0">
                <a:solidFill>
                  <a:srgbClr val="B8C5D9"/>
                </a:solidFill>
                <a:latin typeface="Calibri" pitchFamily="34" charset="0"/>
                <a:ea typeface="Calibri" pitchFamily="34" charset="-122"/>
                <a:cs typeface="Calibri" pitchFamily="34" charset="-120"/>
              </a:rPr>
              <a:t>What 144 model fits actually told us.</a:t>
            </a:r>
            <a:endParaRPr lang="en-US" sz="1200" dirty="0"/>
          </a:p>
        </p:txBody>
      </p:sp>
      <p:sp>
        <p:nvSpPr>
          <p:cNvPr id="6" name="Text 4"/>
          <p:cNvSpPr/>
          <p:nvPr/>
        </p:nvSpPr>
        <p:spPr>
          <a:xfrm>
            <a:off x="457200" y="6565392"/>
            <a:ext cx="8229600" cy="228600"/>
          </a:xfrm>
          <a:prstGeom prst="rect">
            <a:avLst/>
          </a:prstGeom>
          <a:noFill/>
          <a:ln/>
        </p:spPr>
        <p:txBody>
          <a:bodyPr wrap="square" rtlCol="0" anchor="ctr"/>
          <a:lstStyle/>
          <a:p>
            <a:pPr marL="0" indent="0">
              <a:buNone/>
            </a:pPr>
            <a:r>
              <a:rPr lang="en-US" sz="900" dirty="0">
                <a:solidFill>
                  <a:srgbClr val="5C6B82"/>
                </a:solidFill>
                <a:latin typeface="Calibri" pitchFamily="34" charset="0"/>
                <a:ea typeface="Calibri" pitchFamily="34" charset="-122"/>
                <a:cs typeface="Calibri" pitchFamily="34" charset="-120"/>
              </a:rPr>
              <a:t>ASDS 6304 — Group 5 — TCGA Pan-Cancer Optimizer Benchmark</a:t>
            </a:r>
            <a:endParaRPr lang="en-US" sz="900" dirty="0"/>
          </a:p>
        </p:txBody>
      </p:sp>
      <p:sp>
        <p:nvSpPr>
          <p:cNvPr id="7" name="Shape 5"/>
          <p:cNvSpPr/>
          <p:nvPr/>
        </p:nvSpPr>
        <p:spPr>
          <a:xfrm>
            <a:off x="11612880" y="6583680"/>
            <a:ext cx="164592" cy="164592"/>
          </a:xfrm>
          <a:prstGeom prst="rect">
            <a:avLst/>
          </a:prstGeom>
          <a:solidFill>
            <a:srgbClr val="EE964B"/>
          </a:solidFill>
          <a:ln w="12700">
            <a:solidFill>
              <a:srgbClr val="EE964B"/>
            </a:solidFill>
            <a:prstDash val="solid"/>
          </a:ln>
        </p:spPr>
        <p:txBody>
          <a:bodyPr/>
          <a:lstStyle/>
          <a:p>
            <a:endParaRPr lang="en-US"/>
          </a:p>
        </p:txBody>
      </p:sp>
      <p:sp>
        <p:nvSpPr>
          <p:cNvPr id="8" name="Shape 6"/>
          <p:cNvSpPr/>
          <p:nvPr/>
        </p:nvSpPr>
        <p:spPr>
          <a:xfrm>
            <a:off x="457200" y="1143000"/>
            <a:ext cx="5669280" cy="1417320"/>
          </a:xfrm>
          <a:prstGeom prst="rect">
            <a:avLst/>
          </a:prstGeom>
          <a:solidFill>
            <a:srgbClr val="FFFFFF"/>
          </a:solidFill>
          <a:ln w="9525">
            <a:solidFill>
              <a:srgbClr val="DDE3EC"/>
            </a:solidFill>
            <a:prstDash val="solid"/>
          </a:ln>
        </p:spPr>
        <p:txBody>
          <a:bodyPr/>
          <a:lstStyle/>
          <a:p>
            <a:endParaRPr lang="en-US"/>
          </a:p>
        </p:txBody>
      </p:sp>
      <p:sp>
        <p:nvSpPr>
          <p:cNvPr id="9" name="Shape 7"/>
          <p:cNvSpPr/>
          <p:nvPr/>
        </p:nvSpPr>
        <p:spPr>
          <a:xfrm>
            <a:off x="457200" y="1143000"/>
            <a:ext cx="73152" cy="1417320"/>
          </a:xfrm>
          <a:prstGeom prst="rect">
            <a:avLst/>
          </a:prstGeom>
          <a:solidFill>
            <a:srgbClr val="EE964B"/>
          </a:solidFill>
          <a:ln w="12700">
            <a:solidFill>
              <a:srgbClr val="EE964B"/>
            </a:solidFill>
            <a:prstDash val="solid"/>
          </a:ln>
        </p:spPr>
        <p:txBody>
          <a:bodyPr/>
          <a:lstStyle/>
          <a:p>
            <a:endParaRPr lang="en-US"/>
          </a:p>
        </p:txBody>
      </p:sp>
      <p:sp>
        <p:nvSpPr>
          <p:cNvPr id="10" name="Text 8"/>
          <p:cNvSpPr/>
          <p:nvPr/>
        </p:nvSpPr>
        <p:spPr>
          <a:xfrm>
            <a:off x="640080" y="1280160"/>
            <a:ext cx="731520" cy="502920"/>
          </a:xfrm>
          <a:prstGeom prst="rect">
            <a:avLst/>
          </a:prstGeom>
          <a:noFill/>
          <a:ln/>
        </p:spPr>
        <p:txBody>
          <a:bodyPr wrap="square" lIns="0" tIns="0" rIns="0" bIns="0" rtlCol="0" anchor="ctr"/>
          <a:lstStyle/>
          <a:p>
            <a:pPr marL="0" indent="0">
              <a:buNone/>
            </a:pPr>
            <a:r>
              <a:rPr lang="en-US" sz="2400" b="1" dirty="0">
                <a:solidFill>
                  <a:srgbClr val="EE964B"/>
                </a:solidFill>
                <a:latin typeface="Calibri" pitchFamily="34" charset="0"/>
                <a:ea typeface="Calibri" pitchFamily="34" charset="-122"/>
                <a:cs typeface="Calibri" pitchFamily="34" charset="-120"/>
              </a:rPr>
              <a:t>01</a:t>
            </a:r>
            <a:endParaRPr lang="en-US" sz="2400" dirty="0"/>
          </a:p>
        </p:txBody>
      </p:sp>
      <p:sp>
        <p:nvSpPr>
          <p:cNvPr id="11" name="Text 9"/>
          <p:cNvSpPr/>
          <p:nvPr/>
        </p:nvSpPr>
        <p:spPr>
          <a:xfrm>
            <a:off x="1371600" y="1280160"/>
            <a:ext cx="4617720" cy="50292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Adam &amp; SGD+Momentum tied at 0.862 test accuracy</a:t>
            </a:r>
            <a:endParaRPr lang="en-US" sz="1300" dirty="0"/>
          </a:p>
        </p:txBody>
      </p:sp>
      <p:sp>
        <p:nvSpPr>
          <p:cNvPr id="12" name="Text 10"/>
          <p:cNvSpPr/>
          <p:nvPr/>
        </p:nvSpPr>
        <p:spPr>
          <a:xfrm>
            <a:off x="1371600" y="1783080"/>
            <a:ext cx="4617720" cy="704088"/>
          </a:xfrm>
          <a:prstGeom prst="rect">
            <a:avLst/>
          </a:prstGeom>
          <a:noFill/>
          <a:ln/>
        </p:spPr>
        <p:txBody>
          <a:bodyPr wrap="square" lIns="0" tIns="0" rIns="0" bIns="0"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Among first-order methods, momentum (in any form) is the deciding ingredient on this problem.</a:t>
            </a:r>
            <a:endParaRPr lang="en-US" sz="1100" dirty="0"/>
          </a:p>
        </p:txBody>
      </p:sp>
      <p:sp>
        <p:nvSpPr>
          <p:cNvPr id="13" name="Shape 11"/>
          <p:cNvSpPr/>
          <p:nvPr/>
        </p:nvSpPr>
        <p:spPr>
          <a:xfrm>
            <a:off x="6309360" y="1143000"/>
            <a:ext cx="5669280" cy="1417320"/>
          </a:xfrm>
          <a:prstGeom prst="rect">
            <a:avLst/>
          </a:prstGeom>
          <a:solidFill>
            <a:srgbClr val="FFFFFF"/>
          </a:solidFill>
          <a:ln w="9525">
            <a:solidFill>
              <a:srgbClr val="DDE3EC"/>
            </a:solidFill>
            <a:prstDash val="solid"/>
          </a:ln>
        </p:spPr>
        <p:txBody>
          <a:bodyPr/>
          <a:lstStyle/>
          <a:p>
            <a:endParaRPr lang="en-US"/>
          </a:p>
        </p:txBody>
      </p:sp>
      <p:sp>
        <p:nvSpPr>
          <p:cNvPr id="14" name="Shape 12"/>
          <p:cNvSpPr/>
          <p:nvPr/>
        </p:nvSpPr>
        <p:spPr>
          <a:xfrm>
            <a:off x="6309360" y="1143000"/>
            <a:ext cx="73152" cy="1417320"/>
          </a:xfrm>
          <a:prstGeom prst="rect">
            <a:avLst/>
          </a:prstGeom>
          <a:solidFill>
            <a:srgbClr val="1B7F8C"/>
          </a:solidFill>
          <a:ln w="12700">
            <a:solidFill>
              <a:srgbClr val="1B7F8C"/>
            </a:solidFill>
            <a:prstDash val="solid"/>
          </a:ln>
        </p:spPr>
        <p:txBody>
          <a:bodyPr/>
          <a:lstStyle/>
          <a:p>
            <a:endParaRPr lang="en-US"/>
          </a:p>
        </p:txBody>
      </p:sp>
      <p:sp>
        <p:nvSpPr>
          <p:cNvPr id="15" name="Text 13"/>
          <p:cNvSpPr/>
          <p:nvPr/>
        </p:nvSpPr>
        <p:spPr>
          <a:xfrm>
            <a:off x="6492240" y="1280160"/>
            <a:ext cx="731520" cy="502920"/>
          </a:xfrm>
          <a:prstGeom prst="rect">
            <a:avLst/>
          </a:prstGeom>
          <a:noFill/>
          <a:ln/>
        </p:spPr>
        <p:txBody>
          <a:bodyPr wrap="square" lIns="0" tIns="0" rIns="0" bIns="0" rtlCol="0" anchor="ctr"/>
          <a:lstStyle/>
          <a:p>
            <a:pPr marL="0" indent="0">
              <a:buNone/>
            </a:pPr>
            <a:r>
              <a:rPr lang="en-US" sz="2400" b="1" dirty="0">
                <a:solidFill>
                  <a:srgbClr val="1B7F8C"/>
                </a:solidFill>
                <a:latin typeface="Calibri" pitchFamily="34" charset="0"/>
                <a:ea typeface="Calibri" pitchFamily="34" charset="-122"/>
                <a:cs typeface="Calibri" pitchFamily="34" charset="-120"/>
              </a:rPr>
              <a:t>02</a:t>
            </a:r>
            <a:endParaRPr lang="en-US" sz="2400" dirty="0"/>
          </a:p>
        </p:txBody>
      </p:sp>
      <p:sp>
        <p:nvSpPr>
          <p:cNvPr id="16" name="Text 14"/>
          <p:cNvSpPr/>
          <p:nvPr/>
        </p:nvSpPr>
        <p:spPr>
          <a:xfrm>
            <a:off x="7223760" y="1280160"/>
            <a:ext cx="4617720" cy="50292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L-BFGS converges in 2 epochs — but at lower accuracy</a:t>
            </a:r>
            <a:endParaRPr lang="en-US" sz="1300" dirty="0"/>
          </a:p>
        </p:txBody>
      </p:sp>
      <p:sp>
        <p:nvSpPr>
          <p:cNvPr id="17" name="Text 15"/>
          <p:cNvSpPr/>
          <p:nvPr/>
        </p:nvSpPr>
        <p:spPr>
          <a:xfrm>
            <a:off x="7223760" y="1783080"/>
            <a:ext cx="4617720" cy="704088"/>
          </a:xfrm>
          <a:prstGeom prst="rect">
            <a:avLst/>
          </a:prstGeom>
          <a:noFill/>
          <a:ln/>
        </p:spPr>
        <p:txBody>
          <a:bodyPr wrap="square" lIns="0" tIns="0" rIns="0" bIns="0"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Quasi-Newton's curvature shortcut is real (0.6 s vs 3.2 s for Adam) but at p ≫ n it overfits the small training set.</a:t>
            </a:r>
            <a:endParaRPr lang="en-US" sz="1100" dirty="0"/>
          </a:p>
        </p:txBody>
      </p:sp>
      <p:sp>
        <p:nvSpPr>
          <p:cNvPr id="18" name="Shape 16"/>
          <p:cNvSpPr/>
          <p:nvPr/>
        </p:nvSpPr>
        <p:spPr>
          <a:xfrm>
            <a:off x="457200" y="2724912"/>
            <a:ext cx="5669280" cy="1417320"/>
          </a:xfrm>
          <a:prstGeom prst="rect">
            <a:avLst/>
          </a:prstGeom>
          <a:solidFill>
            <a:srgbClr val="FFFFFF"/>
          </a:solidFill>
          <a:ln w="9525">
            <a:solidFill>
              <a:srgbClr val="DDE3EC"/>
            </a:solidFill>
            <a:prstDash val="solid"/>
          </a:ln>
        </p:spPr>
        <p:txBody>
          <a:bodyPr/>
          <a:lstStyle/>
          <a:p>
            <a:endParaRPr lang="en-US"/>
          </a:p>
        </p:txBody>
      </p:sp>
      <p:sp>
        <p:nvSpPr>
          <p:cNvPr id="19" name="Shape 17"/>
          <p:cNvSpPr/>
          <p:nvPr/>
        </p:nvSpPr>
        <p:spPr>
          <a:xfrm>
            <a:off x="457200" y="2724912"/>
            <a:ext cx="73152" cy="1417320"/>
          </a:xfrm>
          <a:prstGeom prst="rect">
            <a:avLst/>
          </a:prstGeom>
          <a:solidFill>
            <a:srgbClr val="C03221"/>
          </a:solidFill>
          <a:ln w="12700">
            <a:solidFill>
              <a:srgbClr val="C03221"/>
            </a:solidFill>
            <a:prstDash val="solid"/>
          </a:ln>
        </p:spPr>
        <p:txBody>
          <a:bodyPr/>
          <a:lstStyle/>
          <a:p>
            <a:endParaRPr lang="en-US"/>
          </a:p>
        </p:txBody>
      </p:sp>
      <p:sp>
        <p:nvSpPr>
          <p:cNvPr id="20" name="Text 18"/>
          <p:cNvSpPr/>
          <p:nvPr/>
        </p:nvSpPr>
        <p:spPr>
          <a:xfrm>
            <a:off x="640080" y="2862072"/>
            <a:ext cx="731520" cy="502920"/>
          </a:xfrm>
          <a:prstGeom prst="rect">
            <a:avLst/>
          </a:prstGeom>
          <a:noFill/>
          <a:ln/>
        </p:spPr>
        <p:txBody>
          <a:bodyPr wrap="square" lIns="0" tIns="0" rIns="0" bIns="0" rtlCol="0" anchor="ctr"/>
          <a:lstStyle/>
          <a:p>
            <a:pPr marL="0" indent="0">
              <a:buNone/>
            </a:pPr>
            <a:r>
              <a:rPr lang="en-US" sz="2400" b="1" dirty="0">
                <a:solidFill>
                  <a:srgbClr val="C03221"/>
                </a:solidFill>
                <a:latin typeface="Calibri" pitchFamily="34" charset="0"/>
                <a:ea typeface="Calibri" pitchFamily="34" charset="-122"/>
                <a:cs typeface="Calibri" pitchFamily="34" charset="-120"/>
              </a:rPr>
              <a:t>03</a:t>
            </a:r>
            <a:endParaRPr lang="en-US" sz="2400" dirty="0"/>
          </a:p>
        </p:txBody>
      </p:sp>
      <p:sp>
        <p:nvSpPr>
          <p:cNvPr id="21" name="Text 19"/>
          <p:cNvSpPr/>
          <p:nvPr/>
        </p:nvSpPr>
        <p:spPr>
          <a:xfrm>
            <a:off x="1371600" y="2862072"/>
            <a:ext cx="4617720" cy="50292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Schedule choice matters — but constant LR usually wins</a:t>
            </a:r>
            <a:endParaRPr lang="en-US" sz="1300" dirty="0"/>
          </a:p>
        </p:txBody>
      </p:sp>
      <p:sp>
        <p:nvSpPr>
          <p:cNvPr id="22" name="Text 20"/>
          <p:cNvSpPr/>
          <p:nvPr/>
        </p:nvSpPr>
        <p:spPr>
          <a:xfrm>
            <a:off x="1371600" y="3364992"/>
            <a:ext cx="4617720" cy="704088"/>
          </a:xfrm>
          <a:prstGeom prst="rect">
            <a:avLst/>
          </a:prstGeom>
          <a:noFill/>
          <a:ln/>
        </p:spPr>
        <p:txBody>
          <a:bodyPr wrap="square" lIns="0" tIns="0" rIns="0" bIns="0"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Cosine, exponential and warm-restart schedules each lose 1–5 % accuracy under our 100-epoch budget. They were designed for longer training runs.</a:t>
            </a:r>
            <a:endParaRPr lang="en-US" sz="1100" dirty="0"/>
          </a:p>
        </p:txBody>
      </p:sp>
      <p:sp>
        <p:nvSpPr>
          <p:cNvPr id="23" name="Shape 21"/>
          <p:cNvSpPr/>
          <p:nvPr/>
        </p:nvSpPr>
        <p:spPr>
          <a:xfrm>
            <a:off x="6309360" y="2724912"/>
            <a:ext cx="5669280" cy="1417320"/>
          </a:xfrm>
          <a:prstGeom prst="rect">
            <a:avLst/>
          </a:prstGeom>
          <a:solidFill>
            <a:srgbClr val="FFFFFF"/>
          </a:solidFill>
          <a:ln w="9525">
            <a:solidFill>
              <a:srgbClr val="DDE3EC"/>
            </a:solidFill>
            <a:prstDash val="solid"/>
          </a:ln>
        </p:spPr>
        <p:txBody>
          <a:bodyPr/>
          <a:lstStyle/>
          <a:p>
            <a:endParaRPr lang="en-US"/>
          </a:p>
        </p:txBody>
      </p:sp>
      <p:sp>
        <p:nvSpPr>
          <p:cNvPr id="24" name="Shape 22"/>
          <p:cNvSpPr/>
          <p:nvPr/>
        </p:nvSpPr>
        <p:spPr>
          <a:xfrm>
            <a:off x="6309360" y="2724912"/>
            <a:ext cx="73152" cy="1417320"/>
          </a:xfrm>
          <a:prstGeom prst="rect">
            <a:avLst/>
          </a:prstGeom>
          <a:solidFill>
            <a:srgbClr val="0B2545"/>
          </a:solidFill>
          <a:ln w="12700">
            <a:solidFill>
              <a:srgbClr val="0B2545"/>
            </a:solidFill>
            <a:prstDash val="solid"/>
          </a:ln>
        </p:spPr>
        <p:txBody>
          <a:bodyPr/>
          <a:lstStyle/>
          <a:p>
            <a:endParaRPr lang="en-US"/>
          </a:p>
        </p:txBody>
      </p:sp>
      <p:sp>
        <p:nvSpPr>
          <p:cNvPr id="25" name="Text 23"/>
          <p:cNvSpPr/>
          <p:nvPr/>
        </p:nvSpPr>
        <p:spPr>
          <a:xfrm>
            <a:off x="6492240" y="2862072"/>
            <a:ext cx="731520" cy="502920"/>
          </a:xfrm>
          <a:prstGeom prst="rect">
            <a:avLst/>
          </a:prstGeom>
          <a:noFill/>
          <a:ln/>
        </p:spPr>
        <p:txBody>
          <a:bodyPr wrap="square" lIns="0" tIns="0" rIns="0" bIns="0" rtlCol="0" anchor="ctr"/>
          <a:lstStyle/>
          <a:p>
            <a:pPr marL="0" indent="0">
              <a:buNone/>
            </a:pPr>
            <a:r>
              <a:rPr lang="en-US" sz="2400" b="1" dirty="0">
                <a:solidFill>
                  <a:srgbClr val="0B2545"/>
                </a:solidFill>
                <a:latin typeface="Calibri" pitchFamily="34" charset="0"/>
                <a:ea typeface="Calibri" pitchFamily="34" charset="-122"/>
                <a:cs typeface="Calibri" pitchFamily="34" charset="-120"/>
              </a:rPr>
              <a:t>04</a:t>
            </a:r>
            <a:endParaRPr lang="en-US" sz="2400" dirty="0"/>
          </a:p>
        </p:txBody>
      </p:sp>
      <p:sp>
        <p:nvSpPr>
          <p:cNvPr id="26" name="Text 24"/>
          <p:cNvSpPr/>
          <p:nvPr/>
        </p:nvSpPr>
        <p:spPr>
          <a:xfrm>
            <a:off x="7223760" y="2862072"/>
            <a:ext cx="4617720" cy="50292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SGD-family is the most schedule-sensitive</a:t>
            </a:r>
            <a:endParaRPr lang="en-US" sz="1300" dirty="0"/>
          </a:p>
        </p:txBody>
      </p:sp>
      <p:sp>
        <p:nvSpPr>
          <p:cNvPr id="27" name="Text 25"/>
          <p:cNvSpPr/>
          <p:nvPr/>
        </p:nvSpPr>
        <p:spPr>
          <a:xfrm>
            <a:off x="7223760" y="3364992"/>
            <a:ext cx="4617720" cy="704088"/>
          </a:xfrm>
          <a:prstGeom prst="rect">
            <a:avLst/>
          </a:prstGeom>
          <a:noFill/>
          <a:ln/>
        </p:spPr>
        <p:txBody>
          <a:bodyPr wrap="square" lIns="0" tIns="0" rIns="0" bIns="0"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Mini-batch SGD swings from 0.770 to 0.805 across schedules — Adam swings from 0.816 to 0.862. The interaction effect is real.</a:t>
            </a:r>
            <a:endParaRPr lang="en-US" sz="1100" dirty="0"/>
          </a:p>
        </p:txBody>
      </p:sp>
      <p:sp>
        <p:nvSpPr>
          <p:cNvPr id="28" name="Shape 26"/>
          <p:cNvSpPr/>
          <p:nvPr/>
        </p:nvSpPr>
        <p:spPr>
          <a:xfrm>
            <a:off x="457200" y="4306824"/>
            <a:ext cx="5669280" cy="1417320"/>
          </a:xfrm>
          <a:prstGeom prst="rect">
            <a:avLst/>
          </a:prstGeom>
          <a:solidFill>
            <a:srgbClr val="FFFFFF"/>
          </a:solidFill>
          <a:ln w="9525">
            <a:solidFill>
              <a:srgbClr val="DDE3EC"/>
            </a:solidFill>
            <a:prstDash val="solid"/>
          </a:ln>
        </p:spPr>
        <p:txBody>
          <a:bodyPr/>
          <a:lstStyle/>
          <a:p>
            <a:endParaRPr lang="en-US"/>
          </a:p>
        </p:txBody>
      </p:sp>
      <p:sp>
        <p:nvSpPr>
          <p:cNvPr id="29" name="Shape 27"/>
          <p:cNvSpPr/>
          <p:nvPr/>
        </p:nvSpPr>
        <p:spPr>
          <a:xfrm>
            <a:off x="457200" y="4306824"/>
            <a:ext cx="73152" cy="1417320"/>
          </a:xfrm>
          <a:prstGeom prst="rect">
            <a:avLst/>
          </a:prstGeom>
          <a:solidFill>
            <a:srgbClr val="8E24AA"/>
          </a:solidFill>
          <a:ln w="12700">
            <a:solidFill>
              <a:srgbClr val="8E24AA"/>
            </a:solidFill>
            <a:prstDash val="solid"/>
          </a:ln>
        </p:spPr>
        <p:txBody>
          <a:bodyPr/>
          <a:lstStyle/>
          <a:p>
            <a:endParaRPr lang="en-US"/>
          </a:p>
        </p:txBody>
      </p:sp>
      <p:sp>
        <p:nvSpPr>
          <p:cNvPr id="30" name="Text 28"/>
          <p:cNvSpPr/>
          <p:nvPr/>
        </p:nvSpPr>
        <p:spPr>
          <a:xfrm>
            <a:off x="640080" y="4443984"/>
            <a:ext cx="731520" cy="502920"/>
          </a:xfrm>
          <a:prstGeom prst="rect">
            <a:avLst/>
          </a:prstGeom>
          <a:noFill/>
          <a:ln/>
        </p:spPr>
        <p:txBody>
          <a:bodyPr wrap="square" lIns="0" tIns="0" rIns="0" bIns="0" rtlCol="0" anchor="ctr"/>
          <a:lstStyle/>
          <a:p>
            <a:pPr marL="0" indent="0">
              <a:buNone/>
            </a:pPr>
            <a:r>
              <a:rPr lang="en-US" sz="2400" b="1" dirty="0">
                <a:solidFill>
                  <a:srgbClr val="8E24AA"/>
                </a:solidFill>
                <a:latin typeface="Calibri" pitchFamily="34" charset="0"/>
                <a:ea typeface="Calibri" pitchFamily="34" charset="-122"/>
                <a:cs typeface="Calibri" pitchFamily="34" charset="-120"/>
              </a:rPr>
              <a:t>05</a:t>
            </a:r>
            <a:endParaRPr lang="en-US" sz="2400" dirty="0"/>
          </a:p>
        </p:txBody>
      </p:sp>
      <p:sp>
        <p:nvSpPr>
          <p:cNvPr id="31" name="Text 29"/>
          <p:cNvSpPr/>
          <p:nvPr/>
        </p:nvSpPr>
        <p:spPr>
          <a:xfrm>
            <a:off x="1371600" y="4443984"/>
            <a:ext cx="4617720" cy="50292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Optimizer choice changes which genes get selected</a:t>
            </a:r>
            <a:endParaRPr lang="en-US" sz="1300" dirty="0"/>
          </a:p>
        </p:txBody>
      </p:sp>
      <p:sp>
        <p:nvSpPr>
          <p:cNvPr id="32" name="Text 30"/>
          <p:cNvSpPr/>
          <p:nvPr/>
        </p:nvSpPr>
        <p:spPr>
          <a:xfrm>
            <a:off x="1371600" y="4946904"/>
            <a:ext cx="4617720" cy="704088"/>
          </a:xfrm>
          <a:prstGeom prst="rect">
            <a:avLst/>
          </a:prstGeom>
          <a:noFill/>
          <a:ln/>
        </p:spPr>
        <p:txBody>
          <a:bodyPr wrap="square" lIns="0" tIns="0" rIns="0" bIns="0"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Confirms Greenelab 2024 — extends their 2-optimizer finding to a 6-optimizer benchmark.</a:t>
            </a:r>
            <a:endParaRPr lang="en-US" sz="1100" dirty="0"/>
          </a:p>
        </p:txBody>
      </p:sp>
      <p:sp>
        <p:nvSpPr>
          <p:cNvPr id="33" name="Shape 31"/>
          <p:cNvSpPr/>
          <p:nvPr/>
        </p:nvSpPr>
        <p:spPr>
          <a:xfrm>
            <a:off x="6309360" y="4306824"/>
            <a:ext cx="5669280" cy="1417320"/>
          </a:xfrm>
          <a:prstGeom prst="rect">
            <a:avLst/>
          </a:prstGeom>
          <a:solidFill>
            <a:srgbClr val="FFFFFF"/>
          </a:solidFill>
          <a:ln w="9525">
            <a:solidFill>
              <a:srgbClr val="DDE3EC"/>
            </a:solidFill>
            <a:prstDash val="solid"/>
          </a:ln>
        </p:spPr>
        <p:txBody>
          <a:bodyPr/>
          <a:lstStyle/>
          <a:p>
            <a:endParaRPr lang="en-US"/>
          </a:p>
        </p:txBody>
      </p:sp>
      <p:sp>
        <p:nvSpPr>
          <p:cNvPr id="34" name="Shape 32"/>
          <p:cNvSpPr/>
          <p:nvPr/>
        </p:nvSpPr>
        <p:spPr>
          <a:xfrm>
            <a:off x="6309360" y="4306824"/>
            <a:ext cx="73152" cy="1417320"/>
          </a:xfrm>
          <a:prstGeom prst="rect">
            <a:avLst/>
          </a:prstGeom>
          <a:solidFill>
            <a:srgbClr val="1E88E5"/>
          </a:solidFill>
          <a:ln w="12700">
            <a:solidFill>
              <a:srgbClr val="1E88E5"/>
            </a:solidFill>
            <a:prstDash val="solid"/>
          </a:ln>
        </p:spPr>
        <p:txBody>
          <a:bodyPr/>
          <a:lstStyle/>
          <a:p>
            <a:endParaRPr lang="en-US"/>
          </a:p>
        </p:txBody>
      </p:sp>
      <p:sp>
        <p:nvSpPr>
          <p:cNvPr id="35" name="Text 33"/>
          <p:cNvSpPr/>
          <p:nvPr/>
        </p:nvSpPr>
        <p:spPr>
          <a:xfrm>
            <a:off x="6492240" y="4443984"/>
            <a:ext cx="731520" cy="502920"/>
          </a:xfrm>
          <a:prstGeom prst="rect">
            <a:avLst/>
          </a:prstGeom>
          <a:noFill/>
          <a:ln/>
        </p:spPr>
        <p:txBody>
          <a:bodyPr wrap="square" lIns="0" tIns="0" rIns="0" bIns="0" rtlCol="0" anchor="ctr"/>
          <a:lstStyle/>
          <a:p>
            <a:pPr marL="0" indent="0">
              <a:buNone/>
            </a:pPr>
            <a:r>
              <a:rPr lang="en-US" sz="2400" b="1" dirty="0">
                <a:solidFill>
                  <a:srgbClr val="1E88E5"/>
                </a:solidFill>
                <a:latin typeface="Calibri" pitchFamily="34" charset="0"/>
                <a:ea typeface="Calibri" pitchFamily="34" charset="-122"/>
                <a:cs typeface="Calibri" pitchFamily="34" charset="-120"/>
              </a:rPr>
              <a:t>06</a:t>
            </a:r>
            <a:endParaRPr lang="en-US" sz="2400" dirty="0"/>
          </a:p>
        </p:txBody>
      </p:sp>
      <p:sp>
        <p:nvSpPr>
          <p:cNvPr id="36" name="Text 34"/>
          <p:cNvSpPr/>
          <p:nvPr/>
        </p:nvSpPr>
        <p:spPr>
          <a:xfrm>
            <a:off x="7223760" y="4443984"/>
            <a:ext cx="4617720" cy="50292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LP gene budgets approach full-feature accuracy at k = 50</a:t>
            </a:r>
            <a:endParaRPr lang="en-US" sz="1300" dirty="0"/>
          </a:p>
        </p:txBody>
      </p:sp>
      <p:sp>
        <p:nvSpPr>
          <p:cNvPr id="37" name="Text 35"/>
          <p:cNvSpPr/>
          <p:nvPr/>
        </p:nvSpPr>
        <p:spPr>
          <a:xfrm>
            <a:off x="7223760" y="4946904"/>
            <a:ext cx="4617720" cy="704088"/>
          </a:xfrm>
          <a:prstGeom prst="rect">
            <a:avLst/>
          </a:prstGeom>
          <a:noFill/>
          <a:ln/>
        </p:spPr>
        <p:txBody>
          <a:bodyPr wrap="square" lIns="0" tIns="0" rIns="0" bIns="0" rtlCol="0" anchor="ctr"/>
          <a:lstStyle/>
          <a:p>
            <a:pPr marL="0" indent="0">
              <a:buNone/>
            </a:pPr>
            <a:r>
              <a:rPr lang="en-US" sz="1100" i="1" dirty="0">
                <a:solidFill>
                  <a:srgbClr val="1A2238"/>
                </a:solidFill>
                <a:latin typeface="Calibri" pitchFamily="34" charset="0"/>
                <a:ea typeface="Calibri" pitchFamily="34" charset="-122"/>
                <a:cs typeface="Calibri" pitchFamily="34" charset="-120"/>
              </a:rPr>
              <a:t>0.793 with 50 LP-selected genes vs 0.862 with all 300 — useful for cost-constrained clinical panels.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EE964B"/>
          </a:solidFill>
          <a:ln w="12700">
            <a:solidFill>
              <a:srgbClr val="EE964B"/>
            </a:solidFill>
            <a:prstDash val="solid"/>
          </a:ln>
        </p:spPr>
        <p:txBody>
          <a:bodyPr/>
          <a:lstStyle/>
          <a:p>
            <a:endParaRPr lang="en-US"/>
          </a:p>
        </p:txBody>
      </p:sp>
      <p:sp>
        <p:nvSpPr>
          <p:cNvPr id="3" name="Text 1"/>
          <p:cNvSpPr/>
          <p:nvPr/>
        </p:nvSpPr>
        <p:spPr>
          <a:xfrm>
            <a:off x="914400" y="548640"/>
            <a:ext cx="10058400" cy="457200"/>
          </a:xfrm>
          <a:prstGeom prst="rect">
            <a:avLst/>
          </a:prstGeom>
          <a:noFill/>
          <a:ln/>
        </p:spPr>
        <p:txBody>
          <a:bodyPr wrap="square" rtlCol="0" anchor="ctr"/>
          <a:lstStyle/>
          <a:p>
            <a:pPr marL="0" indent="0">
              <a:buNone/>
            </a:pPr>
            <a:r>
              <a:rPr lang="en-US" sz="1200" b="1" kern="0" spc="600" dirty="0">
                <a:solidFill>
                  <a:srgbClr val="EE964B"/>
                </a:solidFill>
                <a:latin typeface="Calibri" pitchFamily="34" charset="0"/>
                <a:ea typeface="Calibri" pitchFamily="34" charset="-122"/>
                <a:cs typeface="Calibri" pitchFamily="34" charset="-120"/>
              </a:rPr>
              <a:t>FUTURE WORK &amp; THANK YOU</a:t>
            </a:r>
            <a:endParaRPr lang="en-US" sz="1200" dirty="0"/>
          </a:p>
        </p:txBody>
      </p:sp>
      <p:sp>
        <p:nvSpPr>
          <p:cNvPr id="4" name="Text 2"/>
          <p:cNvSpPr/>
          <p:nvPr/>
        </p:nvSpPr>
        <p:spPr>
          <a:xfrm>
            <a:off x="914400" y="1005840"/>
            <a:ext cx="10058400" cy="6400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What's next</a:t>
            </a:r>
            <a:endParaRPr lang="en-US" sz="3600" dirty="0"/>
          </a:p>
        </p:txBody>
      </p:sp>
      <p:sp>
        <p:nvSpPr>
          <p:cNvPr id="5" name="Shape 3"/>
          <p:cNvSpPr/>
          <p:nvPr/>
        </p:nvSpPr>
        <p:spPr>
          <a:xfrm>
            <a:off x="914400" y="1691640"/>
            <a:ext cx="1371600" cy="45720"/>
          </a:xfrm>
          <a:prstGeom prst="rect">
            <a:avLst/>
          </a:prstGeom>
          <a:solidFill>
            <a:srgbClr val="EE964B"/>
          </a:solidFill>
          <a:ln w="12700">
            <a:solidFill>
              <a:srgbClr val="EE964B"/>
            </a:solidFill>
            <a:prstDash val="solid"/>
          </a:ln>
        </p:spPr>
        <p:txBody>
          <a:bodyPr/>
          <a:lstStyle/>
          <a:p>
            <a:endParaRPr lang="en-US"/>
          </a:p>
        </p:txBody>
      </p:sp>
      <p:sp>
        <p:nvSpPr>
          <p:cNvPr id="6" name="Shape 4"/>
          <p:cNvSpPr/>
          <p:nvPr/>
        </p:nvSpPr>
        <p:spPr>
          <a:xfrm>
            <a:off x="914400" y="1965960"/>
            <a:ext cx="5212080" cy="1371600"/>
          </a:xfrm>
          <a:prstGeom prst="rect">
            <a:avLst/>
          </a:prstGeom>
          <a:solidFill>
            <a:srgbClr val="13315C"/>
          </a:solidFill>
          <a:ln w="12700">
            <a:solidFill>
              <a:srgbClr val="13315C"/>
            </a:solidFill>
            <a:prstDash val="solid"/>
          </a:ln>
        </p:spPr>
        <p:txBody>
          <a:bodyPr/>
          <a:lstStyle/>
          <a:p>
            <a:endParaRPr lang="en-US"/>
          </a:p>
        </p:txBody>
      </p:sp>
      <p:sp>
        <p:nvSpPr>
          <p:cNvPr id="7" name="Shape 5"/>
          <p:cNvSpPr/>
          <p:nvPr/>
        </p:nvSpPr>
        <p:spPr>
          <a:xfrm>
            <a:off x="914400" y="1965960"/>
            <a:ext cx="73152" cy="1371600"/>
          </a:xfrm>
          <a:prstGeom prst="rect">
            <a:avLst/>
          </a:prstGeom>
          <a:solidFill>
            <a:srgbClr val="EE964B"/>
          </a:solidFill>
          <a:ln w="12700">
            <a:solidFill>
              <a:srgbClr val="EE964B"/>
            </a:solidFill>
            <a:prstDash val="solid"/>
          </a:ln>
        </p:spPr>
        <p:txBody>
          <a:bodyPr/>
          <a:lstStyle/>
          <a:p>
            <a:endParaRPr lang="en-US"/>
          </a:p>
        </p:txBody>
      </p:sp>
      <p:sp>
        <p:nvSpPr>
          <p:cNvPr id="8" name="Text 6"/>
          <p:cNvSpPr/>
          <p:nvPr/>
        </p:nvSpPr>
        <p:spPr>
          <a:xfrm>
            <a:off x="1097280" y="2075688"/>
            <a:ext cx="49377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Scale to 10,535 samples</a:t>
            </a:r>
            <a:endParaRPr lang="en-US" sz="1400" dirty="0"/>
          </a:p>
        </p:txBody>
      </p:sp>
      <p:sp>
        <p:nvSpPr>
          <p:cNvPr id="9" name="Text 7"/>
          <p:cNvSpPr/>
          <p:nvPr/>
        </p:nvSpPr>
        <p:spPr>
          <a:xfrm>
            <a:off x="1097280" y="2468880"/>
            <a:ext cx="4937760" cy="777240"/>
          </a:xfrm>
          <a:prstGeom prst="rect">
            <a:avLst/>
          </a:prstGeom>
          <a:noFill/>
          <a:ln/>
        </p:spPr>
        <p:txBody>
          <a:bodyPr wrap="square" lIns="0" tIns="0" rIns="0" bIns="0" rtlCol="0" anchor="ctr"/>
          <a:lstStyle/>
          <a:p>
            <a:pPr marL="0" indent="0">
              <a:buNone/>
            </a:pPr>
            <a:r>
              <a:rPr lang="en-US" sz="1100" i="1" dirty="0">
                <a:solidFill>
                  <a:srgbClr val="B8C5D9"/>
                </a:solidFill>
                <a:latin typeface="Calibri" pitchFamily="34" charset="0"/>
                <a:ea typeface="Calibri" pitchFamily="34" charset="-122"/>
                <a:cs typeface="Calibri" pitchFamily="34" charset="-120"/>
              </a:rPr>
              <a:t>Re-run on the full TCGA matrix. The 495-sample subset confirmed the design — full-scale will tighten variance bands.</a:t>
            </a:r>
            <a:endParaRPr lang="en-US" sz="1100" dirty="0"/>
          </a:p>
        </p:txBody>
      </p:sp>
      <p:sp>
        <p:nvSpPr>
          <p:cNvPr id="10" name="Shape 8"/>
          <p:cNvSpPr/>
          <p:nvPr/>
        </p:nvSpPr>
        <p:spPr>
          <a:xfrm>
            <a:off x="6400800" y="1965960"/>
            <a:ext cx="5212080" cy="1371600"/>
          </a:xfrm>
          <a:prstGeom prst="rect">
            <a:avLst/>
          </a:prstGeom>
          <a:solidFill>
            <a:srgbClr val="13315C"/>
          </a:solidFill>
          <a:ln w="12700">
            <a:solidFill>
              <a:srgbClr val="13315C"/>
            </a:solidFill>
            <a:prstDash val="solid"/>
          </a:ln>
        </p:spPr>
        <p:txBody>
          <a:bodyPr/>
          <a:lstStyle/>
          <a:p>
            <a:endParaRPr lang="en-US"/>
          </a:p>
        </p:txBody>
      </p:sp>
      <p:sp>
        <p:nvSpPr>
          <p:cNvPr id="11" name="Shape 9"/>
          <p:cNvSpPr/>
          <p:nvPr/>
        </p:nvSpPr>
        <p:spPr>
          <a:xfrm>
            <a:off x="6400800" y="1965960"/>
            <a:ext cx="73152" cy="1371600"/>
          </a:xfrm>
          <a:prstGeom prst="rect">
            <a:avLst/>
          </a:prstGeom>
          <a:solidFill>
            <a:srgbClr val="1B7F8C"/>
          </a:solidFill>
          <a:ln w="12700">
            <a:solidFill>
              <a:srgbClr val="1B7F8C"/>
            </a:solidFill>
            <a:prstDash val="solid"/>
          </a:ln>
        </p:spPr>
        <p:txBody>
          <a:bodyPr/>
          <a:lstStyle/>
          <a:p>
            <a:endParaRPr lang="en-US"/>
          </a:p>
        </p:txBody>
      </p:sp>
      <p:sp>
        <p:nvSpPr>
          <p:cNvPr id="12" name="Text 10"/>
          <p:cNvSpPr/>
          <p:nvPr/>
        </p:nvSpPr>
        <p:spPr>
          <a:xfrm>
            <a:off x="6583680" y="2075688"/>
            <a:ext cx="49377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Beyond linear models</a:t>
            </a:r>
            <a:endParaRPr lang="en-US" sz="1400" dirty="0"/>
          </a:p>
        </p:txBody>
      </p:sp>
      <p:sp>
        <p:nvSpPr>
          <p:cNvPr id="13" name="Text 11"/>
          <p:cNvSpPr/>
          <p:nvPr/>
        </p:nvSpPr>
        <p:spPr>
          <a:xfrm>
            <a:off x="6583680" y="2468880"/>
            <a:ext cx="4937760" cy="777240"/>
          </a:xfrm>
          <a:prstGeom prst="rect">
            <a:avLst/>
          </a:prstGeom>
          <a:noFill/>
          <a:ln/>
        </p:spPr>
        <p:txBody>
          <a:bodyPr wrap="square" lIns="0" tIns="0" rIns="0" bIns="0" rtlCol="0" anchor="ctr"/>
          <a:lstStyle/>
          <a:p>
            <a:pPr marL="0" indent="0">
              <a:buNone/>
            </a:pPr>
            <a:r>
              <a:rPr lang="en-US" sz="1100" i="1" dirty="0">
                <a:solidFill>
                  <a:srgbClr val="B8C5D9"/>
                </a:solidFill>
                <a:latin typeface="Calibri" pitchFamily="34" charset="0"/>
                <a:ea typeface="Calibri" pitchFamily="34" charset="-122"/>
                <a:cs typeface="Calibri" pitchFamily="34" charset="-120"/>
              </a:rPr>
              <a:t>Test optimizer × schedule on shallow MLPs and small transformers — does the interaction we observed survive non-convex losses?</a:t>
            </a:r>
            <a:endParaRPr lang="en-US" sz="1100" dirty="0"/>
          </a:p>
        </p:txBody>
      </p:sp>
      <p:sp>
        <p:nvSpPr>
          <p:cNvPr id="14" name="Shape 12"/>
          <p:cNvSpPr/>
          <p:nvPr/>
        </p:nvSpPr>
        <p:spPr>
          <a:xfrm>
            <a:off x="914400" y="3520440"/>
            <a:ext cx="5212080" cy="1371600"/>
          </a:xfrm>
          <a:prstGeom prst="rect">
            <a:avLst/>
          </a:prstGeom>
          <a:solidFill>
            <a:srgbClr val="13315C"/>
          </a:solidFill>
          <a:ln w="12700">
            <a:solidFill>
              <a:srgbClr val="13315C"/>
            </a:solidFill>
            <a:prstDash val="solid"/>
          </a:ln>
        </p:spPr>
        <p:txBody>
          <a:bodyPr/>
          <a:lstStyle/>
          <a:p>
            <a:endParaRPr lang="en-US"/>
          </a:p>
        </p:txBody>
      </p:sp>
      <p:sp>
        <p:nvSpPr>
          <p:cNvPr id="15" name="Shape 13"/>
          <p:cNvSpPr/>
          <p:nvPr/>
        </p:nvSpPr>
        <p:spPr>
          <a:xfrm>
            <a:off x="914400" y="3520440"/>
            <a:ext cx="73152" cy="1371600"/>
          </a:xfrm>
          <a:prstGeom prst="rect">
            <a:avLst/>
          </a:prstGeom>
          <a:solidFill>
            <a:srgbClr val="C03221"/>
          </a:solidFill>
          <a:ln w="12700">
            <a:solidFill>
              <a:srgbClr val="C03221"/>
            </a:solidFill>
            <a:prstDash val="solid"/>
          </a:ln>
        </p:spPr>
        <p:txBody>
          <a:bodyPr/>
          <a:lstStyle/>
          <a:p>
            <a:endParaRPr lang="en-US"/>
          </a:p>
        </p:txBody>
      </p:sp>
      <p:sp>
        <p:nvSpPr>
          <p:cNvPr id="16" name="Text 14"/>
          <p:cNvSpPr/>
          <p:nvPr/>
        </p:nvSpPr>
        <p:spPr>
          <a:xfrm>
            <a:off x="1097280" y="3630168"/>
            <a:ext cx="49377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Stability of gene selection</a:t>
            </a:r>
            <a:endParaRPr lang="en-US" sz="1400" dirty="0"/>
          </a:p>
        </p:txBody>
      </p:sp>
      <p:sp>
        <p:nvSpPr>
          <p:cNvPr id="17" name="Text 15"/>
          <p:cNvSpPr/>
          <p:nvPr/>
        </p:nvSpPr>
        <p:spPr>
          <a:xfrm>
            <a:off x="1097280" y="4023360"/>
            <a:ext cx="4937760" cy="777240"/>
          </a:xfrm>
          <a:prstGeom prst="rect">
            <a:avLst/>
          </a:prstGeom>
          <a:noFill/>
          <a:ln/>
        </p:spPr>
        <p:txBody>
          <a:bodyPr wrap="square" lIns="0" tIns="0" rIns="0" bIns="0" rtlCol="0" anchor="ctr"/>
          <a:lstStyle/>
          <a:p>
            <a:pPr marL="0" indent="0">
              <a:buNone/>
            </a:pPr>
            <a:r>
              <a:rPr lang="en-US" sz="1100" i="1" dirty="0">
                <a:solidFill>
                  <a:srgbClr val="B8C5D9"/>
                </a:solidFill>
                <a:latin typeface="Calibri" pitchFamily="34" charset="0"/>
                <a:ea typeface="Calibri" pitchFamily="34" charset="-122"/>
                <a:cs typeface="Calibri" pitchFamily="34" charset="-120"/>
              </a:rPr>
              <a:t>Bootstrap-resample to quantify which genes Lasso reliably picks under each optimizer. Greenelab observed instability — we want to measure it.</a:t>
            </a:r>
            <a:endParaRPr lang="en-US" sz="1100" dirty="0"/>
          </a:p>
        </p:txBody>
      </p:sp>
      <p:sp>
        <p:nvSpPr>
          <p:cNvPr id="18" name="Shape 16"/>
          <p:cNvSpPr/>
          <p:nvPr/>
        </p:nvSpPr>
        <p:spPr>
          <a:xfrm>
            <a:off x="6400800" y="3520440"/>
            <a:ext cx="5212080" cy="1371600"/>
          </a:xfrm>
          <a:prstGeom prst="rect">
            <a:avLst/>
          </a:prstGeom>
          <a:solidFill>
            <a:srgbClr val="13315C"/>
          </a:solidFill>
          <a:ln w="12700">
            <a:solidFill>
              <a:srgbClr val="13315C"/>
            </a:solidFill>
            <a:prstDash val="solid"/>
          </a:ln>
        </p:spPr>
        <p:txBody>
          <a:bodyPr/>
          <a:lstStyle/>
          <a:p>
            <a:endParaRPr lang="en-US"/>
          </a:p>
        </p:txBody>
      </p:sp>
      <p:sp>
        <p:nvSpPr>
          <p:cNvPr id="19" name="Shape 17"/>
          <p:cNvSpPr/>
          <p:nvPr/>
        </p:nvSpPr>
        <p:spPr>
          <a:xfrm>
            <a:off x="6400800" y="3520440"/>
            <a:ext cx="73152" cy="1371600"/>
          </a:xfrm>
          <a:prstGeom prst="rect">
            <a:avLst/>
          </a:prstGeom>
          <a:solidFill>
            <a:srgbClr val="8E24AA"/>
          </a:solidFill>
          <a:ln w="12700">
            <a:solidFill>
              <a:srgbClr val="8E24AA"/>
            </a:solidFill>
            <a:prstDash val="solid"/>
          </a:ln>
        </p:spPr>
        <p:txBody>
          <a:bodyPr/>
          <a:lstStyle/>
          <a:p>
            <a:endParaRPr lang="en-US"/>
          </a:p>
        </p:txBody>
      </p:sp>
      <p:sp>
        <p:nvSpPr>
          <p:cNvPr id="20" name="Text 18"/>
          <p:cNvSpPr/>
          <p:nvPr/>
        </p:nvSpPr>
        <p:spPr>
          <a:xfrm>
            <a:off x="6583680" y="3630168"/>
            <a:ext cx="49377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Custom schedules for tabular data</a:t>
            </a:r>
            <a:endParaRPr lang="en-US" sz="1400" dirty="0"/>
          </a:p>
        </p:txBody>
      </p:sp>
      <p:sp>
        <p:nvSpPr>
          <p:cNvPr id="21" name="Text 19"/>
          <p:cNvSpPr/>
          <p:nvPr/>
        </p:nvSpPr>
        <p:spPr>
          <a:xfrm>
            <a:off x="6583680" y="4023360"/>
            <a:ext cx="4937760" cy="777240"/>
          </a:xfrm>
          <a:prstGeom prst="rect">
            <a:avLst/>
          </a:prstGeom>
          <a:noFill/>
          <a:ln/>
        </p:spPr>
        <p:txBody>
          <a:bodyPr wrap="square" lIns="0" tIns="0" rIns="0" bIns="0" rtlCol="0" anchor="ctr"/>
          <a:lstStyle/>
          <a:p>
            <a:pPr marL="0" indent="0">
              <a:buNone/>
            </a:pPr>
            <a:r>
              <a:rPr lang="en-US" sz="1100" i="1" dirty="0">
                <a:solidFill>
                  <a:srgbClr val="B8C5D9"/>
                </a:solidFill>
                <a:latin typeface="Calibri" pitchFamily="34" charset="0"/>
                <a:ea typeface="Calibri" pitchFamily="34" charset="-122"/>
                <a:cs typeface="Calibri" pitchFamily="34" charset="-120"/>
              </a:rPr>
              <a:t>Schedules were designed for vision/NLP. Develop a tabular-aware schedule and benchmark it against constant LR.</a:t>
            </a:r>
            <a:endParaRPr lang="en-US" sz="1100" dirty="0"/>
          </a:p>
        </p:txBody>
      </p:sp>
      <p:sp>
        <p:nvSpPr>
          <p:cNvPr id="22" name="Text 20"/>
          <p:cNvSpPr/>
          <p:nvPr/>
        </p:nvSpPr>
        <p:spPr>
          <a:xfrm>
            <a:off x="914400" y="5212080"/>
            <a:ext cx="10058400" cy="777240"/>
          </a:xfrm>
          <a:prstGeom prst="rect">
            <a:avLst/>
          </a:prstGeom>
          <a:noFill/>
          <a:ln/>
        </p:spPr>
        <p:txBody>
          <a:bodyPr wrap="square" rtlCol="0" anchor="ctr"/>
          <a:lstStyle/>
          <a:p>
            <a:pPr marL="0" indent="0">
              <a:buNone/>
            </a:pPr>
            <a:r>
              <a:rPr lang="en-US" sz="5000" b="1" dirty="0">
                <a:solidFill>
                  <a:srgbClr val="EE964B"/>
                </a:solidFill>
                <a:latin typeface="Calibri" pitchFamily="34" charset="0"/>
                <a:ea typeface="Calibri" pitchFamily="34" charset="-122"/>
                <a:cs typeface="Calibri" pitchFamily="34" charset="-120"/>
              </a:rPr>
              <a:t>Thank You</a:t>
            </a:r>
            <a:endParaRPr lang="en-US" sz="5000" dirty="0"/>
          </a:p>
        </p:txBody>
      </p:sp>
      <p:sp>
        <p:nvSpPr>
          <p:cNvPr id="23" name="Text 21"/>
          <p:cNvSpPr/>
          <p:nvPr/>
        </p:nvSpPr>
        <p:spPr>
          <a:xfrm>
            <a:off x="914400" y="5989320"/>
            <a:ext cx="10058400" cy="411480"/>
          </a:xfrm>
          <a:prstGeom prst="rect">
            <a:avLst/>
          </a:prstGeom>
          <a:noFill/>
          <a:ln/>
        </p:spPr>
        <p:txBody>
          <a:bodyPr wrap="square" rtlCol="0" anchor="ctr"/>
          <a:lstStyle/>
          <a:p>
            <a:pPr marL="0" indent="0">
              <a:buNone/>
            </a:pPr>
            <a:r>
              <a:rPr lang="en-US" sz="1600" i="1" dirty="0">
                <a:solidFill>
                  <a:srgbClr val="B8C5D9"/>
                </a:solidFill>
                <a:latin typeface="Calibri" pitchFamily="34" charset="0"/>
                <a:ea typeface="Calibri" pitchFamily="34" charset="-122"/>
                <a:cs typeface="Calibri" pitchFamily="34" charset="-120"/>
              </a:rPr>
              <a:t>Questions?  ·  Discussion?  ·  Code &amp; data are open.</a:t>
            </a:r>
            <a:endParaRPr lang="en-US" sz="1600" dirty="0"/>
          </a:p>
        </p:txBody>
      </p:sp>
      <p:sp>
        <p:nvSpPr>
          <p:cNvPr id="24" name="Text 22"/>
          <p:cNvSpPr/>
          <p:nvPr/>
        </p:nvSpPr>
        <p:spPr>
          <a:xfrm>
            <a:off x="914400" y="6446520"/>
            <a:ext cx="10058400" cy="274320"/>
          </a:xfrm>
          <a:prstGeom prst="rect">
            <a:avLst/>
          </a:prstGeom>
          <a:noFill/>
          <a:ln/>
        </p:spPr>
        <p:txBody>
          <a:bodyPr wrap="square" rtlCol="0" anchor="ctr"/>
          <a:lstStyle/>
          <a:p>
            <a:pPr marL="0" indent="0">
              <a:buNone/>
            </a:pPr>
            <a:r>
              <a:rPr lang="en-US" sz="1000" dirty="0">
                <a:solidFill>
                  <a:srgbClr val="5C6B82"/>
                </a:solidFill>
                <a:latin typeface="Calibri" pitchFamily="34" charset="0"/>
                <a:ea typeface="Calibri" pitchFamily="34" charset="-122"/>
                <a:cs typeface="Calibri" pitchFamily="34" charset="-120"/>
              </a:rPr>
              <a:t>ASDS 6304 — Group 5  ·  University of Texas at Arlington  ·  Spring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3800</Words>
  <Application>Microsoft Macintosh PowerPoint</Application>
  <PresentationFormat>Widescreen</PresentationFormat>
  <Paragraphs>586</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ASDS 6304 — Group 5 — Genomics Benchmark</dc:title>
  <dc:subject>PptxGenJS Presentation</dc:subject>
  <dc:creator>Group 5</dc:creator>
  <cp:lastModifiedBy>Chatterjee, Prithwiraj</cp:lastModifiedBy>
  <cp:revision>3</cp:revision>
  <dcterms:created xsi:type="dcterms:W3CDTF">2026-04-30T20:48:16Z</dcterms:created>
  <dcterms:modified xsi:type="dcterms:W3CDTF">2026-04-30T21:27:11Z</dcterms:modified>
</cp:coreProperties>
</file>